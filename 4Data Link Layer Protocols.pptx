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Default ContentType="image/x-emf" Extension="emf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33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7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29" Type="http://schemas.openxmlformats.org/officeDocument/2006/relationships/slide" Target="slides/slide26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11" Type="http://schemas.openxmlformats.org/officeDocument/2006/relationships/slide" Target="slides/slide8.xml"/><Relationship Id="rId33" Type="http://schemas.openxmlformats.org/officeDocument/2006/relationships/slide" Target="slides/slide30.xml"/><Relationship Id="rId10" Type="http://schemas.openxmlformats.org/officeDocument/2006/relationships/slide" Target="slides/slide7.xml"/><Relationship Id="rId32" Type="http://schemas.openxmlformats.org/officeDocument/2006/relationships/slide" Target="slides/slide29.xml"/><Relationship Id="rId13" Type="http://schemas.openxmlformats.org/officeDocument/2006/relationships/slide" Target="slides/slide10.xml"/><Relationship Id="rId35" Type="http://schemas.openxmlformats.org/officeDocument/2006/relationships/slide" Target="slides/slide32.xml"/><Relationship Id="rId12" Type="http://schemas.openxmlformats.org/officeDocument/2006/relationships/slide" Target="slides/slide9.xml"/><Relationship Id="rId34" Type="http://schemas.openxmlformats.org/officeDocument/2006/relationships/slide" Target="slides/slide31.xml"/><Relationship Id="rId15" Type="http://schemas.openxmlformats.org/officeDocument/2006/relationships/slide" Target="slides/slide12.xml"/><Relationship Id="rId37" Type="http://schemas.openxmlformats.org/officeDocument/2006/relationships/slide" Target="slides/slide34.xml"/><Relationship Id="rId14" Type="http://schemas.openxmlformats.org/officeDocument/2006/relationships/slide" Target="slides/slide11.xml"/><Relationship Id="rId36" Type="http://schemas.openxmlformats.org/officeDocument/2006/relationships/slide" Target="slides/slide33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38" Type="http://schemas.openxmlformats.org/officeDocument/2006/relationships/slide" Target="slides/slide35.xml"/><Relationship Id="rId19" Type="http://schemas.openxmlformats.org/officeDocument/2006/relationships/slide" Target="slides/slide16.xml"/><Relationship Id="rId18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648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87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050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450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18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25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66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90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104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306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69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92BA3-0C54-4A05-BF47-FF083CD8CCE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6D723-CF72-4E9E-B674-2973AF841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7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Link Layer Protocols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291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Flow Control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Ensuring the sending entity does not overwhelm the receiving entity</a:t>
            </a:r>
          </a:p>
          <a:p>
            <a:pPr lvl="1"/>
            <a:r>
              <a:rPr lang="en-US" altLang="en-US" dirty="0"/>
              <a:t>Preventing buffer overflow</a:t>
            </a:r>
          </a:p>
          <a:p>
            <a:r>
              <a:rPr lang="en-US" altLang="en-US" dirty="0"/>
              <a:t>Transmission time</a:t>
            </a:r>
          </a:p>
          <a:p>
            <a:pPr lvl="1"/>
            <a:r>
              <a:rPr lang="en-US" altLang="en-US" dirty="0"/>
              <a:t>Time taken to emit all bits into medium</a:t>
            </a:r>
          </a:p>
          <a:p>
            <a:r>
              <a:rPr lang="en-US" altLang="en-US" dirty="0"/>
              <a:t>Propagation time</a:t>
            </a:r>
          </a:p>
          <a:p>
            <a:pPr lvl="1"/>
            <a:r>
              <a:rPr lang="en-US" altLang="en-US" dirty="0"/>
              <a:t>Time for a bit to traverse the link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473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 of Frame Transmission</a:t>
            </a:r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02"/>
          <a:stretch>
            <a:fillRect/>
          </a:stretch>
        </p:blipFill>
        <p:spPr bwMode="auto">
          <a:xfrm>
            <a:off x="3048000" y="1354138"/>
            <a:ext cx="6172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747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 descr="https://www.tutorialspoint.com/assets/questions/media/17617/37_1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183" y="3100251"/>
            <a:ext cx="4990011" cy="26680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914399" y="1945511"/>
            <a:ext cx="9100457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840"/>
              </a:spcAft>
            </a:pPr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link protocols can be broadly divided into two categories, depending on whether the transmission channel is noiseless or noisy.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578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Simplex Protocol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Simplex protocol is hypothetical protocol designed for unidirectional data transmission over an ideal channel, i.e. a channel through which transmission can never go wrong. </a:t>
            </a:r>
          </a:p>
          <a:p>
            <a:r>
              <a:rPr lang="en-IN" dirty="0"/>
              <a:t>It has distinct procedures for sender and receiver. </a:t>
            </a:r>
          </a:p>
          <a:p>
            <a:r>
              <a:rPr lang="en-IN" dirty="0"/>
              <a:t>The sender simply sends all its data available onto the channel as soon as they are available in its buffer. </a:t>
            </a:r>
          </a:p>
          <a:p>
            <a:r>
              <a:rPr lang="en-IN" dirty="0"/>
              <a:t>The receiver is assumed to process all incoming data instantly. </a:t>
            </a:r>
          </a:p>
          <a:p>
            <a:r>
              <a:rPr lang="en-IN" dirty="0"/>
              <a:t>It is hypothetical since it does not handle flow control or error control.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227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Initial Assumptions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Simplex Channel</a:t>
            </a:r>
          </a:p>
          <a:p>
            <a:r>
              <a:rPr lang="en-US" altLang="en-US"/>
              <a:t>Infinite buffer capacity with the receiver</a:t>
            </a:r>
          </a:p>
          <a:p>
            <a:r>
              <a:rPr lang="en-US" altLang="en-US"/>
              <a:t>Error free transmission</a:t>
            </a:r>
          </a:p>
          <a:p>
            <a:r>
              <a:rPr lang="en-US" altLang="en-US"/>
              <a:t>Network layer at the senders end is always ready with data</a:t>
            </a:r>
          </a:p>
          <a:p>
            <a:r>
              <a:rPr lang="en-US" altLang="en-US"/>
              <a:t>No need for flow control</a:t>
            </a:r>
          </a:p>
        </p:txBody>
      </p:sp>
    </p:spTree>
    <p:extLst>
      <p:ext uri="{BB962C8B-B14F-4D97-AF65-F5344CB8AC3E}">
        <p14:creationId xmlns:p14="http://schemas.microsoft.com/office/powerpoint/2010/main" val="762270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Unrestricted Simplex Protocol – the Utopia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Both the transmitting and receiving network layers are always ready</a:t>
            </a:r>
          </a:p>
          <a:p>
            <a:r>
              <a:rPr lang="en-IN" dirty="0"/>
              <a:t>Framing only</a:t>
            </a:r>
          </a:p>
          <a:p>
            <a:r>
              <a:rPr lang="en-IN" dirty="0"/>
              <a:t>No error or flow control</a:t>
            </a:r>
          </a:p>
          <a:p>
            <a:pPr lvl="1"/>
            <a:r>
              <a:rPr lang="en-IN" dirty="0"/>
              <a:t> Infinite buffer space is available</a:t>
            </a:r>
          </a:p>
          <a:p>
            <a:pPr lvl="1"/>
            <a:r>
              <a:rPr lang="en-IN" dirty="0"/>
              <a:t>The communication channel between the data link layers never damages or loses frames</a:t>
            </a:r>
          </a:p>
          <a:p>
            <a:r>
              <a:rPr lang="en-IN" dirty="0"/>
              <a:t>Data are transmitted in one direction only</a:t>
            </a:r>
          </a:p>
          <a:p>
            <a:r>
              <a:rPr lang="en-IN" dirty="0"/>
              <a:t>Processing time can be ignored</a:t>
            </a:r>
          </a:p>
        </p:txBody>
      </p:sp>
    </p:spTree>
    <p:extLst>
      <p:ext uri="{BB962C8B-B14F-4D97-AF65-F5344CB8AC3E}">
        <p14:creationId xmlns:p14="http://schemas.microsoft.com/office/powerpoint/2010/main" val="3224982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Unrestricted Simplex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void sender1 (void)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457200" lvl="1" indent="0">
              <a:buNone/>
            </a:pPr>
            <a:r>
              <a:rPr lang="en-IN" dirty="0"/>
              <a:t>frame s;</a:t>
            </a:r>
          </a:p>
          <a:p>
            <a:pPr marL="457200" lvl="1" indent="0">
              <a:buNone/>
            </a:pPr>
            <a:r>
              <a:rPr lang="en-IN" dirty="0"/>
              <a:t>packet buffer;</a:t>
            </a:r>
          </a:p>
          <a:p>
            <a:pPr marL="457200" lvl="1" indent="0">
              <a:buNone/>
            </a:pPr>
            <a:r>
              <a:rPr lang="en-IN" dirty="0"/>
              <a:t>while (true) {</a:t>
            </a:r>
          </a:p>
          <a:p>
            <a:pPr marL="457200" lvl="1" indent="0">
              <a:buNone/>
            </a:pPr>
            <a:r>
              <a:rPr lang="en-IN" dirty="0" err="1"/>
              <a:t>from_network_layer</a:t>
            </a:r>
            <a:r>
              <a:rPr lang="en-IN" dirty="0"/>
              <a:t>(&amp;buffer);</a:t>
            </a:r>
          </a:p>
          <a:p>
            <a:pPr marL="457200" lvl="1" indent="0">
              <a:buNone/>
            </a:pPr>
            <a:r>
              <a:rPr lang="en-IN" dirty="0"/>
              <a:t>s.info = buffer;</a:t>
            </a:r>
          </a:p>
          <a:p>
            <a:pPr marL="457200" lvl="1" indent="0">
              <a:buNone/>
            </a:pPr>
            <a:r>
              <a:rPr lang="en-IN" dirty="0" err="1"/>
              <a:t>to_physical_layer</a:t>
            </a:r>
            <a:r>
              <a:rPr lang="en-IN" dirty="0"/>
              <a:t>(&amp;s);</a:t>
            </a:r>
          </a:p>
          <a:p>
            <a:pPr marL="457200" lvl="1" indent="0">
              <a:buNone/>
            </a:pPr>
            <a:r>
              <a:rPr lang="en-IN" dirty="0"/>
              <a:t>                  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2550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void receiver1 (void)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457200" lvl="1" indent="0">
              <a:buNone/>
            </a:pPr>
            <a:r>
              <a:rPr lang="en-IN" dirty="0"/>
              <a:t>frame r;</a:t>
            </a:r>
          </a:p>
          <a:p>
            <a:pPr marL="457200" lvl="1" indent="0">
              <a:buNone/>
            </a:pPr>
            <a:r>
              <a:rPr lang="en-IN" dirty="0" err="1"/>
              <a:t>event_type</a:t>
            </a:r>
            <a:r>
              <a:rPr lang="en-IN" dirty="0"/>
              <a:t> event;</a:t>
            </a:r>
          </a:p>
          <a:p>
            <a:pPr marL="457200" lvl="1" indent="0">
              <a:buNone/>
            </a:pPr>
            <a:r>
              <a:rPr lang="en-IN" dirty="0"/>
              <a:t>while (true) {</a:t>
            </a:r>
          </a:p>
          <a:p>
            <a:pPr marL="457200" lvl="1" indent="0">
              <a:buNone/>
            </a:pPr>
            <a:r>
              <a:rPr lang="en-IN" dirty="0" err="1"/>
              <a:t>wait_for_event</a:t>
            </a:r>
            <a:r>
              <a:rPr lang="en-IN" dirty="0"/>
              <a:t>(&amp;event);</a:t>
            </a:r>
          </a:p>
          <a:p>
            <a:pPr marL="457200" lvl="1" indent="0">
              <a:buNone/>
            </a:pPr>
            <a:r>
              <a:rPr lang="en-IN" dirty="0" err="1"/>
              <a:t>from_physical_layer</a:t>
            </a:r>
            <a:r>
              <a:rPr lang="en-IN" dirty="0"/>
              <a:t>(&amp;r);</a:t>
            </a:r>
          </a:p>
          <a:p>
            <a:pPr marL="457200" lvl="1" indent="0">
              <a:buNone/>
            </a:pPr>
            <a:r>
              <a:rPr lang="en-IN" dirty="0" err="1"/>
              <a:t>to_network_layer</a:t>
            </a:r>
            <a:r>
              <a:rPr lang="en-IN" dirty="0"/>
              <a:t>(&amp;r.info);</a:t>
            </a:r>
          </a:p>
          <a:p>
            <a:pPr marL="0" indent="0">
              <a:buNone/>
            </a:pPr>
            <a:r>
              <a:rPr lang="en-IN" dirty="0"/>
              <a:t>                     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075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Stop – and – Wait Protocol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Stop – and – Wait protocol is for noiseless channel. </a:t>
            </a:r>
          </a:p>
          <a:p>
            <a:r>
              <a:rPr lang="en-IN" dirty="0"/>
              <a:t>It provides unidirectional data transmission without any error control facilities.</a:t>
            </a:r>
          </a:p>
          <a:p>
            <a:r>
              <a:rPr lang="en-IN" dirty="0"/>
              <a:t> However, it provides for flow control so that a fast sender does not drown a slow receiver. </a:t>
            </a:r>
          </a:p>
          <a:p>
            <a:r>
              <a:rPr lang="en-IN" dirty="0"/>
              <a:t>The receiver has a finite buffer size with finite processing speed. </a:t>
            </a:r>
          </a:p>
          <a:p>
            <a:r>
              <a:rPr lang="en-IN" dirty="0"/>
              <a:t>The sender can send a frame only when it has received indication from the receiver that it is available for further data processing.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8639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Stop and Wait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Send one packet &amp; Wait for Ack before proceeding</a:t>
            </a:r>
          </a:p>
          <a:p>
            <a:pPr lvl="1"/>
            <a:r>
              <a:rPr lang="en-US" altLang="en-US" dirty="0"/>
              <a:t>Source transmits frame</a:t>
            </a:r>
          </a:p>
          <a:p>
            <a:pPr lvl="1"/>
            <a:r>
              <a:rPr lang="en-US" altLang="en-US" dirty="0"/>
              <a:t>Destination receives frame and replies with acknowledgement</a:t>
            </a:r>
          </a:p>
          <a:p>
            <a:pPr lvl="1"/>
            <a:r>
              <a:rPr lang="en-US" altLang="en-US" dirty="0"/>
              <a:t>Source waits for ACK before sending next frame</a:t>
            </a:r>
          </a:p>
          <a:p>
            <a:pPr lvl="1"/>
            <a:r>
              <a:rPr lang="en-US" altLang="en-US" dirty="0"/>
              <a:t>Destination can stop flow by not send ACK</a:t>
            </a:r>
          </a:p>
          <a:p>
            <a:pPr lvl="1"/>
            <a:r>
              <a:rPr lang="en-US" altLang="en-US" dirty="0"/>
              <a:t>Works well for a few large frames</a:t>
            </a:r>
          </a:p>
        </p:txBody>
      </p:sp>
    </p:spTree>
    <p:extLst>
      <p:ext uri="{BB962C8B-B14F-4D97-AF65-F5344CB8AC3E}">
        <p14:creationId xmlns:p14="http://schemas.microsoft.com/office/powerpoint/2010/main" val="2810705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Simplex Stop-and-Wait Protocol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  <a:p>
            <a:r>
              <a:rPr lang="en-US" dirty="0"/>
              <a:t>Finite buffer</a:t>
            </a:r>
          </a:p>
          <a:p>
            <a:r>
              <a:rPr lang="en-US" altLang="en-US" dirty="0"/>
              <a:t>The communication channel between the data link layers never damages or loses frames</a:t>
            </a:r>
          </a:p>
          <a:p>
            <a:r>
              <a:rPr lang="en-US" altLang="en-US" dirty="0"/>
              <a:t>Data are transmitted in one direction only</a:t>
            </a:r>
          </a:p>
          <a:p>
            <a:r>
              <a:rPr lang="en-US" altLang="en-US" dirty="0"/>
              <a:t>Processing time can be ignored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631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Simplex Stop-and-Wait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6916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void sender2 (void)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457200" lvl="1" indent="0">
              <a:buNone/>
            </a:pPr>
            <a:r>
              <a:rPr lang="en-IN" dirty="0"/>
              <a:t>frame s;</a:t>
            </a:r>
          </a:p>
          <a:p>
            <a:pPr marL="457200" lvl="1" indent="0">
              <a:buNone/>
            </a:pPr>
            <a:r>
              <a:rPr lang="en-IN" dirty="0"/>
              <a:t>packet buffer;</a:t>
            </a:r>
          </a:p>
          <a:p>
            <a:pPr marL="457200" lvl="1" indent="0">
              <a:buNone/>
            </a:pPr>
            <a:r>
              <a:rPr lang="en-IN" dirty="0" err="1"/>
              <a:t>event_type</a:t>
            </a:r>
            <a:r>
              <a:rPr lang="en-IN" dirty="0"/>
              <a:t> event;</a:t>
            </a:r>
          </a:p>
          <a:p>
            <a:pPr marL="457200" lvl="1" indent="0">
              <a:buNone/>
            </a:pPr>
            <a:r>
              <a:rPr lang="en-IN" dirty="0"/>
              <a:t>while (true) {</a:t>
            </a:r>
          </a:p>
          <a:p>
            <a:pPr marL="457200" lvl="1" indent="0">
              <a:buNone/>
            </a:pPr>
            <a:r>
              <a:rPr lang="en-IN" dirty="0" err="1"/>
              <a:t>from_network_layer</a:t>
            </a:r>
            <a:r>
              <a:rPr lang="en-IN" dirty="0"/>
              <a:t>(&amp;buffer);</a:t>
            </a:r>
          </a:p>
          <a:p>
            <a:pPr marL="457200" lvl="1" indent="0">
              <a:buNone/>
            </a:pPr>
            <a:r>
              <a:rPr lang="en-IN" dirty="0"/>
              <a:t>s.info = buffer;</a:t>
            </a:r>
          </a:p>
          <a:p>
            <a:pPr marL="457200" lvl="1" indent="0">
              <a:buNone/>
            </a:pPr>
            <a:r>
              <a:rPr lang="en-IN" dirty="0" err="1"/>
              <a:t>to_physical_layer</a:t>
            </a:r>
            <a:r>
              <a:rPr lang="en-IN" dirty="0"/>
              <a:t>(&amp;s);</a:t>
            </a:r>
          </a:p>
          <a:p>
            <a:pPr marL="457200" lvl="1" indent="0">
              <a:buNone/>
            </a:pPr>
            <a:r>
              <a:rPr lang="en-IN" dirty="0" err="1"/>
              <a:t>wait_for_event</a:t>
            </a:r>
            <a:r>
              <a:rPr lang="en-IN" dirty="0"/>
              <a:t>(&amp;event);</a:t>
            </a:r>
          </a:p>
          <a:p>
            <a:pPr marL="457200" lvl="1" indent="0">
              <a:buNone/>
            </a:pPr>
            <a:r>
              <a:rPr lang="en-IN" dirty="0"/>
              <a:t>                  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628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void receiver2 (void)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457200" lvl="1" indent="0">
              <a:buNone/>
            </a:pPr>
            <a:r>
              <a:rPr lang="en-IN" dirty="0"/>
              <a:t>frame r, s;</a:t>
            </a:r>
          </a:p>
          <a:p>
            <a:pPr marL="457200" lvl="1" indent="0">
              <a:buNone/>
            </a:pPr>
            <a:r>
              <a:rPr lang="en-IN" dirty="0" err="1"/>
              <a:t>event_type</a:t>
            </a:r>
            <a:r>
              <a:rPr lang="en-IN" dirty="0"/>
              <a:t> event;</a:t>
            </a:r>
          </a:p>
          <a:p>
            <a:pPr marL="457200" lvl="1" indent="0">
              <a:buNone/>
            </a:pPr>
            <a:r>
              <a:rPr lang="en-IN" dirty="0"/>
              <a:t>while (true) {</a:t>
            </a:r>
          </a:p>
          <a:p>
            <a:pPr marL="457200" lvl="1" indent="0">
              <a:buNone/>
            </a:pPr>
            <a:r>
              <a:rPr lang="en-IN" dirty="0" err="1"/>
              <a:t>wait_for_event</a:t>
            </a:r>
            <a:r>
              <a:rPr lang="en-IN" dirty="0"/>
              <a:t>(&amp;event);</a:t>
            </a:r>
          </a:p>
          <a:p>
            <a:pPr marL="457200" lvl="1" indent="0">
              <a:buNone/>
            </a:pPr>
            <a:r>
              <a:rPr lang="en-IN" dirty="0" err="1"/>
              <a:t>from_physical_layer</a:t>
            </a:r>
            <a:r>
              <a:rPr lang="en-IN" dirty="0"/>
              <a:t>(&amp;r);</a:t>
            </a:r>
          </a:p>
          <a:p>
            <a:pPr marL="457200" lvl="1" indent="0">
              <a:buNone/>
            </a:pPr>
            <a:r>
              <a:rPr lang="en-IN" dirty="0" err="1"/>
              <a:t>to_network_layer</a:t>
            </a:r>
            <a:r>
              <a:rPr lang="en-IN" dirty="0"/>
              <a:t>(&amp;r.info);</a:t>
            </a:r>
          </a:p>
          <a:p>
            <a:pPr marL="457200" lvl="1" indent="0">
              <a:buNone/>
            </a:pPr>
            <a:r>
              <a:rPr lang="en-IN" dirty="0" err="1"/>
              <a:t>to_physical_layer</a:t>
            </a:r>
            <a:r>
              <a:rPr lang="en-IN" dirty="0"/>
              <a:t>(&amp;s);</a:t>
            </a:r>
          </a:p>
          <a:p>
            <a:pPr marL="457200" lvl="1" indent="0">
              <a:buNone/>
            </a:pPr>
            <a:r>
              <a:rPr lang="en-IN" dirty="0"/>
              <a:t>                   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073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Simplex Protocol for a Noisy channel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Assumptions</a:t>
            </a:r>
          </a:p>
          <a:p>
            <a:r>
              <a:rPr lang="en-US" altLang="en-US" dirty="0"/>
              <a:t>Finite Buffer</a:t>
            </a:r>
          </a:p>
          <a:p>
            <a:r>
              <a:rPr lang="en-US" altLang="en-US" dirty="0"/>
              <a:t>A positive acknowledgement with retransmission protocol.</a:t>
            </a:r>
          </a:p>
          <a:p>
            <a:pPr>
              <a:spcBef>
                <a:spcPct val="20000"/>
              </a:spcBef>
              <a:buSzPct val="110000"/>
            </a:pPr>
            <a:r>
              <a:rPr lang="en-US" altLang="en-US" sz="2400" dirty="0">
                <a:cs typeface="Times New Roman" panose="02020603050405020304" pitchFamily="18" charset="0"/>
              </a:rPr>
              <a:t>Data are transmitted in one direction only</a:t>
            </a:r>
          </a:p>
          <a:p>
            <a:pPr>
              <a:spcBef>
                <a:spcPct val="20000"/>
              </a:spcBef>
              <a:buSzPct val="110000"/>
            </a:pPr>
            <a:r>
              <a:rPr lang="en-US" altLang="en-US" sz="2400" dirty="0">
                <a:cs typeface="Times New Roman" panose="02020603050405020304" pitchFamily="18" charset="0"/>
              </a:rPr>
              <a:t>Processing time can be ignored</a:t>
            </a: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9863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Automatic Repeat request (ARQ)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Positive Ack</a:t>
            </a:r>
          </a:p>
          <a:p>
            <a:r>
              <a:rPr lang="en-IN" dirty="0"/>
              <a:t> 1-bit sequence number in frames (not in </a:t>
            </a:r>
            <a:r>
              <a:rPr lang="en-IN" dirty="0" err="1"/>
              <a:t>acks</a:t>
            </a:r>
            <a:r>
              <a:rPr lang="en-IN" dirty="0"/>
              <a:t>)</a:t>
            </a:r>
          </a:p>
          <a:p>
            <a:r>
              <a:rPr lang="en-IN" dirty="0"/>
              <a:t> Timeout to detect lost frames/</a:t>
            </a:r>
            <a:r>
              <a:rPr lang="en-IN" dirty="0" err="1"/>
              <a:t>acks</a:t>
            </a:r>
            <a:endParaRPr lang="en-IN" dirty="0"/>
          </a:p>
          <a:p>
            <a:r>
              <a:rPr lang="en-IN" dirty="0"/>
              <a:t> Retransmission</a:t>
            </a:r>
          </a:p>
          <a:p>
            <a:r>
              <a:rPr lang="en-IN" dirty="0"/>
              <a:t> Can fail under early timeout conditions</a:t>
            </a:r>
          </a:p>
          <a:p>
            <a:r>
              <a:rPr lang="en-IN" dirty="0"/>
              <a:t> Full Duplex Communication</a:t>
            </a:r>
          </a:p>
          <a:p>
            <a:r>
              <a:rPr lang="en-IN" dirty="0"/>
              <a:t> Piggybacking of </a:t>
            </a:r>
            <a:r>
              <a:rPr lang="en-IN" dirty="0" err="1"/>
              <a:t>acks</a:t>
            </a:r>
            <a:endParaRPr lang="en-IN" dirty="0"/>
          </a:p>
          <a:p>
            <a:pPr lvl="1"/>
            <a:r>
              <a:rPr lang="en-IN" dirty="0"/>
              <a:t>Temporarily delaying outgoing acknowledgements so that they can be hooked onto the next outgoing data frame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369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Stop – and – Wait ARQ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Stop – and – wait Automatic Repeat Request (Stop – and – Wait ARQ) is a variation of the Stop –and- wait protocol with added error control mechanisms, appropriate for noisy channels. </a:t>
            </a:r>
          </a:p>
          <a:p>
            <a:r>
              <a:rPr lang="en-IN" dirty="0"/>
              <a:t>The sender keeps a copy of the sent frame. </a:t>
            </a:r>
          </a:p>
          <a:p>
            <a:r>
              <a:rPr lang="en-IN" dirty="0"/>
              <a:t>It then waits for a finite time to receive a positive acknowledgement from receiver. </a:t>
            </a:r>
          </a:p>
          <a:p>
            <a:r>
              <a:rPr lang="en-IN" dirty="0"/>
              <a:t>If the timer expires or a negative acknowledgement is received, the frame is retransmitted.</a:t>
            </a:r>
          </a:p>
          <a:p>
            <a:r>
              <a:rPr lang="en-IN" dirty="0"/>
              <a:t>If a positive acknowledgement is received then the next frame is sent.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362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Fragmentation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Large block of data may be split into small frames</a:t>
            </a:r>
          </a:p>
          <a:p>
            <a:pPr lvl="1"/>
            <a:r>
              <a:rPr lang="en-US" altLang="en-US"/>
              <a:t>Limited buffer size</a:t>
            </a:r>
          </a:p>
          <a:p>
            <a:pPr lvl="1"/>
            <a:r>
              <a:rPr lang="en-US" altLang="en-US"/>
              <a:t>Errors detected sooner (when whole frame received)</a:t>
            </a:r>
          </a:p>
          <a:p>
            <a:pPr lvl="1"/>
            <a:r>
              <a:rPr lang="en-US" altLang="en-US"/>
              <a:t>On error, retransmission of smaller frames is needed</a:t>
            </a:r>
          </a:p>
          <a:p>
            <a:pPr lvl="1"/>
            <a:r>
              <a:rPr lang="en-US" altLang="en-US"/>
              <a:t>Prevents one station occupying medium for long periods</a:t>
            </a:r>
          </a:p>
          <a:p>
            <a:r>
              <a:rPr lang="en-US" altLang="en-US"/>
              <a:t>Stop and wait becomes inadequate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569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Sliding Windows Flow Control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Allow multiple frames to be in transit</a:t>
            </a:r>
          </a:p>
          <a:p>
            <a:r>
              <a:rPr lang="en-US" altLang="en-US"/>
              <a:t>Receiver has buffer W long</a:t>
            </a:r>
          </a:p>
          <a:p>
            <a:r>
              <a:rPr lang="en-US" altLang="en-US"/>
              <a:t>Transmitter can send up to W frames without ACK</a:t>
            </a:r>
          </a:p>
          <a:p>
            <a:r>
              <a:rPr lang="en-US" altLang="en-US"/>
              <a:t>Each frame is numbered</a:t>
            </a:r>
          </a:p>
          <a:p>
            <a:r>
              <a:rPr lang="en-US" altLang="en-US"/>
              <a:t>ACK includes number of next frame expected</a:t>
            </a:r>
          </a:p>
          <a:p>
            <a:r>
              <a:rPr lang="en-US" altLang="en-US"/>
              <a:t>Sequence number bounded by size of field (k)</a:t>
            </a:r>
          </a:p>
          <a:p>
            <a:pPr lvl="1"/>
            <a:r>
              <a:rPr lang="en-US" altLang="en-US"/>
              <a:t>Frames are numbered modulo 2</a:t>
            </a:r>
            <a:r>
              <a:rPr lang="en-US" altLang="en-US" baseline="30000"/>
              <a:t>k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2415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Sliding Window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Window = Set of sequence numbers to send/receive</a:t>
            </a:r>
          </a:p>
          <a:p>
            <a:r>
              <a:rPr lang="en-IN" dirty="0"/>
              <a:t>Sender window</a:t>
            </a:r>
          </a:p>
          <a:p>
            <a:pPr lvl="1"/>
            <a:r>
              <a:rPr lang="en-IN" dirty="0"/>
              <a:t>Sender window increases when </a:t>
            </a:r>
            <a:r>
              <a:rPr lang="en-IN" dirty="0" err="1"/>
              <a:t>ack</a:t>
            </a:r>
            <a:r>
              <a:rPr lang="en-IN" dirty="0"/>
              <a:t> received</a:t>
            </a:r>
          </a:p>
          <a:p>
            <a:pPr lvl="1"/>
            <a:r>
              <a:rPr lang="en-IN" dirty="0"/>
              <a:t>Packets in sender window must be buffered at source</a:t>
            </a:r>
          </a:p>
          <a:p>
            <a:pPr lvl="1"/>
            <a:r>
              <a:rPr lang="en-IN" dirty="0"/>
              <a:t>Sender window may grow in some protocols</a:t>
            </a:r>
          </a:p>
          <a:p>
            <a:r>
              <a:rPr lang="en-IN" dirty="0"/>
              <a:t>Receiver window</a:t>
            </a:r>
          </a:p>
          <a:p>
            <a:pPr lvl="1"/>
            <a:r>
              <a:rPr lang="en-IN" dirty="0"/>
              <a:t>Packets outside window discarded</a:t>
            </a:r>
          </a:p>
          <a:p>
            <a:pPr lvl="1"/>
            <a:r>
              <a:rPr lang="en-IN" dirty="0"/>
              <a:t>Window advances when sequence number = low edge of window received</a:t>
            </a:r>
          </a:p>
          <a:p>
            <a:pPr lvl="1"/>
            <a:r>
              <a:rPr lang="en-IN" dirty="0"/>
              <a:t>Receiver window always constant</a:t>
            </a:r>
          </a:p>
          <a:p>
            <a:pPr lvl="1"/>
            <a:r>
              <a:rPr lang="en-IN" dirty="0"/>
              <a:t>Sender transmits W frames before blocking (pipelining)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365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3167" y="2481943"/>
            <a:ext cx="6200502" cy="310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69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Sliding Window Diagram</a:t>
            </a:r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6"/>
          <a:stretch>
            <a:fillRect/>
          </a:stretch>
        </p:blipFill>
        <p:spPr bwMode="auto">
          <a:xfrm>
            <a:off x="2590800" y="1371601"/>
            <a:ext cx="7239000" cy="543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5197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Example Sliding Window</a:t>
            </a:r>
            <a:br>
              <a:rPr lang="en-US" altLang="en-US" dirty="0"/>
            </a:br>
            <a:r>
              <a:rPr lang="en-US" altLang="en-US" sz="1800" dirty="0"/>
              <a:t>F - Frame</a:t>
            </a:r>
            <a:br>
              <a:rPr lang="en-US" altLang="en-US" sz="1800" dirty="0"/>
            </a:br>
            <a:r>
              <a:rPr lang="en-US" altLang="en-US" sz="1800" dirty="0"/>
              <a:t>RR – Receive Ready</a:t>
            </a:r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6"/>
          <a:stretch>
            <a:fillRect/>
          </a:stretch>
        </p:blipFill>
        <p:spPr bwMode="auto">
          <a:xfrm>
            <a:off x="2872531" y="1215385"/>
            <a:ext cx="7543800" cy="544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0592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Sliding Window Protocols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One-Bit Sliding Window Protocol</a:t>
            </a:r>
          </a:p>
          <a:p>
            <a:r>
              <a:rPr lang="en-US" altLang="en-US" dirty="0"/>
              <a:t>A Protocol Using Go Back N</a:t>
            </a:r>
          </a:p>
          <a:p>
            <a:r>
              <a:rPr lang="en-US" altLang="en-US" dirty="0"/>
              <a:t>A Protocol Using Selective Repeat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772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One-Bit Sliding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Stop and Wait + error control</a:t>
            </a:r>
          </a:p>
          <a:p>
            <a:r>
              <a:rPr lang="en-IN" dirty="0"/>
              <a:t>Piggybacked </a:t>
            </a:r>
            <a:r>
              <a:rPr lang="en-IN" dirty="0" err="1"/>
              <a:t>acks</a:t>
            </a:r>
            <a:endParaRPr lang="en-IN" dirty="0"/>
          </a:p>
          <a:p>
            <a:r>
              <a:rPr lang="en-IN" dirty="0" err="1"/>
              <a:t>Acks</a:t>
            </a:r>
            <a:r>
              <a:rPr lang="en-IN" dirty="0"/>
              <a:t> sent instantly</a:t>
            </a:r>
          </a:p>
          <a:p>
            <a:r>
              <a:rPr lang="en-IN" dirty="0"/>
              <a:t>Packets may be resent to accommodate immediate piggybacking</a:t>
            </a:r>
          </a:p>
          <a:p>
            <a:r>
              <a:rPr lang="en-IN" dirty="0" err="1"/>
              <a:t>Acks</a:t>
            </a:r>
            <a:r>
              <a:rPr lang="en-IN" dirty="0"/>
              <a:t> contain sequence number</a:t>
            </a:r>
          </a:p>
          <a:p>
            <a:r>
              <a:rPr lang="en-IN" dirty="0"/>
              <a:t>Peculiar case: when both sides start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30126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9975" y="3288816"/>
            <a:ext cx="5547360" cy="361405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5406" y="175108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Times-Roman"/>
              </a:rPr>
              <a:t>Two scenarios </a:t>
            </a:r>
          </a:p>
          <a:p>
            <a:r>
              <a:rPr lang="en-IN" dirty="0">
                <a:latin typeface="Times-Roman"/>
              </a:rPr>
              <a:t>(a) Normal case. </a:t>
            </a:r>
          </a:p>
          <a:p>
            <a:r>
              <a:rPr lang="en-IN" dirty="0">
                <a:latin typeface="Times-Roman"/>
              </a:rPr>
              <a:t>(b) Abnormal case. </a:t>
            </a:r>
          </a:p>
          <a:p>
            <a:r>
              <a:rPr lang="en-IN" dirty="0">
                <a:latin typeface="Times-Roman"/>
              </a:rPr>
              <a:t>The notation is (</a:t>
            </a:r>
            <a:r>
              <a:rPr lang="en-IN" dirty="0" err="1">
                <a:latin typeface="Times-Roman"/>
              </a:rPr>
              <a:t>seq</a:t>
            </a:r>
            <a:r>
              <a:rPr lang="en-IN" dirty="0">
                <a:latin typeface="Times-Roman"/>
              </a:rPr>
              <a:t>, </a:t>
            </a:r>
            <a:r>
              <a:rPr lang="en-IN" dirty="0" err="1">
                <a:latin typeface="Times-Roman"/>
              </a:rPr>
              <a:t>ack</a:t>
            </a:r>
            <a:r>
              <a:rPr lang="en-IN" dirty="0">
                <a:latin typeface="Times-Roman"/>
              </a:rPr>
              <a:t>, packet number). An asterisk indicates where a network layer accepts a packet.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936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Sliding Window Protocol(Duplex)</a:t>
            </a:r>
          </a:p>
          <a:p>
            <a:pPr lvl="1"/>
            <a:r>
              <a:rPr lang="en-US" altLang="en-US" dirty="0"/>
              <a:t>At any instant of time, the sender &amp; receiver maintain a set of sequence numbers corresponding to frames it is permitted to send/receive</a:t>
            </a:r>
          </a:p>
          <a:p>
            <a:pPr lvl="1"/>
            <a:r>
              <a:rPr lang="en-US" altLang="en-US" dirty="0"/>
              <a:t>Piggybacking</a:t>
            </a:r>
          </a:p>
          <a:p>
            <a:pPr lvl="1"/>
            <a:r>
              <a:rPr lang="en-US" altLang="en-US" dirty="0"/>
              <a:t>Pipelining</a:t>
            </a:r>
          </a:p>
          <a:p>
            <a:pPr lvl="1"/>
            <a:endParaRPr lang="en-US" dirty="0"/>
          </a:p>
        </p:txBody>
      </p:sp>
      <p:pic>
        <p:nvPicPr>
          <p:cNvPr id="4" name="Picture 3" descr="rdt_pipelined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42" y="4434427"/>
            <a:ext cx="5703588" cy="174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508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7042" y="3246320"/>
            <a:ext cx="7280364" cy="28670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191359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Times-Roman"/>
              </a:rPr>
              <a:t>Pipelining and error recovery. Effect of an error when</a:t>
            </a:r>
          </a:p>
          <a:p>
            <a:r>
              <a:rPr lang="en-IN" dirty="0">
                <a:latin typeface="Times-Roman"/>
              </a:rPr>
              <a:t>(a) receiver’s window size is 1 and (b) receiver’s window size is large.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87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Go – Back – N ARQ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 – Back – N ARQ provides for sending multiple frames before receiving the acknowledgement for the first frame. </a:t>
            </a:r>
          </a:p>
          <a:p>
            <a:r>
              <a:rPr lang="en-IN" dirty="0"/>
              <a:t>It uses the concept of sliding window, and so is also called sliding window protocol. </a:t>
            </a:r>
          </a:p>
          <a:p>
            <a:r>
              <a:rPr lang="en-IN" dirty="0"/>
              <a:t>The frames are sequentially numbered and a finite number of frames are sent. </a:t>
            </a:r>
          </a:p>
          <a:p>
            <a:r>
              <a:rPr lang="en-IN" dirty="0"/>
              <a:t>If the acknowledgement of a frame is not received within the time period, all frames starting from that frame are retransmitted.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498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Round trip propagation + transmission time not negligible, Stop and Wait is not efficient</a:t>
            </a:r>
          </a:p>
          <a:p>
            <a:r>
              <a:rPr lang="en-IN" dirty="0"/>
              <a:t>Sender is allowed to transmit multiple packets without waiting for an acknowledgement, but is constrained to have no more than some maximum allowable number (N)</a:t>
            </a:r>
          </a:p>
          <a:p>
            <a:r>
              <a:rPr lang="en-IN" dirty="0"/>
              <a:t>Use cumulative acknowledgement</a:t>
            </a:r>
          </a:p>
          <a:p>
            <a:r>
              <a:rPr lang="en-IN" dirty="0"/>
              <a:t>Ack the latest packet (N) if all packets (&lt; N) are received.</a:t>
            </a:r>
          </a:p>
          <a:p>
            <a:r>
              <a:rPr lang="en-IN" dirty="0"/>
              <a:t>Discard out-of-order packets, no receiver buffering</a:t>
            </a:r>
          </a:p>
          <a:p>
            <a:pPr lvl="1"/>
            <a:r>
              <a:rPr lang="en-IN" dirty="0"/>
              <a:t>Sliding Window + Retransmit all packets starting from earliest </a:t>
            </a:r>
            <a:r>
              <a:rPr lang="en-IN" dirty="0" err="1"/>
              <a:t>unacked</a:t>
            </a:r>
            <a:r>
              <a:rPr lang="en-IN" dirty="0"/>
              <a:t> packet</a:t>
            </a:r>
          </a:p>
          <a:p>
            <a:r>
              <a:rPr lang="en-IN" dirty="0"/>
              <a:t>Can waste a lot of bandwidth if error rate high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523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Selective Repeat ARQ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protocol also provides for sending multiple frames before receiving the acknowledgement for the first frame. </a:t>
            </a:r>
          </a:p>
          <a:p>
            <a:r>
              <a:rPr lang="en-IN" dirty="0"/>
              <a:t>However, here only the erroneous or lost frames are retransmitted, while the good frames are received and buffered.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831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Selective Repeat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Sliding Window + Retransmit just the bad frame when </a:t>
            </a:r>
            <a:r>
              <a:rPr lang="en-IN" dirty="0" err="1"/>
              <a:t>Nak</a:t>
            </a:r>
            <a:r>
              <a:rPr lang="en-IN" dirty="0"/>
              <a:t> received</a:t>
            </a:r>
          </a:p>
          <a:p>
            <a:r>
              <a:rPr lang="en-IN" dirty="0"/>
              <a:t>Out-of-order buffering required at destination</a:t>
            </a:r>
          </a:p>
          <a:p>
            <a:r>
              <a:rPr lang="en-IN" dirty="0"/>
              <a:t>Loses time (and hence throughput) if </a:t>
            </a:r>
            <a:r>
              <a:rPr lang="en-IN" dirty="0" err="1"/>
              <a:t>bursty</a:t>
            </a:r>
            <a:r>
              <a:rPr lang="en-IN" dirty="0"/>
              <a:t> loss of frames</a:t>
            </a:r>
          </a:p>
          <a:p>
            <a:r>
              <a:rPr lang="en-IN" dirty="0" err="1"/>
              <a:t>Acks</a:t>
            </a:r>
            <a:r>
              <a:rPr lang="en-IN" dirty="0"/>
              <a:t> not cumulative.</a:t>
            </a:r>
          </a:p>
          <a:p>
            <a:r>
              <a:rPr lang="en-IN" dirty="0"/>
              <a:t>Non-sequential arrival of packets</a:t>
            </a:r>
          </a:p>
          <a:p>
            <a:pPr lvl="1"/>
            <a:r>
              <a:rPr lang="en-IN" dirty="0"/>
              <a:t>ensure no overlap with old window when receiver advances window</a:t>
            </a:r>
          </a:p>
          <a:p>
            <a:pPr lvl="1"/>
            <a:r>
              <a:rPr lang="en-IN" dirty="0"/>
              <a:t>Maximum Window = (Sequence Number Space)/2</a:t>
            </a:r>
          </a:p>
        </p:txBody>
      </p:sp>
    </p:spTree>
    <p:extLst>
      <p:ext uri="{BB962C8B-B14F-4D97-AF65-F5344CB8AC3E}">
        <p14:creationId xmlns:p14="http://schemas.microsoft.com/office/powerpoint/2010/main" val="2444786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Out-of-order buffering not mandatory at destination</a:t>
            </a:r>
          </a:p>
          <a:p>
            <a:r>
              <a:rPr lang="en-IN" dirty="0"/>
              <a:t>Maximum Window = Sequence Number Space - 1</a:t>
            </a:r>
          </a:p>
          <a:p>
            <a:r>
              <a:rPr lang="en-IN" dirty="0"/>
              <a:t>N timers or 1 timer may be used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963" y="3513955"/>
            <a:ext cx="6148251" cy="26630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4093029"/>
            <a:ext cx="38121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-Roman"/>
              </a:rPr>
              <a:t>Simulation of multiple timers in software. (a) The queued timeouts.</a:t>
            </a:r>
          </a:p>
          <a:p>
            <a:r>
              <a:rPr lang="en-IN" dirty="0">
                <a:latin typeface="Times-Roman"/>
              </a:rPr>
              <a:t>(b) The situation after the first timeout has expired.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6340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Enhancement to piggybacking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Auxiliary Ack timer</a:t>
            </a:r>
          </a:p>
          <a:p>
            <a:r>
              <a:rPr lang="en-IN" dirty="0"/>
              <a:t> Set timer when packet to be </a:t>
            </a:r>
            <a:r>
              <a:rPr lang="en-IN" dirty="0" err="1"/>
              <a:t>acked</a:t>
            </a:r>
            <a:r>
              <a:rPr lang="en-IN" dirty="0"/>
              <a:t> is received</a:t>
            </a:r>
          </a:p>
          <a:p>
            <a:r>
              <a:rPr lang="en-IN" dirty="0"/>
              <a:t> If no reverse data, generate Ack when timer goes off</a:t>
            </a:r>
          </a:p>
          <a:p>
            <a:r>
              <a:rPr lang="en-IN" dirty="0"/>
              <a:t> Send negative </a:t>
            </a:r>
            <a:r>
              <a:rPr lang="en-IN" dirty="0" err="1"/>
              <a:t>ack</a:t>
            </a:r>
            <a:r>
              <a:rPr lang="en-IN" dirty="0"/>
              <a:t> (</a:t>
            </a:r>
            <a:r>
              <a:rPr lang="en-IN" dirty="0" err="1"/>
              <a:t>Nak</a:t>
            </a:r>
            <a:r>
              <a:rPr lang="en-IN" dirty="0"/>
              <a:t>) when out-of-order frame received</a:t>
            </a:r>
          </a:p>
          <a:p>
            <a:r>
              <a:rPr lang="en-IN" dirty="0"/>
              <a:t> Source retransmits </a:t>
            </a:r>
            <a:r>
              <a:rPr lang="en-IN" dirty="0" err="1"/>
              <a:t>Nak’ed</a:t>
            </a:r>
            <a:r>
              <a:rPr lang="en-IN" dirty="0"/>
              <a:t> frame</a:t>
            </a:r>
          </a:p>
          <a:p>
            <a:r>
              <a:rPr lang="en-IN" dirty="0"/>
              <a:t> </a:t>
            </a:r>
            <a:r>
              <a:rPr lang="en-IN" dirty="0" err="1"/>
              <a:t>Naks</a:t>
            </a:r>
            <a:r>
              <a:rPr lang="en-IN" dirty="0"/>
              <a:t> not cumulative</a:t>
            </a:r>
          </a:p>
          <a:p>
            <a:r>
              <a:rPr lang="en-IN" dirty="0"/>
              <a:t> Do not send duplicate </a:t>
            </a:r>
            <a:r>
              <a:rPr lang="en-IN" dirty="0" err="1"/>
              <a:t>Nak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566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Sliding Window Enhancements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Receiver can acknowledge frames without permitting further transmission (Receive Not Ready)</a:t>
            </a:r>
          </a:p>
          <a:p>
            <a:r>
              <a:rPr lang="en-US" altLang="en-US"/>
              <a:t>Must send a normal acknowledge to resume</a:t>
            </a:r>
          </a:p>
          <a:p>
            <a:r>
              <a:rPr lang="en-US" altLang="en-US"/>
              <a:t>If duplex, use piggybacking</a:t>
            </a:r>
          </a:p>
          <a:p>
            <a:pPr lvl="1"/>
            <a:r>
              <a:rPr lang="en-US" altLang="en-US"/>
              <a:t>If no data to send, use acknowledgement frame</a:t>
            </a:r>
          </a:p>
          <a:p>
            <a:pPr lvl="1"/>
            <a:r>
              <a:rPr lang="en-US" altLang="en-US"/>
              <a:t>If data but no acknowledgement to send, send last acknowledgement number again, or have ACK valid flag (TCP)</a:t>
            </a:r>
          </a:p>
        </p:txBody>
      </p:sp>
    </p:spTree>
    <p:extLst>
      <p:ext uri="{BB962C8B-B14F-4D97-AF65-F5344CB8AC3E}">
        <p14:creationId xmlns:p14="http://schemas.microsoft.com/office/powerpoint/2010/main" val="3936202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