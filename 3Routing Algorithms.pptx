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Default ContentType="image/x-emf" Extension="emf"/>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10.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43.xml"/>
  <Override ContentType="application/vnd.openxmlformats-officedocument.presentationml.slide+xml" PartName="/ppt/slides/slide18.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42.xml"/>
  <Override ContentType="application/vnd.openxmlformats-officedocument.presentationml.slide+xml" PartName="/ppt/slides/slide17.xml"/>
  <Override ContentType="application/vnd.openxmlformats-officedocument.presentationml.slide+xml" PartName="/ppt/slides/slide50.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54.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56.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46.xml"/>
  <Override ContentType="application/vnd.openxmlformats-officedocument.presentationml.slide+xml" PartName="/ppt/slides/slide38.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2.xml"/>
  <Override ContentType="application/vnd.openxmlformats-officedocument.presentationml.slide+xml" PartName="/ppt/slides/slide14.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7.xml"/><Relationship Id="rId42" Type="http://schemas.openxmlformats.org/officeDocument/2006/relationships/slide" Target="slides/slide39.xml"/><Relationship Id="rId41" Type="http://schemas.openxmlformats.org/officeDocument/2006/relationships/slide" Target="slides/slide38.xml"/><Relationship Id="rId44" Type="http://schemas.openxmlformats.org/officeDocument/2006/relationships/slide" Target="slides/slide41.xml"/><Relationship Id="rId43" Type="http://schemas.openxmlformats.org/officeDocument/2006/relationships/slide" Target="slides/slide40.xml"/><Relationship Id="rId46" Type="http://schemas.openxmlformats.org/officeDocument/2006/relationships/slide" Target="slides/slide43.xml"/><Relationship Id="rId45" Type="http://schemas.openxmlformats.org/officeDocument/2006/relationships/slide" Target="slides/slide42.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slide" Target="slides/slide1.xml"/><Relationship Id="rId9" Type="http://schemas.openxmlformats.org/officeDocument/2006/relationships/slide" Target="slides/slide6.xml"/><Relationship Id="rId48" Type="http://schemas.openxmlformats.org/officeDocument/2006/relationships/slide" Target="slides/slide45.xml"/><Relationship Id="rId47" Type="http://schemas.openxmlformats.org/officeDocument/2006/relationships/slide" Target="slides/slide44.xml"/><Relationship Id="rId49" Type="http://schemas.openxmlformats.org/officeDocument/2006/relationships/slide" Target="slides/slide46.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31" Type="http://schemas.openxmlformats.org/officeDocument/2006/relationships/slide" Target="slides/slide28.xml"/><Relationship Id="rId30" Type="http://schemas.openxmlformats.org/officeDocument/2006/relationships/slide" Target="slides/slide27.xml"/><Relationship Id="rId33" Type="http://schemas.openxmlformats.org/officeDocument/2006/relationships/slide" Target="slides/slide30.xml"/><Relationship Id="rId32" Type="http://schemas.openxmlformats.org/officeDocument/2006/relationships/slide" Target="slides/slide29.xml"/><Relationship Id="rId35" Type="http://schemas.openxmlformats.org/officeDocument/2006/relationships/slide" Target="slides/slide32.xml"/><Relationship Id="rId34" Type="http://schemas.openxmlformats.org/officeDocument/2006/relationships/slide" Target="slides/slide31.xml"/><Relationship Id="rId37" Type="http://schemas.openxmlformats.org/officeDocument/2006/relationships/slide" Target="slides/slide34.xml"/><Relationship Id="rId36" Type="http://schemas.openxmlformats.org/officeDocument/2006/relationships/slide" Target="slides/slide33.xml"/><Relationship Id="rId39" Type="http://schemas.openxmlformats.org/officeDocument/2006/relationships/slide" Target="slides/slide36.xml"/><Relationship Id="rId38" Type="http://schemas.openxmlformats.org/officeDocument/2006/relationships/slide" Target="slides/slide35.xml"/><Relationship Id="rId61" Type="http://schemas.openxmlformats.org/officeDocument/2006/relationships/slide" Target="slides/slide58.xml"/><Relationship Id="rId20" Type="http://schemas.openxmlformats.org/officeDocument/2006/relationships/slide" Target="slides/slide17.xml"/><Relationship Id="rId22" Type="http://schemas.openxmlformats.org/officeDocument/2006/relationships/slide" Target="slides/slide19.xml"/><Relationship Id="rId21" Type="http://schemas.openxmlformats.org/officeDocument/2006/relationships/slide" Target="slides/slide18.xml"/><Relationship Id="rId24" Type="http://schemas.openxmlformats.org/officeDocument/2006/relationships/slide" Target="slides/slide21.xml"/><Relationship Id="rId23" Type="http://schemas.openxmlformats.org/officeDocument/2006/relationships/slide" Target="slides/slide20.xml"/><Relationship Id="rId60" Type="http://schemas.openxmlformats.org/officeDocument/2006/relationships/slide" Target="slides/slide57.xml"/><Relationship Id="rId26" Type="http://schemas.openxmlformats.org/officeDocument/2006/relationships/slide" Target="slides/slide23.xml"/><Relationship Id="rId25" Type="http://schemas.openxmlformats.org/officeDocument/2006/relationships/slide" Target="slides/slide22.xml"/><Relationship Id="rId28" Type="http://schemas.openxmlformats.org/officeDocument/2006/relationships/slide" Target="slides/slide25.xml"/><Relationship Id="rId27" Type="http://schemas.openxmlformats.org/officeDocument/2006/relationships/slide" Target="slides/slide24.xml"/><Relationship Id="rId29" Type="http://schemas.openxmlformats.org/officeDocument/2006/relationships/slide" Target="slides/slide26.xml"/><Relationship Id="rId51" Type="http://schemas.openxmlformats.org/officeDocument/2006/relationships/slide" Target="slides/slide48.xml"/><Relationship Id="rId50" Type="http://schemas.openxmlformats.org/officeDocument/2006/relationships/slide" Target="slides/slide47.xml"/><Relationship Id="rId53" Type="http://schemas.openxmlformats.org/officeDocument/2006/relationships/slide" Target="slides/slide50.xml"/><Relationship Id="rId52" Type="http://schemas.openxmlformats.org/officeDocument/2006/relationships/slide" Target="slides/slide49.xml"/><Relationship Id="rId11" Type="http://schemas.openxmlformats.org/officeDocument/2006/relationships/slide" Target="slides/slide8.xml"/><Relationship Id="rId55" Type="http://schemas.openxmlformats.org/officeDocument/2006/relationships/slide" Target="slides/slide52.xml"/><Relationship Id="rId10" Type="http://schemas.openxmlformats.org/officeDocument/2006/relationships/slide" Target="slides/slide7.xml"/><Relationship Id="rId54" Type="http://schemas.openxmlformats.org/officeDocument/2006/relationships/slide" Target="slides/slide51.xml"/><Relationship Id="rId13" Type="http://schemas.openxmlformats.org/officeDocument/2006/relationships/slide" Target="slides/slide10.xml"/><Relationship Id="rId57" Type="http://schemas.openxmlformats.org/officeDocument/2006/relationships/slide" Target="slides/slide54.xml"/><Relationship Id="rId12" Type="http://schemas.openxmlformats.org/officeDocument/2006/relationships/slide" Target="slides/slide9.xml"/><Relationship Id="rId56" Type="http://schemas.openxmlformats.org/officeDocument/2006/relationships/slide" Target="slides/slide53.xml"/><Relationship Id="rId15" Type="http://schemas.openxmlformats.org/officeDocument/2006/relationships/slide" Target="slides/slide12.xml"/><Relationship Id="rId59" Type="http://schemas.openxmlformats.org/officeDocument/2006/relationships/slide" Target="slides/slide56.xml"/><Relationship Id="rId14" Type="http://schemas.openxmlformats.org/officeDocument/2006/relationships/slide" Target="slides/slide11.xml"/><Relationship Id="rId58" Type="http://schemas.openxmlformats.org/officeDocument/2006/relationships/slide" Target="slides/slide55.xml"/><Relationship Id="rId17" Type="http://schemas.openxmlformats.org/officeDocument/2006/relationships/slide" Target="slides/slide14.xml"/><Relationship Id="rId16" Type="http://schemas.openxmlformats.org/officeDocument/2006/relationships/slide" Target="slides/slide13.xml"/><Relationship Id="rId19" Type="http://schemas.openxmlformats.org/officeDocument/2006/relationships/slide" Target="slides/slide16.xml"/><Relationship Id="rId18"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5541375-6054-4E06-A125-AF355A8A99E7}" type="datetimeFigureOut">
              <a:rPr lang="en-IN" smtClean="0"/>
              <a:t>28-09-2026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2BDB35-D66A-4551-BCFD-E761654B2190}" type="slidenum">
              <a:rPr lang="en-IN" smtClean="0"/>
              <a:t>‹#›</a:t>
            </a:fld>
            <a:endParaRPr lang="en-IN"/>
          </a:p>
        </p:txBody>
      </p:sp>
    </p:spTree>
    <p:extLst>
      <p:ext uri="{BB962C8B-B14F-4D97-AF65-F5344CB8AC3E}">
        <p14:creationId xmlns:p14="http://schemas.microsoft.com/office/powerpoint/2010/main" val="236545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5541375-6054-4E06-A125-AF355A8A99E7}" type="datetimeFigureOut">
              <a:rPr lang="en-IN" smtClean="0"/>
              <a:t>28-09-2026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2BDB35-D66A-4551-BCFD-E761654B2190}" type="slidenum">
              <a:rPr lang="en-IN" smtClean="0"/>
              <a:t>‹#›</a:t>
            </a:fld>
            <a:endParaRPr lang="en-IN"/>
          </a:p>
        </p:txBody>
      </p:sp>
    </p:spTree>
    <p:extLst>
      <p:ext uri="{BB962C8B-B14F-4D97-AF65-F5344CB8AC3E}">
        <p14:creationId xmlns:p14="http://schemas.microsoft.com/office/powerpoint/2010/main" val="2133951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541375-6054-4E06-A125-AF355A8A99E7}" type="datetimeFigureOut">
              <a:rPr lang="en-IN" smtClean="0"/>
              <a:t>28-09-2026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2BDB35-D66A-4551-BCFD-E761654B2190}" type="slidenum">
              <a:rPr lang="en-IN" smtClean="0"/>
              <a:t>‹#›</a:t>
            </a:fld>
            <a:endParaRPr lang="en-IN"/>
          </a:p>
        </p:txBody>
      </p:sp>
    </p:spTree>
    <p:extLst>
      <p:ext uri="{BB962C8B-B14F-4D97-AF65-F5344CB8AC3E}">
        <p14:creationId xmlns:p14="http://schemas.microsoft.com/office/powerpoint/2010/main" val="2198105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5541375-6054-4E06-A125-AF355A8A99E7}" type="datetimeFigureOut">
              <a:rPr lang="en-IN" smtClean="0"/>
              <a:t>28-09-2026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2BDB35-D66A-4551-BCFD-E761654B2190}" type="slidenum">
              <a:rPr lang="en-IN" smtClean="0"/>
              <a:t>‹#›</a:t>
            </a:fld>
            <a:endParaRPr lang="en-IN"/>
          </a:p>
        </p:txBody>
      </p:sp>
    </p:spTree>
    <p:extLst>
      <p:ext uri="{BB962C8B-B14F-4D97-AF65-F5344CB8AC3E}">
        <p14:creationId xmlns:p14="http://schemas.microsoft.com/office/powerpoint/2010/main" val="555243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5541375-6054-4E06-A125-AF355A8A99E7}" type="datetimeFigureOut">
              <a:rPr lang="en-IN" smtClean="0"/>
              <a:t>28-09-2026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72BDB35-D66A-4551-BCFD-E761654B2190}" type="slidenum">
              <a:rPr lang="en-IN" smtClean="0"/>
              <a:t>‹#›</a:t>
            </a:fld>
            <a:endParaRPr lang="en-IN"/>
          </a:p>
        </p:txBody>
      </p:sp>
    </p:spTree>
    <p:extLst>
      <p:ext uri="{BB962C8B-B14F-4D97-AF65-F5344CB8AC3E}">
        <p14:creationId xmlns:p14="http://schemas.microsoft.com/office/powerpoint/2010/main" val="1026205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5541375-6054-4E06-A125-AF355A8A99E7}" type="datetimeFigureOut">
              <a:rPr lang="en-IN" smtClean="0"/>
              <a:t>28-09-2026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72BDB35-D66A-4551-BCFD-E761654B2190}" type="slidenum">
              <a:rPr lang="en-IN" smtClean="0"/>
              <a:t>‹#›</a:t>
            </a:fld>
            <a:endParaRPr lang="en-IN"/>
          </a:p>
        </p:txBody>
      </p:sp>
    </p:spTree>
    <p:extLst>
      <p:ext uri="{BB962C8B-B14F-4D97-AF65-F5344CB8AC3E}">
        <p14:creationId xmlns:p14="http://schemas.microsoft.com/office/powerpoint/2010/main" val="3595871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541375-6054-4E06-A125-AF355A8A99E7}" type="datetimeFigureOut">
              <a:rPr lang="en-IN" smtClean="0"/>
              <a:t>28-09-2026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72BDB35-D66A-4551-BCFD-E761654B2190}" type="slidenum">
              <a:rPr lang="en-IN" smtClean="0"/>
              <a:t>‹#›</a:t>
            </a:fld>
            <a:endParaRPr lang="en-IN"/>
          </a:p>
        </p:txBody>
      </p:sp>
    </p:spTree>
    <p:extLst>
      <p:ext uri="{BB962C8B-B14F-4D97-AF65-F5344CB8AC3E}">
        <p14:creationId xmlns:p14="http://schemas.microsoft.com/office/powerpoint/2010/main" val="1914706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541375-6054-4E06-A125-AF355A8A99E7}" type="datetimeFigureOut">
              <a:rPr lang="en-IN" smtClean="0"/>
              <a:t>28-09-2026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2BDB35-D66A-4551-BCFD-E761654B2190}" type="slidenum">
              <a:rPr lang="en-IN" smtClean="0"/>
              <a:t>‹#›</a:t>
            </a:fld>
            <a:endParaRPr lang="en-IN"/>
          </a:p>
        </p:txBody>
      </p:sp>
    </p:spTree>
    <p:extLst>
      <p:ext uri="{BB962C8B-B14F-4D97-AF65-F5344CB8AC3E}">
        <p14:creationId xmlns:p14="http://schemas.microsoft.com/office/powerpoint/2010/main" val="1100310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541375-6054-4E06-A125-AF355A8A99E7}" type="datetimeFigureOut">
              <a:rPr lang="en-IN" smtClean="0"/>
              <a:t>28-09-2026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2BDB35-D66A-4551-BCFD-E761654B2190}" type="slidenum">
              <a:rPr lang="en-IN" smtClean="0"/>
              <a:t>‹#›</a:t>
            </a:fld>
            <a:endParaRPr lang="en-IN"/>
          </a:p>
        </p:txBody>
      </p:sp>
    </p:spTree>
    <p:extLst>
      <p:ext uri="{BB962C8B-B14F-4D97-AF65-F5344CB8AC3E}">
        <p14:creationId xmlns:p14="http://schemas.microsoft.com/office/powerpoint/2010/main" val="2443064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5541375-6054-4E06-A125-AF355A8A99E7}" type="datetimeFigureOut">
              <a:rPr lang="en-IN" smtClean="0"/>
              <a:t>28-09-2026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2BDB35-D66A-4551-BCFD-E761654B2190}" type="slidenum">
              <a:rPr lang="en-IN" smtClean="0"/>
              <a:t>‹#›</a:t>
            </a:fld>
            <a:endParaRPr lang="en-IN"/>
          </a:p>
        </p:txBody>
      </p:sp>
    </p:spTree>
    <p:extLst>
      <p:ext uri="{BB962C8B-B14F-4D97-AF65-F5344CB8AC3E}">
        <p14:creationId xmlns:p14="http://schemas.microsoft.com/office/powerpoint/2010/main" val="3462120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5541375-6054-4E06-A125-AF355A8A99E7}" type="datetimeFigureOut">
              <a:rPr lang="en-IN" smtClean="0"/>
              <a:t>28-09-2026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2BDB35-D66A-4551-BCFD-E761654B2190}" type="slidenum">
              <a:rPr lang="en-IN" smtClean="0"/>
              <a:t>‹#›</a:t>
            </a:fld>
            <a:endParaRPr lang="en-IN"/>
          </a:p>
        </p:txBody>
      </p:sp>
    </p:spTree>
    <p:extLst>
      <p:ext uri="{BB962C8B-B14F-4D97-AF65-F5344CB8AC3E}">
        <p14:creationId xmlns:p14="http://schemas.microsoft.com/office/powerpoint/2010/main" val="1484050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541375-6054-4E06-A125-AF355A8A99E7}" type="datetimeFigureOut">
              <a:rPr lang="en-IN" smtClean="0"/>
              <a:t>28-09-2026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2BDB35-D66A-4551-BCFD-E761654B2190}" type="slidenum">
              <a:rPr lang="en-IN" smtClean="0"/>
              <a:t>‹#›</a:t>
            </a:fld>
            <a:endParaRPr lang="en-IN"/>
          </a:p>
        </p:txBody>
      </p:sp>
    </p:spTree>
    <p:extLst>
      <p:ext uri="{BB962C8B-B14F-4D97-AF65-F5344CB8AC3E}">
        <p14:creationId xmlns:p14="http://schemas.microsoft.com/office/powerpoint/2010/main" val="32277565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Routing Algorithms</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2870078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a:bodyPr>
          <a:lstStyle/>
          <a:p>
            <a:r>
              <a:rPr lang="en-IN" dirty="0"/>
              <a:t>The main function of NL (Network Layer) is routing packets from the source machine to the destination machine.</a:t>
            </a:r>
          </a:p>
          <a:p>
            <a:r>
              <a:rPr lang="en-IN" dirty="0"/>
              <a:t>The algorithms that choose the routes and the data structures that they use are a major area of network layer design.</a:t>
            </a:r>
          </a:p>
          <a:p>
            <a:r>
              <a:rPr lang="en-IN" dirty="0"/>
              <a:t>The routing algorithm is that part of the NL software responsible for deciding which output line an incoming packet should be transmitted on.</a:t>
            </a:r>
          </a:p>
        </p:txBody>
      </p:sp>
    </p:spTree>
    <p:extLst>
      <p:ext uri="{BB962C8B-B14F-4D97-AF65-F5344CB8AC3E}">
        <p14:creationId xmlns:p14="http://schemas.microsoft.com/office/powerpoint/2010/main" val="2230172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There are two processes inside router:</a:t>
            </a:r>
          </a:p>
          <a:p>
            <a:pPr marL="0" indent="0">
              <a:buNone/>
            </a:pPr>
            <a:r>
              <a:rPr lang="en-IN" dirty="0"/>
              <a:t>	a) One of them handles each packet as it arrives, looking up the outgoing line to use for it in the routing table. This process is forwarding.</a:t>
            </a:r>
          </a:p>
          <a:p>
            <a:pPr marL="0" indent="0">
              <a:buNone/>
            </a:pPr>
            <a:r>
              <a:rPr lang="en-IN" dirty="0"/>
              <a:t>	b) The other process is responsible for filling in and updating the routing tables. That is where the routing algorithm comes into play. This process is routing.</a:t>
            </a:r>
          </a:p>
        </p:txBody>
      </p:sp>
    </p:spTree>
    <p:extLst>
      <p:ext uri="{BB962C8B-B14F-4D97-AF65-F5344CB8AC3E}">
        <p14:creationId xmlns:p14="http://schemas.microsoft.com/office/powerpoint/2010/main" val="2710603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pPr marL="0" indent="0">
              <a:lnSpc>
                <a:spcPct val="100000"/>
              </a:lnSpc>
              <a:spcBef>
                <a:spcPts val="0"/>
              </a:spcBef>
              <a:buNone/>
            </a:pPr>
            <a:r>
              <a:rPr lang="en-IN" dirty="0"/>
              <a:t>Regardless of whether routes are chosen independently for each packet or only when new connections are established, certain properties are desirable in a routing </a:t>
            </a:r>
            <a:r>
              <a:rPr lang="en-IN"/>
              <a:t>algorithm:</a:t>
            </a:r>
          </a:p>
          <a:p>
            <a:pPr marL="0" indent="0">
              <a:lnSpc>
                <a:spcPct val="100000"/>
              </a:lnSpc>
              <a:spcBef>
                <a:spcPts val="0"/>
              </a:spcBef>
              <a:buNone/>
            </a:pPr>
            <a:endParaRPr lang="en-IN" dirty="0"/>
          </a:p>
          <a:p>
            <a:pPr lvl="0">
              <a:lnSpc>
                <a:spcPct val="100000"/>
              </a:lnSpc>
              <a:spcBef>
                <a:spcPts val="0"/>
              </a:spcBef>
            </a:pPr>
            <a:r>
              <a:rPr lang="en-IN" dirty="0"/>
              <a:t>Correctness: </a:t>
            </a:r>
            <a:r>
              <a:rPr lang="en-US" dirty="0"/>
              <a:t>The routing should be done properly and correctly so that the packets may reach their proper destination.</a:t>
            </a:r>
            <a:endParaRPr lang="en-IN" dirty="0"/>
          </a:p>
          <a:p>
            <a:pPr>
              <a:lnSpc>
                <a:spcPct val="100000"/>
              </a:lnSpc>
              <a:spcBef>
                <a:spcPts val="0"/>
              </a:spcBef>
            </a:pPr>
            <a:r>
              <a:rPr lang="en-IN" dirty="0"/>
              <a:t>Simplicity: </a:t>
            </a:r>
            <a:r>
              <a:rPr lang="en-US" dirty="0"/>
              <a:t>The routing should be done in a simple manner so that the overhead is as low as possible. With increasing complexity of the routing algorithms the overhead also increases.</a:t>
            </a:r>
            <a:endParaRPr lang="en-IN" dirty="0"/>
          </a:p>
        </p:txBody>
      </p:sp>
    </p:spTree>
    <p:extLst>
      <p:ext uri="{BB962C8B-B14F-4D97-AF65-F5344CB8AC3E}">
        <p14:creationId xmlns:p14="http://schemas.microsoft.com/office/powerpoint/2010/main" val="786211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IN" dirty="0"/>
              <a:t>Robustness: The routing algorithm should be able to cope with changes in topology and traffic without requiring all jobs in all hosts to be aborted and the network to be rebooted every time some router crashes.</a:t>
            </a:r>
          </a:p>
          <a:p>
            <a:r>
              <a:rPr lang="en-IN" dirty="0"/>
              <a:t>Stability: </a:t>
            </a:r>
            <a:r>
              <a:rPr lang="en-US" dirty="0"/>
              <a:t>The routing algorithms should be stable under all possible circumstances.</a:t>
            </a:r>
            <a:r>
              <a:rPr lang="en-IN" dirty="0"/>
              <a:t>A stable algorithm reaches equilibrium and stays there.</a:t>
            </a:r>
          </a:p>
          <a:p>
            <a:pPr lvl="0"/>
            <a:r>
              <a:rPr lang="en-IN" dirty="0"/>
              <a:t>Fairness: </a:t>
            </a:r>
            <a:r>
              <a:rPr lang="en-US" dirty="0"/>
              <a:t>Every node connected to the network should get a fair chance of transmitting their packets. This is generally done on a first come first serve basis.</a:t>
            </a:r>
            <a:endParaRPr lang="en-IN" dirty="0"/>
          </a:p>
          <a:p>
            <a:pPr lvl="0"/>
            <a:r>
              <a:rPr lang="en-IN" dirty="0"/>
              <a:t>Optimality:</a:t>
            </a:r>
            <a:r>
              <a:rPr lang="en-US" dirty="0"/>
              <a:t> The routing algorithms should be optimal in terms of throughput and minimizing mean packet delays. </a:t>
            </a:r>
            <a:endParaRPr lang="en-IN" dirty="0"/>
          </a:p>
          <a:p>
            <a:r>
              <a:rPr lang="en-IN" dirty="0"/>
              <a:t>Fairness and optimality  are often contradictory goals.</a:t>
            </a:r>
          </a:p>
          <a:p>
            <a:endParaRPr lang="en-IN" dirty="0"/>
          </a:p>
        </p:txBody>
      </p:sp>
    </p:spTree>
    <p:extLst>
      <p:ext uri="{BB962C8B-B14F-4D97-AF65-F5344CB8AC3E}">
        <p14:creationId xmlns:p14="http://schemas.microsoft.com/office/powerpoint/2010/main" val="208550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Routing Algorithm Classification</a:t>
            </a:r>
          </a:p>
        </p:txBody>
      </p:sp>
      <p:sp>
        <p:nvSpPr>
          <p:cNvPr id="3" name="Content Placeholder 2"/>
          <p:cNvSpPr>
            <a:spLocks noGrp="1"/>
          </p:cNvSpPr>
          <p:nvPr>
            <p:ph idx="1"/>
          </p:nvPr>
        </p:nvSpPr>
        <p:spPr/>
        <p:txBody>
          <a:bodyPr/>
          <a:lstStyle/>
          <a:p>
            <a:r>
              <a:rPr lang="en-IN" dirty="0"/>
              <a:t>Adaptive Algorithms</a:t>
            </a:r>
          </a:p>
          <a:p>
            <a:pPr lvl="1"/>
            <a:r>
              <a:rPr lang="en-IN" dirty="0"/>
              <a:t>Centralized</a:t>
            </a:r>
          </a:p>
          <a:p>
            <a:pPr lvl="1"/>
            <a:r>
              <a:rPr lang="en-IN" dirty="0"/>
              <a:t>Isolated</a:t>
            </a:r>
          </a:p>
          <a:p>
            <a:pPr lvl="1"/>
            <a:r>
              <a:rPr lang="en-IN" dirty="0"/>
              <a:t>Distributed</a:t>
            </a:r>
          </a:p>
          <a:p>
            <a:r>
              <a:rPr lang="en-IN" dirty="0"/>
              <a:t>Non Adaptive algorithms</a:t>
            </a:r>
          </a:p>
          <a:p>
            <a:pPr lvl="1"/>
            <a:r>
              <a:rPr lang="en-IN" dirty="0"/>
              <a:t>Flooding</a:t>
            </a:r>
          </a:p>
          <a:p>
            <a:pPr lvl="1"/>
            <a:r>
              <a:rPr lang="en-IN" dirty="0"/>
              <a:t>Random Walk</a:t>
            </a:r>
          </a:p>
          <a:p>
            <a:pPr lvl="1"/>
            <a:r>
              <a:rPr lang="en-IN"/>
              <a:t>Static </a:t>
            </a:r>
            <a:r>
              <a:rPr lang="en-IN" dirty="0"/>
              <a:t>routing using shortest path algorithms</a:t>
            </a:r>
          </a:p>
          <a:p>
            <a:pPr lvl="1"/>
            <a:endParaRPr lang="en-IN" dirty="0"/>
          </a:p>
        </p:txBody>
      </p:sp>
    </p:spTree>
    <p:extLst>
      <p:ext uri="{BB962C8B-B14F-4D97-AF65-F5344CB8AC3E}">
        <p14:creationId xmlns:p14="http://schemas.microsoft.com/office/powerpoint/2010/main" val="179306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Adaptive Routing Algorithms</a:t>
            </a:r>
            <a:endParaRPr lang="en-IN" dirty="0"/>
          </a:p>
        </p:txBody>
      </p:sp>
      <p:sp>
        <p:nvSpPr>
          <p:cNvPr id="3" name="Content Placeholder 2"/>
          <p:cNvSpPr>
            <a:spLocks noGrp="1"/>
          </p:cNvSpPr>
          <p:nvPr>
            <p:ph idx="1"/>
          </p:nvPr>
        </p:nvSpPr>
        <p:spPr/>
        <p:txBody>
          <a:bodyPr>
            <a:normAutofit lnSpcReduction="10000"/>
          </a:bodyPr>
          <a:lstStyle/>
          <a:p>
            <a:pPr marL="0" indent="0">
              <a:buNone/>
            </a:pPr>
            <a:r>
              <a:rPr lang="en-IN" dirty="0"/>
              <a:t>Adaptive Routing -	based on current measurements of traffic and/or topology.</a:t>
            </a:r>
          </a:p>
          <a:p>
            <a:pPr marL="0" lvl="0" indent="0">
              <a:buNone/>
            </a:pPr>
            <a:r>
              <a:rPr lang="en-US" b="1" dirty="0"/>
              <a:t>Adaptive Routing Algorithms </a:t>
            </a:r>
            <a:r>
              <a:rPr lang="en-US" dirty="0"/>
              <a:t>change their routing decisions to reflect changes in the topology and in traffic as well. These get their routing information from adjacent routers or from all routers. The optimization parameters are the distance, number of hops and estimated transit time. This can be further classified as follows:</a:t>
            </a:r>
            <a:endParaRPr lang="en-IN" dirty="0"/>
          </a:p>
          <a:p>
            <a:pPr marL="0" indent="0">
              <a:buNone/>
            </a:pPr>
            <a:r>
              <a:rPr lang="en-IN" dirty="0"/>
              <a:t>1. Centralized</a:t>
            </a:r>
          </a:p>
          <a:p>
            <a:pPr marL="0" indent="0">
              <a:buNone/>
            </a:pPr>
            <a:r>
              <a:rPr lang="en-IN" dirty="0"/>
              <a:t>2. Isolated</a:t>
            </a:r>
          </a:p>
          <a:p>
            <a:pPr marL="0" indent="0">
              <a:buNone/>
            </a:pPr>
            <a:r>
              <a:rPr lang="en-IN" dirty="0"/>
              <a:t>3. Distributed</a:t>
            </a:r>
          </a:p>
        </p:txBody>
      </p:sp>
    </p:spTree>
    <p:extLst>
      <p:ext uri="{BB962C8B-B14F-4D97-AF65-F5344CB8AC3E}">
        <p14:creationId xmlns:p14="http://schemas.microsoft.com/office/powerpoint/2010/main" val="3238578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l" rtl="0">
              <a:lnSpc>
                <a:spcPct val="90000"/>
              </a:lnSpc>
              <a:spcBef>
                <a:spcPct val="0"/>
              </a:spcBef>
            </a:pPr>
            <a:r>
              <a:rPr lang="en-US" sz="4000" dirty="0">
                <a:latin typeface="+mn-lt"/>
              </a:rPr>
              <a:t>Centralized: </a:t>
            </a:r>
            <a:endParaRPr lang="en-IN" sz="4000" dirty="0">
              <a:latin typeface="+mn-lt"/>
            </a:endParaRPr>
          </a:p>
        </p:txBody>
      </p:sp>
      <p:sp>
        <p:nvSpPr>
          <p:cNvPr id="3" name="Content Placeholder 2"/>
          <p:cNvSpPr>
            <a:spLocks noGrp="1"/>
          </p:cNvSpPr>
          <p:nvPr>
            <p:ph idx="1"/>
          </p:nvPr>
        </p:nvSpPr>
        <p:spPr/>
        <p:txBody>
          <a:bodyPr>
            <a:normAutofit/>
          </a:bodyPr>
          <a:lstStyle/>
          <a:p>
            <a:pPr marL="228600" lvl="1">
              <a:spcBef>
                <a:spcPts val="1000"/>
              </a:spcBef>
            </a:pPr>
            <a:r>
              <a:rPr lang="en-US" sz="2800" dirty="0"/>
              <a:t>In this type some central node in the network gets entire information about the network topology, about the traffic and about other nodes. </a:t>
            </a:r>
          </a:p>
          <a:p>
            <a:pPr marL="228600" lvl="1">
              <a:spcBef>
                <a:spcPts val="1000"/>
              </a:spcBef>
            </a:pPr>
            <a:r>
              <a:rPr lang="en-US" sz="2800" dirty="0"/>
              <a:t>This then transmits the information to the respective routers. </a:t>
            </a:r>
          </a:p>
          <a:p>
            <a:pPr marL="228600" lvl="1">
              <a:spcBef>
                <a:spcPts val="1000"/>
              </a:spcBef>
            </a:pPr>
            <a:r>
              <a:rPr lang="en-US" sz="2800" dirty="0"/>
              <a:t>The advantage is that only one node is required to keep the information. </a:t>
            </a:r>
          </a:p>
          <a:p>
            <a:pPr marL="228600" lvl="1">
              <a:spcBef>
                <a:spcPts val="1000"/>
              </a:spcBef>
            </a:pPr>
            <a:r>
              <a:rPr lang="en-US" sz="2800" dirty="0"/>
              <a:t>The disadvantage is that if the central node goes down the entire network is down, i.e. single point of failure.</a:t>
            </a:r>
            <a:endParaRPr lang="en-IN" sz="2800" dirty="0"/>
          </a:p>
          <a:p>
            <a:endParaRPr lang="en-IN" dirty="0"/>
          </a:p>
        </p:txBody>
      </p:sp>
    </p:spTree>
    <p:extLst>
      <p:ext uri="{BB962C8B-B14F-4D97-AF65-F5344CB8AC3E}">
        <p14:creationId xmlns:p14="http://schemas.microsoft.com/office/powerpoint/2010/main" val="416040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Isolated</a:t>
            </a:r>
            <a:endParaRPr lang="en-IN" dirty="0"/>
          </a:p>
        </p:txBody>
      </p:sp>
      <p:sp>
        <p:nvSpPr>
          <p:cNvPr id="3" name="Content Placeholder 2"/>
          <p:cNvSpPr>
            <a:spLocks noGrp="1"/>
          </p:cNvSpPr>
          <p:nvPr>
            <p:ph idx="1"/>
          </p:nvPr>
        </p:nvSpPr>
        <p:spPr/>
        <p:txBody>
          <a:bodyPr>
            <a:normAutofit/>
          </a:bodyPr>
          <a:lstStyle/>
          <a:p>
            <a:pPr marL="0" indent="0">
              <a:buNone/>
            </a:pPr>
            <a:r>
              <a:rPr lang="en-US" dirty="0"/>
              <a:t>In this method, the node decides the routing without seeking information from other nodes. The sending node does not know about the status of a particular link. The disadvantage is that the packet may be send through a congested route resulting in a delay. </a:t>
            </a:r>
          </a:p>
          <a:p>
            <a:pPr marL="0" indent="0">
              <a:buNone/>
            </a:pPr>
            <a:r>
              <a:rPr lang="en-US" dirty="0"/>
              <a:t>Some examples of this type of algorithm for routing are:</a:t>
            </a:r>
            <a:endParaRPr lang="en-IN" sz="2200" dirty="0"/>
          </a:p>
          <a:p>
            <a:pPr marL="457200" lvl="1" indent="0">
              <a:buNone/>
            </a:pPr>
            <a:r>
              <a:rPr lang="en-US" b="1" dirty="0"/>
              <a:t>Hot Potato: </a:t>
            </a:r>
            <a:r>
              <a:rPr lang="en-US" dirty="0"/>
              <a:t>When a packet comes to a node, it tries to get rid of it as fast as it can, by putting it on the shortest output queue without regard to where that link leads. </a:t>
            </a:r>
          </a:p>
          <a:p>
            <a:pPr marL="457200" lvl="1" indent="0">
              <a:buNone/>
            </a:pPr>
            <a:r>
              <a:rPr lang="en-US" dirty="0"/>
              <a:t>A variation of this algorithm is to combine static routing with the hot potato algorithm. When a packet arrives, the routing algorithm takes into account both the static weights of the links and the queue lengths.</a:t>
            </a:r>
            <a:endParaRPr lang="en-IN" sz="1600" dirty="0"/>
          </a:p>
          <a:p>
            <a:endParaRPr lang="en-IN" dirty="0"/>
          </a:p>
        </p:txBody>
      </p:sp>
    </p:spTree>
    <p:extLst>
      <p:ext uri="{BB962C8B-B14F-4D97-AF65-F5344CB8AC3E}">
        <p14:creationId xmlns:p14="http://schemas.microsoft.com/office/powerpoint/2010/main" val="29778877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2" algn="l" rtl="0">
              <a:lnSpc>
                <a:spcPct val="90000"/>
              </a:lnSpc>
              <a:spcBef>
                <a:spcPct val="0"/>
              </a:spcBef>
            </a:pPr>
            <a:endParaRPr lang="en-IN" sz="4000" dirty="0">
              <a:latin typeface="+mn-lt"/>
            </a:endParaRPr>
          </a:p>
        </p:txBody>
      </p:sp>
      <p:sp>
        <p:nvSpPr>
          <p:cNvPr id="3" name="Content Placeholder 2"/>
          <p:cNvSpPr>
            <a:spLocks noGrp="1"/>
          </p:cNvSpPr>
          <p:nvPr>
            <p:ph idx="1"/>
          </p:nvPr>
        </p:nvSpPr>
        <p:spPr/>
        <p:txBody>
          <a:bodyPr>
            <a:noAutofit/>
          </a:bodyPr>
          <a:lstStyle/>
          <a:p>
            <a:pPr marL="0" lvl="2" indent="0">
              <a:spcBef>
                <a:spcPts val="1000"/>
              </a:spcBef>
              <a:buNone/>
            </a:pPr>
            <a:r>
              <a:rPr lang="en-US" sz="2400" dirty="0"/>
              <a:t>Backward Learning</a:t>
            </a:r>
          </a:p>
          <a:p>
            <a:pPr marL="228600" lvl="2">
              <a:spcBef>
                <a:spcPts val="1000"/>
              </a:spcBef>
            </a:pPr>
            <a:r>
              <a:rPr lang="en-US" sz="2400" dirty="0"/>
              <a:t>In this method the routing tables at each node gets modified by information from the incoming packets. </a:t>
            </a:r>
          </a:p>
          <a:p>
            <a:pPr marL="228600" lvl="2">
              <a:spcBef>
                <a:spcPts val="1000"/>
              </a:spcBef>
            </a:pPr>
            <a:r>
              <a:rPr lang="en-US" sz="2400" dirty="0"/>
              <a:t>One way to implement backward learning is to include the identity of the source node in each packet, together with a hop counter that is incremented on each hop. </a:t>
            </a:r>
          </a:p>
          <a:p>
            <a:pPr marL="228600" lvl="2">
              <a:spcBef>
                <a:spcPts val="1000"/>
              </a:spcBef>
            </a:pPr>
            <a:r>
              <a:rPr lang="en-US" sz="2400" dirty="0"/>
              <a:t>When a node receives a packet in a particular line, it notes down the number of hops it has taken to reach it from the source node. If the previous value of hop count stored in the node is better than the current one then nothing is done but if the current value is better then the value is updated for future use. </a:t>
            </a:r>
          </a:p>
          <a:p>
            <a:pPr marL="228600" lvl="2">
              <a:spcBef>
                <a:spcPts val="1000"/>
              </a:spcBef>
            </a:pPr>
            <a:r>
              <a:rPr lang="en-US" sz="2400" dirty="0"/>
              <a:t>The problem with this is that when the best route goes down then it cannot recall the second best route to a particular node. Hence all the nodes have to forget the stored informations periodically and start all over again.</a:t>
            </a:r>
            <a:endParaRPr lang="en-IN" sz="2400" dirty="0"/>
          </a:p>
          <a:p>
            <a:endParaRPr lang="en-IN" sz="2400" dirty="0"/>
          </a:p>
        </p:txBody>
      </p:sp>
    </p:spTree>
    <p:extLst>
      <p:ext uri="{BB962C8B-B14F-4D97-AF65-F5344CB8AC3E}">
        <p14:creationId xmlns:p14="http://schemas.microsoft.com/office/powerpoint/2010/main" val="1543760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Delta Routing</a:t>
            </a:r>
            <a:endParaRPr lang="en-IN" dirty="0"/>
          </a:p>
        </p:txBody>
      </p:sp>
      <p:sp>
        <p:nvSpPr>
          <p:cNvPr id="3" name="Content Placeholder 2"/>
          <p:cNvSpPr>
            <a:spLocks noGrp="1"/>
          </p:cNvSpPr>
          <p:nvPr>
            <p:ph idx="1"/>
          </p:nvPr>
        </p:nvSpPr>
        <p:spPr/>
        <p:txBody>
          <a:bodyPr>
            <a:normAutofit fontScale="92500" lnSpcReduction="20000"/>
          </a:bodyPr>
          <a:lstStyle/>
          <a:p>
            <a:r>
              <a:rPr lang="en-US" dirty="0"/>
              <a:t>Delta routing is a hybrid of the centralized and isolated routing algorithms. </a:t>
            </a:r>
          </a:p>
          <a:p>
            <a:r>
              <a:rPr lang="en-US" dirty="0"/>
              <a:t>Here each node computes the cost of each line (i.e. some functions of the delay, queue length, utilization, bandwidth etc.) and periodically sends a packet to the central node giving it these values which then computes the k best paths from node </a:t>
            </a:r>
            <a:r>
              <a:rPr lang="en-US" dirty="0" err="1"/>
              <a:t>i</a:t>
            </a:r>
            <a:r>
              <a:rPr lang="en-US" dirty="0"/>
              <a:t> to node j. </a:t>
            </a:r>
          </a:p>
          <a:p>
            <a:r>
              <a:rPr lang="en-US" dirty="0"/>
              <a:t>Let Cij1 be the cost of the best </a:t>
            </a:r>
            <a:r>
              <a:rPr lang="en-US" dirty="0" err="1"/>
              <a:t>i</a:t>
            </a:r>
            <a:r>
              <a:rPr lang="en-US" dirty="0"/>
              <a:t>-j path, Cij2 the cost of the next best path and so on.</a:t>
            </a:r>
          </a:p>
          <a:p>
            <a:r>
              <a:rPr lang="en-US" dirty="0"/>
              <a:t>If </a:t>
            </a:r>
            <a:r>
              <a:rPr lang="en-US" dirty="0" err="1"/>
              <a:t>Cijn</a:t>
            </a:r>
            <a:r>
              <a:rPr lang="en-US" dirty="0"/>
              <a:t> - Cij1 &lt; delta, (</a:t>
            </a:r>
            <a:r>
              <a:rPr lang="en-US" dirty="0" err="1"/>
              <a:t>Cijn</a:t>
            </a:r>
            <a:r>
              <a:rPr lang="en-US" dirty="0"/>
              <a:t> - cost of </a:t>
            </a:r>
            <a:r>
              <a:rPr lang="en-US" dirty="0" err="1"/>
              <a:t>n'th</a:t>
            </a:r>
            <a:r>
              <a:rPr lang="en-US" dirty="0"/>
              <a:t> best </a:t>
            </a:r>
            <a:r>
              <a:rPr lang="en-US" dirty="0" err="1"/>
              <a:t>i</a:t>
            </a:r>
            <a:r>
              <a:rPr lang="en-US" dirty="0"/>
              <a:t>-j path, delta is some constant) then path n is regarded equivalent to the best </a:t>
            </a:r>
            <a:r>
              <a:rPr lang="en-US" dirty="0" err="1"/>
              <a:t>i</a:t>
            </a:r>
            <a:r>
              <a:rPr lang="en-US" dirty="0"/>
              <a:t>-j path since their cost differ by so little. </a:t>
            </a:r>
          </a:p>
          <a:p>
            <a:r>
              <a:rPr lang="en-US" dirty="0"/>
              <a:t>When delta -&gt; 0 this algorithm becomes centralized routing and when delta -&gt; infinity all the paths become equivalent.</a:t>
            </a:r>
            <a:endParaRPr lang="en-IN" dirty="0"/>
          </a:p>
          <a:p>
            <a:endParaRPr lang="en-IN" dirty="0"/>
          </a:p>
        </p:txBody>
      </p:sp>
    </p:spTree>
    <p:extLst>
      <p:ext uri="{BB962C8B-B14F-4D97-AF65-F5344CB8AC3E}">
        <p14:creationId xmlns:p14="http://schemas.microsoft.com/office/powerpoint/2010/main" val="3834992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l" rtl="0">
              <a:lnSpc>
                <a:spcPct val="90000"/>
              </a:lnSpc>
              <a:spcBef>
                <a:spcPct val="0"/>
              </a:spcBef>
            </a:pPr>
            <a:r>
              <a:rPr lang="en-US" sz="4000" dirty="0">
                <a:latin typeface="+mn-lt"/>
              </a:rPr>
              <a:t>Distributed</a:t>
            </a:r>
            <a:br>
              <a:rPr lang="en-US" b="1" dirty="0"/>
            </a:br>
            <a:endParaRPr lang="en-IN" dirty="0"/>
          </a:p>
        </p:txBody>
      </p:sp>
      <p:sp>
        <p:nvSpPr>
          <p:cNvPr id="3" name="Content Placeholder 2"/>
          <p:cNvSpPr>
            <a:spLocks noGrp="1"/>
          </p:cNvSpPr>
          <p:nvPr>
            <p:ph idx="1"/>
          </p:nvPr>
        </p:nvSpPr>
        <p:spPr/>
        <p:txBody>
          <a:bodyPr>
            <a:normAutofit/>
          </a:bodyPr>
          <a:lstStyle/>
          <a:p>
            <a:pPr marL="228600" lvl="1">
              <a:spcBef>
                <a:spcPts val="1000"/>
              </a:spcBef>
            </a:pPr>
            <a:r>
              <a:rPr lang="en-US" sz="2800" dirty="0"/>
              <a:t>In this the node receives information from its neighboring nodes and then takes the decision about which way to send the packet. </a:t>
            </a:r>
          </a:p>
          <a:p>
            <a:pPr marL="228600" lvl="1">
              <a:spcBef>
                <a:spcPts val="1000"/>
              </a:spcBef>
            </a:pPr>
            <a:r>
              <a:rPr lang="en-US" sz="2800" dirty="0"/>
              <a:t>The disadvantage is that if in between the interval it receives information and sends </a:t>
            </a:r>
            <a:r>
              <a:rPr lang="en-US" sz="2800"/>
              <a:t>the packet, </a:t>
            </a:r>
            <a:r>
              <a:rPr lang="en-US" sz="2800" dirty="0"/>
              <a:t>something changes then the packet may be delayed.</a:t>
            </a:r>
            <a:endParaRPr lang="en-IN" sz="2800" dirty="0"/>
          </a:p>
          <a:p>
            <a:endParaRPr lang="en-IN" dirty="0"/>
          </a:p>
        </p:txBody>
      </p:sp>
    </p:spTree>
    <p:extLst>
      <p:ext uri="{BB962C8B-B14F-4D97-AF65-F5344CB8AC3E}">
        <p14:creationId xmlns:p14="http://schemas.microsoft.com/office/powerpoint/2010/main" val="2870520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a:t>Non-Adaptive Routing Algorithm</a:t>
            </a:r>
            <a:endParaRPr lang="en-IN" dirty="0"/>
          </a:p>
        </p:txBody>
      </p:sp>
      <p:sp>
        <p:nvSpPr>
          <p:cNvPr id="3" name="Content Placeholder 2"/>
          <p:cNvSpPr>
            <a:spLocks noGrp="1"/>
          </p:cNvSpPr>
          <p:nvPr>
            <p:ph idx="1"/>
          </p:nvPr>
        </p:nvSpPr>
        <p:spPr/>
        <p:txBody>
          <a:bodyPr/>
          <a:lstStyle/>
          <a:p>
            <a:pPr marL="0" lvl="0" indent="0">
              <a:buNone/>
            </a:pPr>
            <a:r>
              <a:rPr lang="en-US" dirty="0"/>
              <a:t>These algorithms do not base their routing decisions on measurements and estimates of the current traffic and topology. </a:t>
            </a:r>
          </a:p>
          <a:p>
            <a:pPr marL="0" lvl="0" indent="0">
              <a:buNone/>
            </a:pPr>
            <a:r>
              <a:rPr lang="en-US" dirty="0"/>
              <a:t>Instead the route to be taken in going from one node to the other is computed in advance, off-line, and downloaded to the routers when the network is booted. This is also known as static routing. </a:t>
            </a:r>
          </a:p>
          <a:p>
            <a:pPr marL="0" lvl="0" indent="0">
              <a:buNone/>
            </a:pPr>
            <a:r>
              <a:rPr lang="en-US" dirty="0"/>
              <a:t>This can be further classified as:</a:t>
            </a:r>
            <a:endParaRPr lang="en-IN" dirty="0"/>
          </a:p>
          <a:p>
            <a:pPr marL="914400" lvl="1" indent="-457200">
              <a:buAutoNum type="arabicPeriod"/>
            </a:pPr>
            <a:r>
              <a:rPr lang="en-IN" dirty="0"/>
              <a:t>Flooding</a:t>
            </a:r>
          </a:p>
          <a:p>
            <a:pPr marL="914400" lvl="1" indent="-457200">
              <a:buAutoNum type="arabicPeriod"/>
            </a:pPr>
            <a:r>
              <a:rPr lang="en-IN" dirty="0"/>
              <a:t>Random Walk</a:t>
            </a:r>
          </a:p>
          <a:p>
            <a:pPr marL="457200" lvl="1" indent="0">
              <a:buNone/>
            </a:pPr>
            <a:r>
              <a:rPr lang="en-IN" dirty="0"/>
              <a:t>3.  Static routing using shortest path algorithms</a:t>
            </a:r>
          </a:p>
          <a:p>
            <a:endParaRPr lang="en-IN" dirty="0"/>
          </a:p>
        </p:txBody>
      </p:sp>
    </p:spTree>
    <p:extLst>
      <p:ext uri="{BB962C8B-B14F-4D97-AF65-F5344CB8AC3E}">
        <p14:creationId xmlns:p14="http://schemas.microsoft.com/office/powerpoint/2010/main" val="3870459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US" b="1" dirty="0"/>
              <a:t>Flooding: </a:t>
            </a:r>
          </a:p>
          <a:p>
            <a:pPr marL="0" indent="0">
              <a:buNone/>
            </a:pPr>
            <a:r>
              <a:rPr lang="en-US" dirty="0"/>
              <a:t>	adapts the technique in which every incoming packet is sent on every outgoing line except the one on which it arrived. One problem with this method is that packets may go in a loop. As a result of this a node may receive several copies of a particular packet which is undesirable. </a:t>
            </a:r>
          </a:p>
          <a:p>
            <a:r>
              <a:rPr lang="en-US" dirty="0"/>
              <a:t>Flooding is not practical for general kinds of applications. But in cases where high degree of robustness is desired such as in military applications, flooding is of great help.</a:t>
            </a:r>
            <a:endParaRPr lang="en-IN" sz="2000" dirty="0"/>
          </a:p>
          <a:p>
            <a:endParaRPr lang="en-IN" dirty="0"/>
          </a:p>
        </p:txBody>
      </p:sp>
    </p:spTree>
    <p:extLst>
      <p:ext uri="{BB962C8B-B14F-4D97-AF65-F5344CB8AC3E}">
        <p14:creationId xmlns:p14="http://schemas.microsoft.com/office/powerpoint/2010/main" val="21486943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US" dirty="0"/>
              <a:t>Some techniques adapted to overcome looping are as follows:</a:t>
            </a:r>
            <a:endParaRPr lang="en-IN" sz="2200" dirty="0"/>
          </a:p>
          <a:p>
            <a:pPr lvl="1"/>
            <a:r>
              <a:rPr lang="en-US" b="1" dirty="0"/>
              <a:t>Sequence Numbers: </a:t>
            </a:r>
            <a:r>
              <a:rPr lang="en-US" dirty="0"/>
              <a:t>Every packet is given a sequence number. When a node receives the packet it sees its source address and sequence number. If the node finds that it has sent the same packet earlier then it will not transmit the packet and will just discard it.</a:t>
            </a:r>
            <a:endParaRPr lang="en-IN" dirty="0"/>
          </a:p>
          <a:p>
            <a:pPr lvl="1"/>
            <a:r>
              <a:rPr lang="en-US" b="1" dirty="0"/>
              <a:t>Hop Count: </a:t>
            </a:r>
            <a:r>
              <a:rPr lang="en-US" dirty="0"/>
              <a:t>Every packet has a hop count associated with it. This is decremented(or incremented) by one by each node which sees it. When the hop count becomes zero(or a maximum possible value) the packet is dropped.</a:t>
            </a:r>
            <a:endParaRPr lang="en-IN" dirty="0"/>
          </a:p>
          <a:p>
            <a:pPr lvl="1"/>
            <a:r>
              <a:rPr lang="en-US" b="1" dirty="0"/>
              <a:t>Spanning Tree: </a:t>
            </a:r>
            <a:r>
              <a:rPr lang="en-US" dirty="0"/>
              <a:t>The packet is sent only on those links that lead to the destination by constructing a spanning tree routed at the source. This avoids loops in transmission but is possible only when all the intermediate nodes have knowledge of the network topology.</a:t>
            </a:r>
            <a:endParaRPr lang="en-IN" dirty="0"/>
          </a:p>
          <a:p>
            <a:endParaRPr lang="en-IN" dirty="0"/>
          </a:p>
        </p:txBody>
      </p:sp>
    </p:spTree>
    <p:extLst>
      <p:ext uri="{BB962C8B-B14F-4D97-AF65-F5344CB8AC3E}">
        <p14:creationId xmlns:p14="http://schemas.microsoft.com/office/powerpoint/2010/main" val="20370810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pPr>
              <a:lnSpc>
                <a:spcPct val="150000"/>
              </a:lnSpc>
              <a:spcBef>
                <a:spcPts val="0"/>
              </a:spcBef>
            </a:pPr>
            <a:r>
              <a:rPr lang="en-IN" dirty="0"/>
              <a:t>A variation of flooding that is slightly more practical is selective flooding.</a:t>
            </a:r>
          </a:p>
          <a:p>
            <a:pPr>
              <a:lnSpc>
                <a:spcPct val="150000"/>
              </a:lnSpc>
              <a:spcBef>
                <a:spcPts val="0"/>
              </a:spcBef>
            </a:pPr>
            <a:r>
              <a:rPr lang="en-IN" dirty="0"/>
              <a:t>In this algorithm the routers do not send every incoming packet out on every line, only on those lines that are going approximately in the right direction.</a:t>
            </a:r>
          </a:p>
          <a:p>
            <a:pPr marL="0" lvl="1" indent="0">
              <a:lnSpc>
                <a:spcPct val="150000"/>
              </a:lnSpc>
              <a:spcBef>
                <a:spcPts val="0"/>
              </a:spcBef>
              <a:buNone/>
            </a:pPr>
            <a:r>
              <a:rPr lang="en-US" b="1" dirty="0"/>
              <a:t>Random Walk: </a:t>
            </a:r>
          </a:p>
          <a:p>
            <a:pPr marL="228600" lvl="1">
              <a:lnSpc>
                <a:spcPct val="150000"/>
              </a:lnSpc>
              <a:spcBef>
                <a:spcPts val="0"/>
              </a:spcBef>
            </a:pPr>
            <a:r>
              <a:rPr lang="en-US" dirty="0"/>
              <a:t>In this method a packet is sent by the node to one of its neighbors randomly. This algorithm is highly robust. When the network is highly interconnected, this algorithm has the property of making excellent use of alternative routes. It is usually implemented by sending the packet onto the least queued link.</a:t>
            </a:r>
            <a:endParaRPr lang="en-IN" sz="1800" dirty="0"/>
          </a:p>
        </p:txBody>
      </p:sp>
    </p:spTree>
    <p:extLst>
      <p:ext uri="{BB962C8B-B14F-4D97-AF65-F5344CB8AC3E}">
        <p14:creationId xmlns:p14="http://schemas.microsoft.com/office/powerpoint/2010/main" val="9767743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Multipath Routing</a:t>
            </a:r>
            <a:endParaRPr lang="en-IN" dirty="0"/>
          </a:p>
        </p:txBody>
      </p:sp>
      <p:sp>
        <p:nvSpPr>
          <p:cNvPr id="3" name="Content Placeholder 2"/>
          <p:cNvSpPr>
            <a:spLocks noGrp="1"/>
          </p:cNvSpPr>
          <p:nvPr>
            <p:ph idx="1"/>
          </p:nvPr>
        </p:nvSpPr>
        <p:spPr/>
        <p:txBody>
          <a:bodyPr>
            <a:normAutofit fontScale="92500" lnSpcReduction="10000"/>
          </a:bodyPr>
          <a:lstStyle/>
          <a:p>
            <a:r>
              <a:rPr lang="en-IN" dirty="0"/>
              <a:t>In many networks however there are several paths between pairs of nodes that are almost equally good. </a:t>
            </a:r>
          </a:p>
          <a:p>
            <a:r>
              <a:rPr lang="en-IN" dirty="0"/>
              <a:t>Sometimes in order to improve the performance multiple paths between single pair of nodes are used. This technique is called multipath routing or bifurcated routing. </a:t>
            </a:r>
          </a:p>
          <a:p>
            <a:pPr lvl="1"/>
            <a:r>
              <a:rPr lang="en-IN" dirty="0"/>
              <a:t>In this each node maintains a table with one row for each possible destination node. </a:t>
            </a:r>
          </a:p>
          <a:p>
            <a:pPr lvl="1"/>
            <a:r>
              <a:rPr lang="en-IN" dirty="0"/>
              <a:t>A row gives the best, second best, third best, etc outgoing line for that destination, together with a relative weight. </a:t>
            </a:r>
          </a:p>
          <a:p>
            <a:pPr lvl="1"/>
            <a:r>
              <a:rPr lang="en-IN" dirty="0"/>
              <a:t>Before forwarding a packet, the node generates a random number and then chooses among the alternatives, using the weights as probabilities.</a:t>
            </a:r>
          </a:p>
          <a:p>
            <a:pPr lvl="1"/>
            <a:r>
              <a:rPr lang="en-IN" dirty="0"/>
              <a:t> The tables are worked out manually and loaded into the nodes before the network is brought up and not changed thereafter.</a:t>
            </a:r>
          </a:p>
        </p:txBody>
      </p:sp>
    </p:spTree>
    <p:extLst>
      <p:ext uri="{BB962C8B-B14F-4D97-AF65-F5344CB8AC3E}">
        <p14:creationId xmlns:p14="http://schemas.microsoft.com/office/powerpoint/2010/main" val="151556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Optimality Principle </a:t>
            </a:r>
          </a:p>
        </p:txBody>
      </p:sp>
      <p:sp>
        <p:nvSpPr>
          <p:cNvPr id="3" name="Content Placeholder 2"/>
          <p:cNvSpPr>
            <a:spLocks noGrp="1"/>
          </p:cNvSpPr>
          <p:nvPr>
            <p:ph idx="1"/>
          </p:nvPr>
        </p:nvSpPr>
        <p:spPr/>
        <p:txBody>
          <a:bodyPr>
            <a:normAutofit/>
          </a:bodyPr>
          <a:lstStyle/>
          <a:p>
            <a:r>
              <a:rPr lang="en-IN" dirty="0"/>
              <a:t>One can make a general statement about optimal routes without regard to network topology or traffic.</a:t>
            </a:r>
          </a:p>
          <a:p>
            <a:r>
              <a:rPr lang="en-IN" dirty="0"/>
              <a:t>This statement is known as the optimality principle.</a:t>
            </a:r>
          </a:p>
          <a:p>
            <a:r>
              <a:rPr lang="en-IN" dirty="0"/>
              <a:t>It states that if router J is on the optimal path from router I to router K, then the optimal path from J to K also falls along the same route.</a:t>
            </a:r>
          </a:p>
        </p:txBody>
      </p:sp>
    </p:spTree>
    <p:extLst>
      <p:ext uri="{BB962C8B-B14F-4D97-AF65-F5344CB8AC3E}">
        <p14:creationId xmlns:p14="http://schemas.microsoft.com/office/powerpoint/2010/main" val="4175719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As a direct consequence of the optimality principle, we can see that the set of optimal routes from all sources to a given destination form a tree rooted at the destination.</a:t>
            </a:r>
          </a:p>
          <a:p>
            <a:r>
              <a:rPr lang="en-IN" dirty="0"/>
              <a:t>Such a tree is called a sink tree.</a:t>
            </a:r>
          </a:p>
          <a:p>
            <a:r>
              <a:rPr lang="en-IN" dirty="0"/>
              <a:t>The goal of all routing algorithms is to discover and use the sink trees for all routers</a:t>
            </a:r>
          </a:p>
        </p:txBody>
      </p:sp>
    </p:spTree>
    <p:extLst>
      <p:ext uri="{BB962C8B-B14F-4D97-AF65-F5344CB8AC3E}">
        <p14:creationId xmlns:p14="http://schemas.microsoft.com/office/powerpoint/2010/main" val="10338877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113472" y="2113472"/>
            <a:ext cx="8350369" cy="2861055"/>
          </a:xfrm>
          <a:prstGeom prst="rect">
            <a:avLst/>
          </a:prstGeom>
        </p:spPr>
      </p:pic>
      <p:sp>
        <p:nvSpPr>
          <p:cNvPr id="5" name="Rectangle 4"/>
          <p:cNvSpPr/>
          <p:nvPr/>
        </p:nvSpPr>
        <p:spPr>
          <a:xfrm>
            <a:off x="4374158" y="5590719"/>
            <a:ext cx="4237314" cy="369332"/>
          </a:xfrm>
          <a:prstGeom prst="rect">
            <a:avLst/>
          </a:prstGeom>
        </p:spPr>
        <p:txBody>
          <a:bodyPr wrap="none">
            <a:spAutoFit/>
          </a:bodyPr>
          <a:lstStyle/>
          <a:p>
            <a:r>
              <a:rPr lang="en-IN" dirty="0">
                <a:solidFill>
                  <a:srgbClr val="3333CD"/>
                </a:solidFill>
                <a:latin typeface="TimesNewRoman"/>
              </a:rPr>
              <a:t>(a) </a:t>
            </a:r>
            <a:r>
              <a:rPr lang="en-IN" dirty="0">
                <a:solidFill>
                  <a:srgbClr val="000000"/>
                </a:solidFill>
                <a:latin typeface="TimesNewRoman"/>
              </a:rPr>
              <a:t>A subnet. </a:t>
            </a:r>
            <a:r>
              <a:rPr lang="en-IN" dirty="0">
                <a:solidFill>
                  <a:srgbClr val="3333CD"/>
                </a:solidFill>
                <a:latin typeface="TimesNewRoman"/>
              </a:rPr>
              <a:t>(b) </a:t>
            </a:r>
            <a:r>
              <a:rPr lang="en-IN" dirty="0">
                <a:solidFill>
                  <a:srgbClr val="000000"/>
                </a:solidFill>
                <a:latin typeface="TimesNewRoman"/>
              </a:rPr>
              <a:t>A sink tree for router B.</a:t>
            </a:r>
            <a:endParaRPr lang="en-IN" dirty="0"/>
          </a:p>
        </p:txBody>
      </p:sp>
    </p:spTree>
    <p:extLst>
      <p:ext uri="{BB962C8B-B14F-4D97-AF65-F5344CB8AC3E}">
        <p14:creationId xmlns:p14="http://schemas.microsoft.com/office/powerpoint/2010/main" val="16063907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Shortest Path Routing</a:t>
            </a:r>
          </a:p>
        </p:txBody>
      </p:sp>
      <p:sp>
        <p:nvSpPr>
          <p:cNvPr id="3" name="Content Placeholder 2"/>
          <p:cNvSpPr>
            <a:spLocks noGrp="1"/>
          </p:cNvSpPr>
          <p:nvPr>
            <p:ph idx="1"/>
          </p:nvPr>
        </p:nvSpPr>
        <p:spPr/>
        <p:txBody>
          <a:bodyPr>
            <a:normAutofit/>
          </a:bodyPr>
          <a:lstStyle/>
          <a:p>
            <a:r>
              <a:rPr lang="en-IN" dirty="0"/>
              <a:t>The idea is to build a graph of the subnet, with each node of the graph representing a router and each arc of the graph representing a communication line or link.</a:t>
            </a:r>
          </a:p>
          <a:p>
            <a:r>
              <a:rPr lang="en-IN" dirty="0"/>
              <a:t>To choose a route between a given pair of routers, the algorithm just finds the shortest path between them on the graph.</a:t>
            </a:r>
          </a:p>
          <a:p>
            <a:r>
              <a:rPr lang="en-US" dirty="0"/>
              <a:t>A network is represented as a graph, with its terminals as nodes and the links as edges. A 'length' is associated with each edge, which represents the cost of using the link for transmission. Lower the cost, more suitable is the link. The cost is determined depending upon the criteria to be optimized. </a:t>
            </a:r>
            <a:endParaRPr lang="en-IN" dirty="0"/>
          </a:p>
        </p:txBody>
      </p:sp>
    </p:spTree>
    <p:extLst>
      <p:ext uri="{BB962C8B-B14F-4D97-AF65-F5344CB8AC3E}">
        <p14:creationId xmlns:p14="http://schemas.microsoft.com/office/powerpoint/2010/main" val="42629609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marL="0" indent="0">
              <a:buNone/>
            </a:pPr>
            <a:r>
              <a:rPr lang="en-US" dirty="0"/>
              <a:t>Some of the important ways of determining the cost are:</a:t>
            </a:r>
            <a:endParaRPr lang="en-IN" dirty="0"/>
          </a:p>
          <a:p>
            <a:pPr lvl="0"/>
            <a:r>
              <a:rPr lang="en-US" b="1" dirty="0"/>
              <a:t>Minimum number of hops: </a:t>
            </a:r>
            <a:r>
              <a:rPr lang="en-US" dirty="0"/>
              <a:t>If each link is given a unit cost, the shortest path is the one with minimum number of hops. Such a route is easily obtained by a breadth first search method. This is easy to implement but ignores load, link capacity etc.</a:t>
            </a:r>
            <a:endParaRPr lang="en-IN" dirty="0"/>
          </a:p>
          <a:p>
            <a:pPr lvl="0"/>
            <a:r>
              <a:rPr lang="en-US" b="1" dirty="0"/>
              <a:t>Transmission and Propagation Delays: </a:t>
            </a:r>
            <a:r>
              <a:rPr lang="en-US" dirty="0"/>
              <a:t>If the cost is fixed as a function of transmission and propagation delays, it will reflect the link capacities and the geographical distances. However these costs are essentially static and do not consider the varying load conditions.</a:t>
            </a:r>
            <a:endParaRPr lang="en-IN" dirty="0"/>
          </a:p>
          <a:p>
            <a:pPr lvl="0"/>
            <a:r>
              <a:rPr lang="en-US" b="1" dirty="0"/>
              <a:t>Queuing Delays: </a:t>
            </a:r>
            <a:r>
              <a:rPr lang="en-US" dirty="0"/>
              <a:t>If the cost of a link is determined through its queuing delays, it takes care of the varying load conditions, but not of the propagation delays.</a:t>
            </a:r>
            <a:endParaRPr lang="en-IN" dirty="0"/>
          </a:p>
          <a:p>
            <a:endParaRPr lang="en-IN" dirty="0"/>
          </a:p>
          <a:p>
            <a:endParaRPr lang="en-US" dirty="0"/>
          </a:p>
        </p:txBody>
      </p:sp>
    </p:spTree>
    <p:extLst>
      <p:ext uri="{BB962C8B-B14F-4D97-AF65-F5344CB8AC3E}">
        <p14:creationId xmlns:p14="http://schemas.microsoft.com/office/powerpoint/2010/main" val="38316691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Many other metrics besides hops and physical distance are also possible.</a:t>
            </a:r>
          </a:p>
          <a:p>
            <a:r>
              <a:rPr lang="en-IN" dirty="0"/>
              <a:t>For example, each arc could be labelled with the mean queuing and transmission delay for some standard test packet as determined by hourly test runs.</a:t>
            </a:r>
          </a:p>
          <a:p>
            <a:r>
              <a:rPr lang="en-IN" dirty="0"/>
              <a:t>With this graph labelling, the shortest path is the fastest path rather than the path with the fewest arcs or kilometres.</a:t>
            </a:r>
          </a:p>
        </p:txBody>
      </p:sp>
    </p:spTree>
    <p:extLst>
      <p:ext uri="{BB962C8B-B14F-4D97-AF65-F5344CB8AC3E}">
        <p14:creationId xmlns:p14="http://schemas.microsoft.com/office/powerpoint/2010/main" val="14533337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In the general case, the labels on the arcs could be computed as a function of the distance, bandwidth, average traffic, communication cost, mean queue length, measured delay, and other factors.</a:t>
            </a:r>
          </a:p>
          <a:p>
            <a:r>
              <a:rPr lang="en-IN" dirty="0"/>
              <a:t>By changing the weighting function, the algorithm would then compute the “shortest” path measured according to any one of a number of criteria or to a combination of criteria.</a:t>
            </a:r>
          </a:p>
        </p:txBody>
      </p:sp>
    </p:spTree>
    <p:extLst>
      <p:ext uri="{BB962C8B-B14F-4D97-AF65-F5344CB8AC3E}">
        <p14:creationId xmlns:p14="http://schemas.microsoft.com/office/powerpoint/2010/main" val="39994010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Let the network be represented by graph G ( V, E ) and let the number of nodes be 'N'.  </a:t>
            </a:r>
          </a:p>
          <a:p>
            <a:r>
              <a:rPr lang="en-US" dirty="0"/>
              <a:t> A node has zero cost w.r.t itself.  </a:t>
            </a:r>
          </a:p>
          <a:p>
            <a:r>
              <a:rPr lang="en-US" dirty="0"/>
              <a:t>Further, all the links are assumed to be symmetric, i.e.  if  </a:t>
            </a:r>
            <a:r>
              <a:rPr lang="en-US" dirty="0" err="1"/>
              <a:t>d</a:t>
            </a:r>
            <a:r>
              <a:rPr lang="en-US" baseline="-25000" dirty="0" err="1"/>
              <a:t>i,j</a:t>
            </a:r>
            <a:r>
              <a:rPr lang="en-US" baseline="-25000" dirty="0"/>
              <a:t>  </a:t>
            </a:r>
            <a:r>
              <a:rPr lang="en-US" dirty="0"/>
              <a:t> =  cost of link  from node </a:t>
            </a:r>
            <a:r>
              <a:rPr lang="en-US" dirty="0" err="1"/>
              <a:t>i</a:t>
            </a:r>
            <a:r>
              <a:rPr lang="en-US" dirty="0"/>
              <a:t> to node j, then d </a:t>
            </a:r>
            <a:r>
              <a:rPr lang="en-US" baseline="-25000" dirty="0" err="1"/>
              <a:t>i,j</a:t>
            </a:r>
            <a:r>
              <a:rPr lang="en-US" dirty="0"/>
              <a:t> = d </a:t>
            </a:r>
            <a:r>
              <a:rPr lang="en-US" baseline="-25000" dirty="0" err="1"/>
              <a:t>j,i</a:t>
            </a:r>
            <a:r>
              <a:rPr lang="en-US" dirty="0"/>
              <a:t> .  </a:t>
            </a:r>
          </a:p>
          <a:p>
            <a:r>
              <a:rPr lang="en-US" dirty="0"/>
              <a:t>The graph is assumed to be complete. If there exists no edge between two nodes, then a link of infinite cost is assumed.  </a:t>
            </a:r>
            <a:endParaRPr lang="en-IN" dirty="0"/>
          </a:p>
        </p:txBody>
      </p:sp>
    </p:spTree>
    <p:extLst>
      <p:ext uri="{BB962C8B-B14F-4D97-AF65-F5344CB8AC3E}">
        <p14:creationId xmlns:p14="http://schemas.microsoft.com/office/powerpoint/2010/main" val="7404646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Bellman-Ford Algorithm</a:t>
            </a:r>
            <a:endParaRPr lang="en-IN" dirty="0"/>
          </a:p>
        </p:txBody>
      </p:sp>
      <p:sp>
        <p:nvSpPr>
          <p:cNvPr id="3" name="Content Placeholder 2"/>
          <p:cNvSpPr>
            <a:spLocks noGrp="1"/>
          </p:cNvSpPr>
          <p:nvPr>
            <p:ph idx="1"/>
          </p:nvPr>
        </p:nvSpPr>
        <p:spPr/>
        <p:txBody>
          <a:bodyPr>
            <a:normAutofit lnSpcReduction="10000"/>
          </a:bodyPr>
          <a:lstStyle/>
          <a:p>
            <a:r>
              <a:rPr lang="en-US" dirty="0"/>
              <a:t>This algorithm iterates on the number of edges in a path to obtain the shortest path. It uses optimality principle. Since the number of hops possible is limited (cycles are implicitly not allowed),  the algorithm terminates giving the shortest path.</a:t>
            </a:r>
            <a:endParaRPr lang="en-IN" dirty="0"/>
          </a:p>
          <a:p>
            <a:r>
              <a:rPr lang="en-US" b="1" dirty="0"/>
              <a:t>Notation: </a:t>
            </a:r>
            <a:br>
              <a:rPr lang="en-US" dirty="0"/>
            </a:br>
            <a:r>
              <a:rPr lang="en-US" dirty="0"/>
              <a:t>    d </a:t>
            </a:r>
            <a:r>
              <a:rPr lang="en-US" baseline="-25000" dirty="0" err="1"/>
              <a:t>i,j</a:t>
            </a:r>
            <a:r>
              <a:rPr lang="en-US" baseline="-25000" dirty="0"/>
              <a:t> </a:t>
            </a:r>
            <a:r>
              <a:rPr lang="en-US" dirty="0"/>
              <a:t>        =   Length of path between nodes </a:t>
            </a:r>
            <a:r>
              <a:rPr lang="en-US" dirty="0" err="1"/>
              <a:t>i</a:t>
            </a:r>
            <a:r>
              <a:rPr lang="en-US" dirty="0"/>
              <a:t> and j,  indicating the cost of the link. </a:t>
            </a:r>
            <a:br>
              <a:rPr lang="en-US" dirty="0"/>
            </a:br>
            <a:r>
              <a:rPr lang="en-US" dirty="0"/>
              <a:t>    h            =   Number of hops. </a:t>
            </a:r>
            <a:br>
              <a:rPr lang="en-US" dirty="0"/>
            </a:br>
            <a:r>
              <a:rPr lang="en-US" dirty="0"/>
              <a:t>    D[ </a:t>
            </a:r>
            <a:r>
              <a:rPr lang="en-US" dirty="0" err="1"/>
              <a:t>i,h</a:t>
            </a:r>
            <a:r>
              <a:rPr lang="en-US" dirty="0"/>
              <a:t>]   =   Shortest path length from node </a:t>
            </a:r>
            <a:r>
              <a:rPr lang="en-US" dirty="0" err="1"/>
              <a:t>i</a:t>
            </a:r>
            <a:r>
              <a:rPr lang="en-US" dirty="0"/>
              <a:t> to node 1, with </a:t>
            </a:r>
            <a:r>
              <a:rPr lang="en-US" dirty="0" err="1"/>
              <a:t>upto</a:t>
            </a:r>
            <a:r>
              <a:rPr lang="en-US" dirty="0"/>
              <a:t> 'h' hops. </a:t>
            </a:r>
            <a:br>
              <a:rPr lang="en-US" dirty="0"/>
            </a:br>
            <a:r>
              <a:rPr lang="en-US" dirty="0"/>
              <a:t>    D[ 1,h]  =   0  for all h . </a:t>
            </a:r>
            <a:br>
              <a:rPr lang="en-US" dirty="0"/>
            </a:br>
            <a:endParaRPr lang="en-IN" dirty="0"/>
          </a:p>
        </p:txBody>
      </p:sp>
    </p:spTree>
    <p:extLst>
      <p:ext uri="{BB962C8B-B14F-4D97-AF65-F5344CB8AC3E}">
        <p14:creationId xmlns:p14="http://schemas.microsoft.com/office/powerpoint/2010/main" val="30954336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US" b="1" dirty="0"/>
              <a:t>Algorithm :</a:t>
            </a:r>
            <a:r>
              <a:rPr lang="en-US" dirty="0"/>
              <a:t> </a:t>
            </a:r>
            <a:br>
              <a:rPr lang="en-US" dirty="0"/>
            </a:br>
            <a:r>
              <a:rPr lang="en-US" dirty="0"/>
              <a:t>  </a:t>
            </a:r>
            <a:br>
              <a:rPr lang="en-US" dirty="0"/>
            </a:br>
            <a:r>
              <a:rPr lang="en-US" dirty="0"/>
              <a:t>    Initial condition  :  D[ </a:t>
            </a:r>
            <a:r>
              <a:rPr lang="en-US" dirty="0" err="1"/>
              <a:t>i</a:t>
            </a:r>
            <a:r>
              <a:rPr lang="en-US" dirty="0"/>
              <a:t>, 0]  =  infinity,  for all  </a:t>
            </a:r>
            <a:r>
              <a:rPr lang="en-US" dirty="0" err="1"/>
              <a:t>i</a:t>
            </a:r>
            <a:r>
              <a:rPr lang="en-US" dirty="0"/>
              <a:t>  ( </a:t>
            </a:r>
            <a:r>
              <a:rPr lang="en-US" dirty="0" err="1"/>
              <a:t>i</a:t>
            </a:r>
            <a:r>
              <a:rPr lang="en-US" dirty="0"/>
              <a:t> != 1 )</a:t>
            </a:r>
            <a:endParaRPr lang="en-IN" dirty="0"/>
          </a:p>
          <a:p>
            <a:r>
              <a:rPr lang="en-US" dirty="0"/>
              <a:t>    Iteration             :   D[</a:t>
            </a:r>
            <a:r>
              <a:rPr lang="en-US" dirty="0" err="1"/>
              <a:t>i</a:t>
            </a:r>
            <a:r>
              <a:rPr lang="en-US" dirty="0"/>
              <a:t>, h+1]  = min</a:t>
            </a:r>
            <a:r>
              <a:rPr lang="en-US" baseline="-25000" dirty="0"/>
              <a:t> </a:t>
            </a:r>
            <a:r>
              <a:rPr lang="en-US" dirty="0"/>
              <a:t>{ </a:t>
            </a:r>
            <a:r>
              <a:rPr lang="en-US" dirty="0" err="1"/>
              <a:t>d</a:t>
            </a:r>
            <a:r>
              <a:rPr lang="en-US" baseline="-25000" dirty="0" err="1"/>
              <a:t>i,j</a:t>
            </a:r>
            <a:r>
              <a:rPr lang="en-US" dirty="0"/>
              <a:t> + D[</a:t>
            </a:r>
            <a:r>
              <a:rPr lang="en-US" dirty="0" err="1"/>
              <a:t>j,h</a:t>
            </a:r>
            <a:r>
              <a:rPr lang="en-US" dirty="0"/>
              <a:t>] }  over all values of j .</a:t>
            </a:r>
            <a:endParaRPr lang="en-IN" dirty="0"/>
          </a:p>
          <a:p>
            <a:r>
              <a:rPr lang="en-US" dirty="0"/>
              <a:t>    Termination        :  The algorithm terminates when </a:t>
            </a:r>
          </a:p>
          <a:p>
            <a:pPr marL="0" indent="0">
              <a:buNone/>
            </a:pPr>
            <a:r>
              <a:rPr lang="en-US" dirty="0"/>
              <a:t>			      D[</a:t>
            </a:r>
            <a:r>
              <a:rPr lang="en-US" dirty="0" err="1"/>
              <a:t>i</a:t>
            </a:r>
            <a:r>
              <a:rPr lang="en-US" dirty="0"/>
              <a:t>, h]  =  D [ </a:t>
            </a:r>
            <a:r>
              <a:rPr lang="en-US" dirty="0" err="1"/>
              <a:t>i</a:t>
            </a:r>
            <a:r>
              <a:rPr lang="en-US" dirty="0"/>
              <a:t>,  h+1]     for all  </a:t>
            </a:r>
            <a:r>
              <a:rPr lang="en-US" dirty="0" err="1"/>
              <a:t>i</a:t>
            </a:r>
            <a:r>
              <a:rPr lang="en-US" dirty="0"/>
              <a:t> .</a:t>
            </a:r>
            <a:endParaRPr lang="en-IN" dirty="0"/>
          </a:p>
          <a:p>
            <a:endParaRPr lang="en-IN" dirty="0"/>
          </a:p>
        </p:txBody>
      </p:sp>
    </p:spTree>
    <p:extLst>
      <p:ext uri="{BB962C8B-B14F-4D97-AF65-F5344CB8AC3E}">
        <p14:creationId xmlns:p14="http://schemas.microsoft.com/office/powerpoint/2010/main" val="5403143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pPr marL="0" indent="0">
              <a:buNone/>
            </a:pPr>
            <a:r>
              <a:rPr lang="en-US" b="1" dirty="0"/>
              <a:t>Principle: </a:t>
            </a:r>
            <a:br>
              <a:rPr lang="en-US" dirty="0"/>
            </a:br>
            <a:r>
              <a:rPr lang="en-US" dirty="0"/>
              <a:t>For zero hops,  the minimum length path has length of infinity, for every node.  </a:t>
            </a:r>
          </a:p>
          <a:p>
            <a:r>
              <a:rPr lang="en-US" dirty="0"/>
              <a:t>For one hop the shortest-path length associated with a node is equal to the length of the edge between  that node and node 1. </a:t>
            </a:r>
          </a:p>
          <a:p>
            <a:r>
              <a:rPr lang="en-US" dirty="0"/>
              <a:t>Increment the number of hops allowed, (from h to h+1 ) and find out whether a shorter path exists through each of the  other nodes.  If  it exists, say through node 'j',  then its length must be the sum of the lengths between these two nodes (i.e.  </a:t>
            </a:r>
            <a:r>
              <a:rPr lang="en-US" dirty="0" err="1"/>
              <a:t>d</a:t>
            </a:r>
            <a:r>
              <a:rPr lang="en-US" baseline="-25000" dirty="0" err="1"/>
              <a:t>i,j</a:t>
            </a:r>
            <a:r>
              <a:rPr lang="en-US" dirty="0"/>
              <a:t> ) and the shortest path between j and 1 obtainable in </a:t>
            </a:r>
            <a:r>
              <a:rPr lang="en-US" dirty="0" err="1"/>
              <a:t>upto</a:t>
            </a:r>
            <a:r>
              <a:rPr lang="en-US" dirty="0"/>
              <a:t> h paths. </a:t>
            </a:r>
          </a:p>
          <a:p>
            <a:r>
              <a:rPr lang="en-US" dirty="0"/>
              <a:t>If such a path doesn't exist, then the path length remains the same. The algorithm is guaranteed to terminate, since there are utmost N nodes, and so N-1 paths. It has time complexity of O ( N</a:t>
            </a:r>
            <a:r>
              <a:rPr lang="en-US" baseline="30000" dirty="0"/>
              <a:t>3</a:t>
            </a:r>
            <a:r>
              <a:rPr lang="en-US" dirty="0"/>
              <a:t> ) .</a:t>
            </a:r>
            <a:endParaRPr lang="en-IN" dirty="0"/>
          </a:p>
          <a:p>
            <a:endParaRPr lang="en-IN" dirty="0"/>
          </a:p>
        </p:txBody>
      </p:sp>
    </p:spTree>
    <p:extLst>
      <p:ext uri="{BB962C8B-B14F-4D97-AF65-F5344CB8AC3E}">
        <p14:creationId xmlns:p14="http://schemas.microsoft.com/office/powerpoint/2010/main" val="20823494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r>
              <a:rPr lang="tr-TR" altLang="en-US" sz="3600" b="1">
                <a:solidFill>
                  <a:schemeClr val="accent2"/>
                </a:solidFill>
              </a:rPr>
              <a:t>Bellman-Ford Algorithm</a:t>
            </a:r>
            <a:br>
              <a:rPr lang="en-US" altLang="en-US" sz="3600" b="1">
                <a:solidFill>
                  <a:schemeClr val="accent2"/>
                </a:solidFill>
              </a:rPr>
            </a:br>
            <a:r>
              <a:rPr lang="en-US" altLang="en-US" sz="3600" b="1">
                <a:solidFill>
                  <a:schemeClr val="accent2"/>
                </a:solidFill>
              </a:rPr>
              <a:t>Example</a:t>
            </a:r>
          </a:p>
        </p:txBody>
      </p:sp>
      <p:grpSp>
        <p:nvGrpSpPr>
          <p:cNvPr id="194653" name="Group 93"/>
          <p:cNvGrpSpPr>
            <a:grpSpLocks/>
          </p:cNvGrpSpPr>
          <p:nvPr/>
        </p:nvGrpSpPr>
        <p:grpSpPr bwMode="auto">
          <a:xfrm>
            <a:off x="3429000" y="1938338"/>
            <a:ext cx="4191000" cy="3167062"/>
            <a:chOff x="480" y="920"/>
            <a:chExt cx="1968" cy="1445"/>
          </a:xfrm>
        </p:grpSpPr>
        <p:sp>
          <p:nvSpPr>
            <p:cNvPr id="194654" name="Text Box 94"/>
            <p:cNvSpPr txBox="1">
              <a:spLocks noChangeArrowheads="1"/>
            </p:cNvSpPr>
            <p:nvPr/>
          </p:nvSpPr>
          <p:spPr bwMode="auto">
            <a:xfrm>
              <a:off x="1610" y="920"/>
              <a:ext cx="288"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5</a:t>
              </a:r>
              <a:endParaRPr lang="en-GB" altLang="en-US" sz="2000">
                <a:solidFill>
                  <a:srgbClr val="777777"/>
                </a:solidFill>
                <a:latin typeface="Times New Roman" panose="02020603050405020304" pitchFamily="18" charset="0"/>
              </a:endParaRPr>
            </a:p>
          </p:txBody>
        </p:sp>
        <p:grpSp>
          <p:nvGrpSpPr>
            <p:cNvPr id="194655" name="Group 95"/>
            <p:cNvGrpSpPr>
              <a:grpSpLocks/>
            </p:cNvGrpSpPr>
            <p:nvPr/>
          </p:nvGrpSpPr>
          <p:grpSpPr bwMode="auto">
            <a:xfrm>
              <a:off x="480" y="940"/>
              <a:ext cx="1968" cy="1425"/>
              <a:chOff x="480" y="940"/>
              <a:chExt cx="1968" cy="1425"/>
            </a:xfrm>
          </p:grpSpPr>
          <p:sp>
            <p:nvSpPr>
              <p:cNvPr id="194656" name="Oval 96"/>
              <p:cNvSpPr>
                <a:spLocks noChangeArrowheads="1"/>
              </p:cNvSpPr>
              <p:nvPr/>
            </p:nvSpPr>
            <p:spPr bwMode="auto">
              <a:xfrm>
                <a:off x="1248" y="1176"/>
                <a:ext cx="288" cy="288"/>
              </a:xfrm>
              <a:prstGeom prst="ellipse">
                <a:avLst/>
              </a:prstGeom>
              <a:solidFill>
                <a:srgbClr val="C0C0C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pPr>
                <a:r>
                  <a:rPr lang="en-GB" altLang="en-US">
                    <a:latin typeface="Symbol" panose="05050102010706020507" pitchFamily="18" charset="2"/>
                  </a:rPr>
                  <a:t>¥</a:t>
                </a:r>
              </a:p>
            </p:txBody>
          </p:sp>
          <p:sp>
            <p:nvSpPr>
              <p:cNvPr id="194657" name="Oval 97"/>
              <p:cNvSpPr>
                <a:spLocks noChangeArrowheads="1"/>
              </p:cNvSpPr>
              <p:nvPr/>
            </p:nvSpPr>
            <p:spPr bwMode="auto">
              <a:xfrm>
                <a:off x="2016" y="1176"/>
                <a:ext cx="288" cy="288"/>
              </a:xfrm>
              <a:prstGeom prst="ellipse">
                <a:avLst/>
              </a:prstGeom>
              <a:solidFill>
                <a:srgbClr val="C0C0C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pPr>
                <a:r>
                  <a:rPr lang="en-GB" altLang="en-US">
                    <a:latin typeface="Symbol" panose="05050102010706020507" pitchFamily="18" charset="2"/>
                  </a:rPr>
                  <a:t>¥</a:t>
                </a:r>
              </a:p>
            </p:txBody>
          </p:sp>
          <p:sp>
            <p:nvSpPr>
              <p:cNvPr id="194658" name="Oval 98"/>
              <p:cNvSpPr>
                <a:spLocks noChangeArrowheads="1"/>
              </p:cNvSpPr>
              <p:nvPr/>
            </p:nvSpPr>
            <p:spPr bwMode="auto">
              <a:xfrm>
                <a:off x="1248" y="1944"/>
                <a:ext cx="288" cy="288"/>
              </a:xfrm>
              <a:prstGeom prst="ellipse">
                <a:avLst/>
              </a:prstGeom>
              <a:solidFill>
                <a:srgbClr val="C0C0C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pPr>
                <a:r>
                  <a:rPr lang="en-GB" altLang="en-US">
                    <a:latin typeface="Symbol" panose="05050102010706020507" pitchFamily="18" charset="2"/>
                  </a:rPr>
                  <a:t>¥</a:t>
                </a:r>
              </a:p>
            </p:txBody>
          </p:sp>
          <p:sp>
            <p:nvSpPr>
              <p:cNvPr id="194659" name="Oval 99"/>
              <p:cNvSpPr>
                <a:spLocks noChangeArrowheads="1"/>
              </p:cNvSpPr>
              <p:nvPr/>
            </p:nvSpPr>
            <p:spPr bwMode="auto">
              <a:xfrm>
                <a:off x="2016" y="1944"/>
                <a:ext cx="288" cy="288"/>
              </a:xfrm>
              <a:prstGeom prst="ellipse">
                <a:avLst/>
              </a:prstGeom>
              <a:solidFill>
                <a:srgbClr val="C0C0C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pPr>
                <a:r>
                  <a:rPr lang="en-GB" altLang="en-US">
                    <a:latin typeface="Symbol" panose="05050102010706020507" pitchFamily="18" charset="2"/>
                  </a:rPr>
                  <a:t>¥</a:t>
                </a:r>
              </a:p>
            </p:txBody>
          </p:sp>
          <p:sp>
            <p:nvSpPr>
              <p:cNvPr id="194660" name="Oval 100"/>
              <p:cNvSpPr>
                <a:spLocks noChangeArrowheads="1"/>
              </p:cNvSpPr>
              <p:nvPr/>
            </p:nvSpPr>
            <p:spPr bwMode="auto">
              <a:xfrm>
                <a:off x="672" y="1560"/>
                <a:ext cx="288" cy="288"/>
              </a:xfrm>
              <a:prstGeom prst="ellipse">
                <a:avLst/>
              </a:prstGeom>
              <a:solidFill>
                <a:srgbClr val="C0C0C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pPr>
                <a:r>
                  <a:rPr lang="en-US" altLang="en-US">
                    <a:latin typeface="Symbol" panose="05050102010706020507" pitchFamily="18" charset="2"/>
                  </a:rPr>
                  <a:t>0</a:t>
                </a:r>
                <a:endParaRPr lang="en-GB" altLang="en-US">
                  <a:latin typeface="Symbol" panose="05050102010706020507" pitchFamily="18" charset="2"/>
                </a:endParaRPr>
              </a:p>
            </p:txBody>
          </p:sp>
          <p:cxnSp>
            <p:nvCxnSpPr>
              <p:cNvPr id="194661" name="AutoShape 101"/>
              <p:cNvCxnSpPr>
                <a:cxnSpLocks noChangeShapeType="1"/>
                <a:stCxn id="194656" idx="3"/>
                <a:endCxn id="194658" idx="1"/>
              </p:cNvCxnSpPr>
              <p:nvPr/>
            </p:nvCxnSpPr>
            <p:spPr bwMode="auto">
              <a:xfrm rot="5400000">
                <a:off x="1008" y="1704"/>
                <a:ext cx="564" cy="0"/>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662" name="AutoShape 102"/>
              <p:cNvCxnSpPr>
                <a:cxnSpLocks noChangeShapeType="1"/>
                <a:stCxn id="194656" idx="7"/>
                <a:endCxn id="194657" idx="1"/>
              </p:cNvCxnSpPr>
              <p:nvPr/>
            </p:nvCxnSpPr>
            <p:spPr bwMode="auto">
              <a:xfrm rot="5400000" flipV="1">
                <a:off x="1775" y="937"/>
                <a:ext cx="1" cy="564"/>
              </a:xfrm>
              <a:prstGeom prst="curvedConnector3">
                <a:avLst>
                  <a:gd name="adj1" fmla="val -8900005"/>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663" name="AutoShape 103"/>
              <p:cNvCxnSpPr>
                <a:cxnSpLocks noChangeShapeType="1"/>
                <a:stCxn id="194658" idx="7"/>
                <a:endCxn id="194657" idx="3"/>
              </p:cNvCxnSpPr>
              <p:nvPr/>
            </p:nvCxnSpPr>
            <p:spPr bwMode="auto">
              <a:xfrm flipV="1">
                <a:off x="1494" y="1422"/>
                <a:ext cx="564" cy="564"/>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664" name="AutoShape 104"/>
              <p:cNvCxnSpPr>
                <a:cxnSpLocks noChangeShapeType="1"/>
                <a:stCxn id="194659" idx="7"/>
                <a:endCxn id="194657" idx="5"/>
              </p:cNvCxnSpPr>
              <p:nvPr/>
            </p:nvCxnSpPr>
            <p:spPr bwMode="auto">
              <a:xfrm flipV="1">
                <a:off x="2262" y="1422"/>
                <a:ext cx="0" cy="564"/>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665" name="AutoShape 105"/>
              <p:cNvCxnSpPr>
                <a:cxnSpLocks noChangeShapeType="1"/>
                <a:stCxn id="194658" idx="6"/>
                <a:endCxn id="194659" idx="2"/>
              </p:cNvCxnSpPr>
              <p:nvPr/>
            </p:nvCxnSpPr>
            <p:spPr bwMode="auto">
              <a:xfrm>
                <a:off x="1536" y="2088"/>
                <a:ext cx="480" cy="0"/>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666" name="AutoShape 106"/>
              <p:cNvCxnSpPr>
                <a:cxnSpLocks noChangeShapeType="1"/>
                <a:stCxn id="194659" idx="1"/>
                <a:endCxn id="194660" idx="6"/>
              </p:cNvCxnSpPr>
              <p:nvPr/>
            </p:nvCxnSpPr>
            <p:spPr bwMode="auto">
              <a:xfrm flipH="1" flipV="1">
                <a:off x="960" y="1704"/>
                <a:ext cx="1098" cy="282"/>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667" name="AutoShape 107"/>
              <p:cNvCxnSpPr>
                <a:cxnSpLocks noChangeShapeType="1"/>
                <a:stCxn id="194660" idx="5"/>
                <a:endCxn id="194658" idx="2"/>
              </p:cNvCxnSpPr>
              <p:nvPr/>
            </p:nvCxnSpPr>
            <p:spPr bwMode="auto">
              <a:xfrm>
                <a:off x="918" y="1806"/>
                <a:ext cx="330" cy="282"/>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668" name="AutoShape 108"/>
              <p:cNvCxnSpPr>
                <a:cxnSpLocks noChangeShapeType="1"/>
                <a:stCxn id="194660" idx="7"/>
                <a:endCxn id="194656" idx="2"/>
              </p:cNvCxnSpPr>
              <p:nvPr/>
            </p:nvCxnSpPr>
            <p:spPr bwMode="auto">
              <a:xfrm flipV="1">
                <a:off x="918" y="1320"/>
                <a:ext cx="330" cy="282"/>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4669" name="Text Box 109"/>
              <p:cNvSpPr txBox="1">
                <a:spLocks noChangeArrowheads="1"/>
              </p:cNvSpPr>
              <p:nvPr/>
            </p:nvSpPr>
            <p:spPr bwMode="auto">
              <a:xfrm>
                <a:off x="480" y="1560"/>
                <a:ext cx="192"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latin typeface="Times New Roman" panose="02020603050405020304" pitchFamily="18" charset="0"/>
                  </a:rPr>
                  <a:t>s</a:t>
                </a:r>
                <a:endParaRPr lang="en-GB" altLang="en-US" sz="2000">
                  <a:latin typeface="Times New Roman" panose="02020603050405020304" pitchFamily="18" charset="0"/>
                </a:endParaRPr>
              </a:p>
            </p:txBody>
          </p:sp>
          <p:sp>
            <p:nvSpPr>
              <p:cNvPr id="194670" name="Text Box 110"/>
              <p:cNvSpPr txBox="1">
                <a:spLocks noChangeArrowheads="1"/>
              </p:cNvSpPr>
              <p:nvPr/>
            </p:nvSpPr>
            <p:spPr bwMode="auto">
              <a:xfrm>
                <a:off x="2064" y="2184"/>
                <a:ext cx="192"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latin typeface="Times New Roman" panose="02020603050405020304" pitchFamily="18" charset="0"/>
                  </a:rPr>
                  <a:t>z</a:t>
                </a:r>
                <a:endParaRPr lang="en-GB" altLang="en-US" sz="2000">
                  <a:latin typeface="Times New Roman" panose="02020603050405020304" pitchFamily="18" charset="0"/>
                </a:endParaRPr>
              </a:p>
            </p:txBody>
          </p:sp>
          <p:sp>
            <p:nvSpPr>
              <p:cNvPr id="194671" name="Text Box 111"/>
              <p:cNvSpPr txBox="1">
                <a:spLocks noChangeArrowheads="1"/>
              </p:cNvSpPr>
              <p:nvPr/>
            </p:nvSpPr>
            <p:spPr bwMode="auto">
              <a:xfrm>
                <a:off x="1296" y="2184"/>
                <a:ext cx="192"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latin typeface="Times New Roman" panose="02020603050405020304" pitchFamily="18" charset="0"/>
                  </a:rPr>
                  <a:t>y</a:t>
                </a:r>
                <a:endParaRPr lang="en-GB" altLang="en-US" sz="2000">
                  <a:latin typeface="Times New Roman" panose="02020603050405020304" pitchFamily="18" charset="0"/>
                </a:endParaRPr>
              </a:p>
            </p:txBody>
          </p:sp>
          <p:sp>
            <p:nvSpPr>
              <p:cNvPr id="194672" name="Text Box 112"/>
              <p:cNvSpPr txBox="1">
                <a:spLocks noChangeArrowheads="1"/>
              </p:cNvSpPr>
              <p:nvPr/>
            </p:nvSpPr>
            <p:spPr bwMode="auto">
              <a:xfrm>
                <a:off x="864" y="1224"/>
                <a:ext cx="288"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6</a:t>
                </a:r>
                <a:endParaRPr lang="en-GB" altLang="en-US" sz="2000">
                  <a:solidFill>
                    <a:srgbClr val="777777"/>
                  </a:solidFill>
                  <a:latin typeface="Times New Roman" panose="02020603050405020304" pitchFamily="18" charset="0"/>
                </a:endParaRPr>
              </a:p>
            </p:txBody>
          </p:sp>
          <p:sp>
            <p:nvSpPr>
              <p:cNvPr id="194673" name="Text Box 113"/>
              <p:cNvSpPr txBox="1">
                <a:spLocks noChangeArrowheads="1"/>
              </p:cNvSpPr>
              <p:nvPr/>
            </p:nvSpPr>
            <p:spPr bwMode="auto">
              <a:xfrm>
                <a:off x="864" y="1848"/>
                <a:ext cx="288"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7</a:t>
                </a:r>
                <a:endParaRPr lang="en-GB" altLang="en-US" sz="2000">
                  <a:solidFill>
                    <a:srgbClr val="777777"/>
                  </a:solidFill>
                  <a:latin typeface="Times New Roman" panose="02020603050405020304" pitchFamily="18" charset="0"/>
                </a:endParaRPr>
              </a:p>
            </p:txBody>
          </p:sp>
          <p:sp>
            <p:nvSpPr>
              <p:cNvPr id="194674" name="Text Box 114"/>
              <p:cNvSpPr txBox="1">
                <a:spLocks noChangeArrowheads="1"/>
              </p:cNvSpPr>
              <p:nvPr/>
            </p:nvSpPr>
            <p:spPr bwMode="auto">
              <a:xfrm>
                <a:off x="1104" y="1512"/>
                <a:ext cx="192"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8</a:t>
                </a:r>
                <a:endParaRPr lang="en-GB" altLang="en-US" sz="2000">
                  <a:solidFill>
                    <a:srgbClr val="777777"/>
                  </a:solidFill>
                  <a:latin typeface="Times New Roman" panose="02020603050405020304" pitchFamily="18" charset="0"/>
                </a:endParaRPr>
              </a:p>
            </p:txBody>
          </p:sp>
          <p:sp>
            <p:nvSpPr>
              <p:cNvPr id="194675" name="Text Box 115"/>
              <p:cNvSpPr txBox="1">
                <a:spLocks noChangeArrowheads="1"/>
              </p:cNvSpPr>
              <p:nvPr/>
            </p:nvSpPr>
            <p:spPr bwMode="auto">
              <a:xfrm>
                <a:off x="1733" y="1369"/>
                <a:ext cx="272"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-3</a:t>
                </a:r>
                <a:endParaRPr lang="en-GB" altLang="en-US" sz="2000">
                  <a:solidFill>
                    <a:srgbClr val="777777"/>
                  </a:solidFill>
                  <a:latin typeface="Times New Roman" panose="02020603050405020304" pitchFamily="18" charset="0"/>
                </a:endParaRPr>
              </a:p>
            </p:txBody>
          </p:sp>
          <p:sp>
            <p:nvSpPr>
              <p:cNvPr id="194676" name="Text Box 116"/>
              <p:cNvSpPr txBox="1">
                <a:spLocks noChangeArrowheads="1"/>
              </p:cNvSpPr>
              <p:nvPr/>
            </p:nvSpPr>
            <p:spPr bwMode="auto">
              <a:xfrm>
                <a:off x="2256" y="1608"/>
                <a:ext cx="192"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7</a:t>
                </a:r>
                <a:endParaRPr lang="en-GB" altLang="en-US" sz="2000">
                  <a:solidFill>
                    <a:srgbClr val="777777"/>
                  </a:solidFill>
                  <a:latin typeface="Times New Roman" panose="02020603050405020304" pitchFamily="18" charset="0"/>
                </a:endParaRPr>
              </a:p>
            </p:txBody>
          </p:sp>
          <p:sp>
            <p:nvSpPr>
              <p:cNvPr id="194677" name="Text Box 117"/>
              <p:cNvSpPr txBox="1">
                <a:spLocks noChangeArrowheads="1"/>
              </p:cNvSpPr>
              <p:nvPr/>
            </p:nvSpPr>
            <p:spPr bwMode="auto">
              <a:xfrm>
                <a:off x="1758" y="1716"/>
                <a:ext cx="192"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2</a:t>
                </a:r>
                <a:endParaRPr lang="en-GB" altLang="en-US" sz="2000">
                  <a:solidFill>
                    <a:srgbClr val="777777"/>
                  </a:solidFill>
                  <a:latin typeface="Times New Roman" panose="02020603050405020304" pitchFamily="18" charset="0"/>
                </a:endParaRPr>
              </a:p>
            </p:txBody>
          </p:sp>
          <p:sp>
            <p:nvSpPr>
              <p:cNvPr id="194678" name="Text Box 118"/>
              <p:cNvSpPr txBox="1">
                <a:spLocks noChangeArrowheads="1"/>
              </p:cNvSpPr>
              <p:nvPr/>
            </p:nvSpPr>
            <p:spPr bwMode="auto">
              <a:xfrm>
                <a:off x="1680" y="2040"/>
                <a:ext cx="192"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9</a:t>
                </a:r>
                <a:endParaRPr lang="en-GB" altLang="en-US" sz="2000">
                  <a:solidFill>
                    <a:srgbClr val="777777"/>
                  </a:solidFill>
                  <a:latin typeface="Times New Roman" panose="02020603050405020304" pitchFamily="18" charset="0"/>
                </a:endParaRPr>
              </a:p>
            </p:txBody>
          </p:sp>
          <p:cxnSp>
            <p:nvCxnSpPr>
              <p:cNvPr id="194679" name="AutoShape 119"/>
              <p:cNvCxnSpPr>
                <a:cxnSpLocks noChangeShapeType="1"/>
                <a:stCxn id="194657" idx="2"/>
                <a:endCxn id="194656" idx="6"/>
              </p:cNvCxnSpPr>
              <p:nvPr/>
            </p:nvCxnSpPr>
            <p:spPr bwMode="auto">
              <a:xfrm rot="10800000">
                <a:off x="1536" y="1320"/>
                <a:ext cx="480" cy="0"/>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4680" name="Text Box 120"/>
              <p:cNvSpPr txBox="1">
                <a:spLocks noChangeArrowheads="1"/>
              </p:cNvSpPr>
              <p:nvPr/>
            </p:nvSpPr>
            <p:spPr bwMode="auto">
              <a:xfrm>
                <a:off x="1689" y="1113"/>
                <a:ext cx="288"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-2</a:t>
                </a:r>
                <a:endParaRPr lang="en-GB" altLang="en-US" sz="2000">
                  <a:solidFill>
                    <a:srgbClr val="777777"/>
                  </a:solidFill>
                  <a:latin typeface="Times New Roman" panose="02020603050405020304" pitchFamily="18" charset="0"/>
                </a:endParaRPr>
              </a:p>
            </p:txBody>
          </p:sp>
          <p:sp>
            <p:nvSpPr>
              <p:cNvPr id="194681" name="Text Box 121"/>
              <p:cNvSpPr txBox="1">
                <a:spLocks noChangeArrowheads="1"/>
              </p:cNvSpPr>
              <p:nvPr/>
            </p:nvSpPr>
            <p:spPr bwMode="auto">
              <a:xfrm>
                <a:off x="2058" y="946"/>
                <a:ext cx="192"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latin typeface="Times New Roman" panose="02020603050405020304" pitchFamily="18" charset="0"/>
                  </a:rPr>
                  <a:t>x</a:t>
                </a:r>
                <a:endParaRPr lang="en-GB" altLang="en-US" sz="2000">
                  <a:latin typeface="Times New Roman" panose="02020603050405020304" pitchFamily="18" charset="0"/>
                </a:endParaRPr>
              </a:p>
            </p:txBody>
          </p:sp>
          <p:sp>
            <p:nvSpPr>
              <p:cNvPr id="194682" name="Text Box 122"/>
              <p:cNvSpPr txBox="1">
                <a:spLocks noChangeArrowheads="1"/>
              </p:cNvSpPr>
              <p:nvPr/>
            </p:nvSpPr>
            <p:spPr bwMode="auto">
              <a:xfrm>
                <a:off x="1280" y="940"/>
                <a:ext cx="192"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latin typeface="Times New Roman" panose="02020603050405020304" pitchFamily="18" charset="0"/>
                  </a:rPr>
                  <a:t>t</a:t>
                </a:r>
                <a:endParaRPr lang="en-GB" altLang="en-US" sz="2000">
                  <a:latin typeface="Times New Roman" panose="02020603050405020304" pitchFamily="18" charset="0"/>
                </a:endParaRPr>
              </a:p>
            </p:txBody>
          </p:sp>
          <p:cxnSp>
            <p:nvCxnSpPr>
              <p:cNvPr id="194683" name="AutoShape 123"/>
              <p:cNvCxnSpPr>
                <a:cxnSpLocks noChangeShapeType="1"/>
                <a:stCxn id="194656" idx="5"/>
                <a:endCxn id="194659" idx="0"/>
              </p:cNvCxnSpPr>
              <p:nvPr/>
            </p:nvCxnSpPr>
            <p:spPr bwMode="auto">
              <a:xfrm>
                <a:off x="1494" y="1422"/>
                <a:ext cx="666" cy="522"/>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4684" name="Text Box 124"/>
              <p:cNvSpPr txBox="1">
                <a:spLocks noChangeArrowheads="1"/>
              </p:cNvSpPr>
              <p:nvPr/>
            </p:nvSpPr>
            <p:spPr bwMode="auto">
              <a:xfrm>
                <a:off x="1946" y="1625"/>
                <a:ext cx="272"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-4</a:t>
                </a:r>
                <a:endParaRPr lang="en-GB" altLang="en-US" sz="2000">
                  <a:solidFill>
                    <a:srgbClr val="777777"/>
                  </a:solidFill>
                  <a:latin typeface="Times New Roman" panose="02020603050405020304" pitchFamily="18" charset="0"/>
                </a:endParaRPr>
              </a:p>
            </p:txBody>
          </p:sp>
        </p:grpSp>
      </p:grpSp>
    </p:spTree>
    <p:extLst>
      <p:ext uri="{BB962C8B-B14F-4D97-AF65-F5344CB8AC3E}">
        <p14:creationId xmlns:p14="http://schemas.microsoft.com/office/powerpoint/2010/main" val="22870251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r>
              <a:rPr lang="tr-TR" altLang="en-US" sz="3600" b="1">
                <a:solidFill>
                  <a:schemeClr val="accent2"/>
                </a:solidFill>
              </a:rPr>
              <a:t>Bellman-Ford Algorithm</a:t>
            </a:r>
            <a:br>
              <a:rPr lang="en-US" altLang="en-US" sz="3600" b="1">
                <a:solidFill>
                  <a:schemeClr val="accent2"/>
                </a:solidFill>
              </a:rPr>
            </a:br>
            <a:r>
              <a:rPr lang="en-US" altLang="en-US" sz="3600" b="1">
                <a:solidFill>
                  <a:schemeClr val="accent2"/>
                </a:solidFill>
              </a:rPr>
              <a:t>Example</a:t>
            </a:r>
          </a:p>
        </p:txBody>
      </p:sp>
      <p:grpSp>
        <p:nvGrpSpPr>
          <p:cNvPr id="196612" name="Group 4"/>
          <p:cNvGrpSpPr>
            <a:grpSpLocks/>
          </p:cNvGrpSpPr>
          <p:nvPr/>
        </p:nvGrpSpPr>
        <p:grpSpPr bwMode="auto">
          <a:xfrm>
            <a:off x="3429000" y="1911350"/>
            <a:ext cx="4191000" cy="3194050"/>
            <a:chOff x="2692" y="891"/>
            <a:chExt cx="1968" cy="1472"/>
          </a:xfrm>
        </p:grpSpPr>
        <p:grpSp>
          <p:nvGrpSpPr>
            <p:cNvPr id="196613" name="Group 5"/>
            <p:cNvGrpSpPr>
              <a:grpSpLocks/>
            </p:cNvGrpSpPr>
            <p:nvPr/>
          </p:nvGrpSpPr>
          <p:grpSpPr bwMode="auto">
            <a:xfrm>
              <a:off x="2692" y="936"/>
              <a:ext cx="1968" cy="1427"/>
              <a:chOff x="2692" y="936"/>
              <a:chExt cx="1968" cy="1427"/>
            </a:xfrm>
          </p:grpSpPr>
          <p:sp>
            <p:nvSpPr>
              <p:cNvPr id="196614" name="Oval 6"/>
              <p:cNvSpPr>
                <a:spLocks noChangeArrowheads="1"/>
              </p:cNvSpPr>
              <p:nvPr/>
            </p:nvSpPr>
            <p:spPr bwMode="auto">
              <a:xfrm>
                <a:off x="3460" y="1172"/>
                <a:ext cx="288" cy="288"/>
              </a:xfrm>
              <a:prstGeom prst="ellipse">
                <a:avLst/>
              </a:prstGeom>
              <a:solidFill>
                <a:srgbClr val="C0C0C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pPr>
                <a:r>
                  <a:rPr lang="en-GB" altLang="en-US">
                    <a:latin typeface="Symbol" panose="05050102010706020507" pitchFamily="18" charset="2"/>
                  </a:rPr>
                  <a:t>6</a:t>
                </a:r>
              </a:p>
            </p:txBody>
          </p:sp>
          <p:sp>
            <p:nvSpPr>
              <p:cNvPr id="196615" name="Oval 7"/>
              <p:cNvSpPr>
                <a:spLocks noChangeArrowheads="1"/>
              </p:cNvSpPr>
              <p:nvPr/>
            </p:nvSpPr>
            <p:spPr bwMode="auto">
              <a:xfrm>
                <a:off x="4228" y="1172"/>
                <a:ext cx="288" cy="288"/>
              </a:xfrm>
              <a:prstGeom prst="ellipse">
                <a:avLst/>
              </a:prstGeom>
              <a:solidFill>
                <a:srgbClr val="C0C0C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pPr>
                <a:r>
                  <a:rPr lang="en-GB" altLang="en-US">
                    <a:latin typeface="Symbol" panose="05050102010706020507" pitchFamily="18" charset="2"/>
                  </a:rPr>
                  <a:t>¥</a:t>
                </a:r>
              </a:p>
            </p:txBody>
          </p:sp>
          <p:sp>
            <p:nvSpPr>
              <p:cNvPr id="196616" name="Oval 8"/>
              <p:cNvSpPr>
                <a:spLocks noChangeArrowheads="1"/>
              </p:cNvSpPr>
              <p:nvPr/>
            </p:nvSpPr>
            <p:spPr bwMode="auto">
              <a:xfrm>
                <a:off x="3460" y="1940"/>
                <a:ext cx="288" cy="288"/>
              </a:xfrm>
              <a:prstGeom prst="ellipse">
                <a:avLst/>
              </a:prstGeom>
              <a:solidFill>
                <a:srgbClr val="C0C0C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pPr>
                <a:r>
                  <a:rPr lang="en-GB" altLang="en-US">
                    <a:latin typeface="Symbol" panose="05050102010706020507" pitchFamily="18" charset="2"/>
                  </a:rPr>
                  <a:t>7</a:t>
                </a:r>
              </a:p>
            </p:txBody>
          </p:sp>
          <p:sp>
            <p:nvSpPr>
              <p:cNvPr id="196617" name="Oval 9"/>
              <p:cNvSpPr>
                <a:spLocks noChangeArrowheads="1"/>
              </p:cNvSpPr>
              <p:nvPr/>
            </p:nvSpPr>
            <p:spPr bwMode="auto">
              <a:xfrm>
                <a:off x="4228" y="1940"/>
                <a:ext cx="288" cy="288"/>
              </a:xfrm>
              <a:prstGeom prst="ellipse">
                <a:avLst/>
              </a:prstGeom>
              <a:solidFill>
                <a:srgbClr val="C0C0C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pPr>
                <a:r>
                  <a:rPr lang="en-GB" altLang="en-US">
                    <a:latin typeface="Symbol" panose="05050102010706020507" pitchFamily="18" charset="2"/>
                  </a:rPr>
                  <a:t>¥</a:t>
                </a:r>
              </a:p>
            </p:txBody>
          </p:sp>
          <p:sp>
            <p:nvSpPr>
              <p:cNvPr id="196618" name="Oval 10"/>
              <p:cNvSpPr>
                <a:spLocks noChangeArrowheads="1"/>
              </p:cNvSpPr>
              <p:nvPr/>
            </p:nvSpPr>
            <p:spPr bwMode="auto">
              <a:xfrm>
                <a:off x="2884" y="1556"/>
                <a:ext cx="288" cy="288"/>
              </a:xfrm>
              <a:prstGeom prst="ellipse">
                <a:avLst/>
              </a:prstGeom>
              <a:solidFill>
                <a:srgbClr val="C0C0C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pPr>
                <a:r>
                  <a:rPr lang="en-US" altLang="en-US">
                    <a:latin typeface="Symbol" panose="05050102010706020507" pitchFamily="18" charset="2"/>
                  </a:rPr>
                  <a:t>0</a:t>
                </a:r>
                <a:endParaRPr lang="en-GB" altLang="en-US">
                  <a:latin typeface="Symbol" panose="05050102010706020507" pitchFamily="18" charset="2"/>
                </a:endParaRPr>
              </a:p>
            </p:txBody>
          </p:sp>
          <p:cxnSp>
            <p:nvCxnSpPr>
              <p:cNvPr id="196619" name="AutoShape 11"/>
              <p:cNvCxnSpPr>
                <a:cxnSpLocks noChangeShapeType="1"/>
                <a:stCxn id="196614" idx="3"/>
                <a:endCxn id="196616" idx="1"/>
              </p:cNvCxnSpPr>
              <p:nvPr/>
            </p:nvCxnSpPr>
            <p:spPr bwMode="auto">
              <a:xfrm rot="5400000">
                <a:off x="3220" y="1700"/>
                <a:ext cx="564" cy="0"/>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20" name="AutoShape 12"/>
              <p:cNvCxnSpPr>
                <a:cxnSpLocks noChangeShapeType="1"/>
                <a:stCxn id="196614" idx="7"/>
                <a:endCxn id="196615" idx="1"/>
              </p:cNvCxnSpPr>
              <p:nvPr/>
            </p:nvCxnSpPr>
            <p:spPr bwMode="auto">
              <a:xfrm rot="5400000" flipV="1">
                <a:off x="3987" y="933"/>
                <a:ext cx="1" cy="564"/>
              </a:xfrm>
              <a:prstGeom prst="curvedConnector3">
                <a:avLst>
                  <a:gd name="adj1" fmla="val -8900005"/>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21" name="AutoShape 13"/>
              <p:cNvCxnSpPr>
                <a:cxnSpLocks noChangeShapeType="1"/>
                <a:stCxn id="196616" idx="7"/>
                <a:endCxn id="196615" idx="3"/>
              </p:cNvCxnSpPr>
              <p:nvPr/>
            </p:nvCxnSpPr>
            <p:spPr bwMode="auto">
              <a:xfrm flipV="1">
                <a:off x="3706" y="1418"/>
                <a:ext cx="564" cy="564"/>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22" name="AutoShape 14"/>
              <p:cNvCxnSpPr>
                <a:cxnSpLocks noChangeShapeType="1"/>
                <a:stCxn id="196617" idx="7"/>
                <a:endCxn id="196615" idx="5"/>
              </p:cNvCxnSpPr>
              <p:nvPr/>
            </p:nvCxnSpPr>
            <p:spPr bwMode="auto">
              <a:xfrm flipV="1">
                <a:off x="4474" y="1418"/>
                <a:ext cx="0" cy="564"/>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23" name="AutoShape 15"/>
              <p:cNvCxnSpPr>
                <a:cxnSpLocks noChangeShapeType="1"/>
                <a:stCxn id="196616" idx="6"/>
                <a:endCxn id="196617" idx="2"/>
              </p:cNvCxnSpPr>
              <p:nvPr/>
            </p:nvCxnSpPr>
            <p:spPr bwMode="auto">
              <a:xfrm>
                <a:off x="3748" y="2084"/>
                <a:ext cx="480" cy="0"/>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24" name="AutoShape 16"/>
              <p:cNvCxnSpPr>
                <a:cxnSpLocks noChangeShapeType="1"/>
                <a:stCxn id="196617" idx="1"/>
                <a:endCxn id="196618" idx="6"/>
              </p:cNvCxnSpPr>
              <p:nvPr/>
            </p:nvCxnSpPr>
            <p:spPr bwMode="auto">
              <a:xfrm flipH="1" flipV="1">
                <a:off x="3172" y="1700"/>
                <a:ext cx="1098" cy="282"/>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25" name="AutoShape 17"/>
              <p:cNvCxnSpPr>
                <a:cxnSpLocks noChangeShapeType="1"/>
                <a:stCxn id="196618" idx="5"/>
                <a:endCxn id="196616" idx="2"/>
              </p:cNvCxnSpPr>
              <p:nvPr/>
            </p:nvCxnSpPr>
            <p:spPr bwMode="auto">
              <a:xfrm>
                <a:off x="3130" y="1802"/>
                <a:ext cx="330" cy="282"/>
              </a:xfrm>
              <a:prstGeom prst="straightConnector1">
                <a:avLst/>
              </a:prstGeom>
              <a:noFill/>
              <a:ln w="63500">
                <a:solidFill>
                  <a:schemeClr val="tx1"/>
                </a:solidFill>
                <a:round/>
                <a:headEnd type="none" w="sm" len="sm"/>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26" name="AutoShape 18"/>
              <p:cNvCxnSpPr>
                <a:cxnSpLocks noChangeShapeType="1"/>
                <a:stCxn id="196618" idx="7"/>
                <a:endCxn id="196614" idx="2"/>
              </p:cNvCxnSpPr>
              <p:nvPr/>
            </p:nvCxnSpPr>
            <p:spPr bwMode="auto">
              <a:xfrm flipV="1">
                <a:off x="3130" y="1316"/>
                <a:ext cx="330" cy="282"/>
              </a:xfrm>
              <a:prstGeom prst="straightConnector1">
                <a:avLst/>
              </a:prstGeom>
              <a:noFill/>
              <a:ln w="63500">
                <a:solidFill>
                  <a:schemeClr val="tx1"/>
                </a:solidFill>
                <a:round/>
                <a:headEnd type="none" w="sm" len="sm"/>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627" name="Text Box 19"/>
              <p:cNvSpPr txBox="1">
                <a:spLocks noChangeArrowheads="1"/>
              </p:cNvSpPr>
              <p:nvPr/>
            </p:nvSpPr>
            <p:spPr bwMode="auto">
              <a:xfrm>
                <a:off x="2692" y="1556"/>
                <a:ext cx="192"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latin typeface="Times New Roman" panose="02020603050405020304" pitchFamily="18" charset="0"/>
                  </a:rPr>
                  <a:t>s</a:t>
                </a:r>
                <a:endParaRPr lang="en-GB" altLang="en-US" sz="2000">
                  <a:latin typeface="Times New Roman" panose="02020603050405020304" pitchFamily="18" charset="0"/>
                </a:endParaRPr>
              </a:p>
            </p:txBody>
          </p:sp>
          <p:sp>
            <p:nvSpPr>
              <p:cNvPr id="196628" name="Text Box 20"/>
              <p:cNvSpPr txBox="1">
                <a:spLocks noChangeArrowheads="1"/>
              </p:cNvSpPr>
              <p:nvPr/>
            </p:nvSpPr>
            <p:spPr bwMode="auto">
              <a:xfrm>
                <a:off x="4276" y="2180"/>
                <a:ext cx="192"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latin typeface="Times New Roman" panose="02020603050405020304" pitchFamily="18" charset="0"/>
                  </a:rPr>
                  <a:t>z</a:t>
                </a:r>
                <a:endParaRPr lang="en-GB" altLang="en-US" sz="2000">
                  <a:latin typeface="Times New Roman" panose="02020603050405020304" pitchFamily="18" charset="0"/>
                </a:endParaRPr>
              </a:p>
            </p:txBody>
          </p:sp>
          <p:sp>
            <p:nvSpPr>
              <p:cNvPr id="196629" name="Text Box 21"/>
              <p:cNvSpPr txBox="1">
                <a:spLocks noChangeArrowheads="1"/>
              </p:cNvSpPr>
              <p:nvPr/>
            </p:nvSpPr>
            <p:spPr bwMode="auto">
              <a:xfrm>
                <a:off x="3508" y="2180"/>
                <a:ext cx="192"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latin typeface="Times New Roman" panose="02020603050405020304" pitchFamily="18" charset="0"/>
                  </a:rPr>
                  <a:t>y</a:t>
                </a:r>
                <a:endParaRPr lang="en-GB" altLang="en-US" sz="2000">
                  <a:latin typeface="Times New Roman" panose="02020603050405020304" pitchFamily="18" charset="0"/>
                </a:endParaRPr>
              </a:p>
            </p:txBody>
          </p:sp>
          <p:sp>
            <p:nvSpPr>
              <p:cNvPr id="196630" name="Text Box 22"/>
              <p:cNvSpPr txBox="1">
                <a:spLocks noChangeArrowheads="1"/>
              </p:cNvSpPr>
              <p:nvPr/>
            </p:nvSpPr>
            <p:spPr bwMode="auto">
              <a:xfrm>
                <a:off x="3076" y="1220"/>
                <a:ext cx="288"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6</a:t>
                </a:r>
                <a:endParaRPr lang="en-GB" altLang="en-US" sz="2000">
                  <a:solidFill>
                    <a:srgbClr val="777777"/>
                  </a:solidFill>
                  <a:latin typeface="Times New Roman" panose="02020603050405020304" pitchFamily="18" charset="0"/>
                </a:endParaRPr>
              </a:p>
            </p:txBody>
          </p:sp>
          <p:sp>
            <p:nvSpPr>
              <p:cNvPr id="196631" name="Text Box 23"/>
              <p:cNvSpPr txBox="1">
                <a:spLocks noChangeArrowheads="1"/>
              </p:cNvSpPr>
              <p:nvPr/>
            </p:nvSpPr>
            <p:spPr bwMode="auto">
              <a:xfrm>
                <a:off x="3076" y="1844"/>
                <a:ext cx="288"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7</a:t>
                </a:r>
                <a:endParaRPr lang="en-GB" altLang="en-US" sz="2000">
                  <a:solidFill>
                    <a:srgbClr val="777777"/>
                  </a:solidFill>
                  <a:latin typeface="Times New Roman" panose="02020603050405020304" pitchFamily="18" charset="0"/>
                </a:endParaRPr>
              </a:p>
            </p:txBody>
          </p:sp>
          <p:sp>
            <p:nvSpPr>
              <p:cNvPr id="196632" name="Text Box 24"/>
              <p:cNvSpPr txBox="1">
                <a:spLocks noChangeArrowheads="1"/>
              </p:cNvSpPr>
              <p:nvPr/>
            </p:nvSpPr>
            <p:spPr bwMode="auto">
              <a:xfrm>
                <a:off x="3316" y="1508"/>
                <a:ext cx="192"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8</a:t>
                </a:r>
                <a:endParaRPr lang="en-GB" altLang="en-US" sz="2000">
                  <a:solidFill>
                    <a:srgbClr val="777777"/>
                  </a:solidFill>
                  <a:latin typeface="Times New Roman" panose="02020603050405020304" pitchFamily="18" charset="0"/>
                </a:endParaRPr>
              </a:p>
            </p:txBody>
          </p:sp>
          <p:sp>
            <p:nvSpPr>
              <p:cNvPr id="196633" name="Text Box 25"/>
              <p:cNvSpPr txBox="1">
                <a:spLocks noChangeArrowheads="1"/>
              </p:cNvSpPr>
              <p:nvPr/>
            </p:nvSpPr>
            <p:spPr bwMode="auto">
              <a:xfrm>
                <a:off x="3945" y="1365"/>
                <a:ext cx="272"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-3</a:t>
                </a:r>
                <a:endParaRPr lang="en-GB" altLang="en-US" sz="2000">
                  <a:solidFill>
                    <a:srgbClr val="777777"/>
                  </a:solidFill>
                  <a:latin typeface="Times New Roman" panose="02020603050405020304" pitchFamily="18" charset="0"/>
                </a:endParaRPr>
              </a:p>
            </p:txBody>
          </p:sp>
          <p:sp>
            <p:nvSpPr>
              <p:cNvPr id="196634" name="Text Box 26"/>
              <p:cNvSpPr txBox="1">
                <a:spLocks noChangeArrowheads="1"/>
              </p:cNvSpPr>
              <p:nvPr/>
            </p:nvSpPr>
            <p:spPr bwMode="auto">
              <a:xfrm>
                <a:off x="4468" y="1604"/>
                <a:ext cx="192"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7</a:t>
                </a:r>
                <a:endParaRPr lang="en-GB" altLang="en-US" sz="2000">
                  <a:solidFill>
                    <a:srgbClr val="777777"/>
                  </a:solidFill>
                  <a:latin typeface="Times New Roman" panose="02020603050405020304" pitchFamily="18" charset="0"/>
                </a:endParaRPr>
              </a:p>
            </p:txBody>
          </p:sp>
          <p:sp>
            <p:nvSpPr>
              <p:cNvPr id="196635" name="Text Box 27"/>
              <p:cNvSpPr txBox="1">
                <a:spLocks noChangeArrowheads="1"/>
              </p:cNvSpPr>
              <p:nvPr/>
            </p:nvSpPr>
            <p:spPr bwMode="auto">
              <a:xfrm>
                <a:off x="3970" y="1712"/>
                <a:ext cx="192"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2</a:t>
                </a:r>
                <a:endParaRPr lang="en-GB" altLang="en-US" sz="2000">
                  <a:solidFill>
                    <a:srgbClr val="777777"/>
                  </a:solidFill>
                  <a:latin typeface="Times New Roman" panose="02020603050405020304" pitchFamily="18" charset="0"/>
                </a:endParaRPr>
              </a:p>
            </p:txBody>
          </p:sp>
          <p:sp>
            <p:nvSpPr>
              <p:cNvPr id="196636" name="Text Box 28"/>
              <p:cNvSpPr txBox="1">
                <a:spLocks noChangeArrowheads="1"/>
              </p:cNvSpPr>
              <p:nvPr/>
            </p:nvSpPr>
            <p:spPr bwMode="auto">
              <a:xfrm>
                <a:off x="3892" y="2036"/>
                <a:ext cx="192"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9</a:t>
                </a:r>
                <a:endParaRPr lang="en-GB" altLang="en-US" sz="2000">
                  <a:solidFill>
                    <a:srgbClr val="777777"/>
                  </a:solidFill>
                  <a:latin typeface="Times New Roman" panose="02020603050405020304" pitchFamily="18" charset="0"/>
                </a:endParaRPr>
              </a:p>
            </p:txBody>
          </p:sp>
          <p:cxnSp>
            <p:nvCxnSpPr>
              <p:cNvPr id="196637" name="AutoShape 29"/>
              <p:cNvCxnSpPr>
                <a:cxnSpLocks noChangeShapeType="1"/>
                <a:stCxn id="196615" idx="2"/>
                <a:endCxn id="196614" idx="6"/>
              </p:cNvCxnSpPr>
              <p:nvPr/>
            </p:nvCxnSpPr>
            <p:spPr bwMode="auto">
              <a:xfrm rot="10800000">
                <a:off x="3748" y="1316"/>
                <a:ext cx="480" cy="0"/>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638" name="Text Box 30"/>
              <p:cNvSpPr txBox="1">
                <a:spLocks noChangeArrowheads="1"/>
              </p:cNvSpPr>
              <p:nvPr/>
            </p:nvSpPr>
            <p:spPr bwMode="auto">
              <a:xfrm>
                <a:off x="3901" y="1109"/>
                <a:ext cx="288"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-2</a:t>
                </a:r>
                <a:endParaRPr lang="en-GB" altLang="en-US" sz="2000">
                  <a:solidFill>
                    <a:srgbClr val="777777"/>
                  </a:solidFill>
                  <a:latin typeface="Times New Roman" panose="02020603050405020304" pitchFamily="18" charset="0"/>
                </a:endParaRPr>
              </a:p>
            </p:txBody>
          </p:sp>
          <p:sp>
            <p:nvSpPr>
              <p:cNvPr id="196639" name="Text Box 31"/>
              <p:cNvSpPr txBox="1">
                <a:spLocks noChangeArrowheads="1"/>
              </p:cNvSpPr>
              <p:nvPr/>
            </p:nvSpPr>
            <p:spPr bwMode="auto">
              <a:xfrm>
                <a:off x="4270" y="942"/>
                <a:ext cx="192"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latin typeface="Times New Roman" panose="02020603050405020304" pitchFamily="18" charset="0"/>
                  </a:rPr>
                  <a:t>x</a:t>
                </a:r>
                <a:endParaRPr lang="en-GB" altLang="en-US" sz="2000">
                  <a:latin typeface="Times New Roman" panose="02020603050405020304" pitchFamily="18" charset="0"/>
                </a:endParaRPr>
              </a:p>
            </p:txBody>
          </p:sp>
          <p:sp>
            <p:nvSpPr>
              <p:cNvPr id="196640" name="Text Box 32"/>
              <p:cNvSpPr txBox="1">
                <a:spLocks noChangeArrowheads="1"/>
              </p:cNvSpPr>
              <p:nvPr/>
            </p:nvSpPr>
            <p:spPr bwMode="auto">
              <a:xfrm>
                <a:off x="3492" y="936"/>
                <a:ext cx="192"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latin typeface="Times New Roman" panose="02020603050405020304" pitchFamily="18" charset="0"/>
                  </a:rPr>
                  <a:t>t</a:t>
                </a:r>
                <a:endParaRPr lang="en-GB" altLang="en-US" sz="2000">
                  <a:latin typeface="Times New Roman" panose="02020603050405020304" pitchFamily="18" charset="0"/>
                </a:endParaRPr>
              </a:p>
            </p:txBody>
          </p:sp>
          <p:cxnSp>
            <p:nvCxnSpPr>
              <p:cNvPr id="196641" name="AutoShape 33"/>
              <p:cNvCxnSpPr>
                <a:cxnSpLocks noChangeShapeType="1"/>
                <a:stCxn id="196614" idx="5"/>
                <a:endCxn id="196617" idx="0"/>
              </p:cNvCxnSpPr>
              <p:nvPr/>
            </p:nvCxnSpPr>
            <p:spPr bwMode="auto">
              <a:xfrm>
                <a:off x="3706" y="1418"/>
                <a:ext cx="666" cy="522"/>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642" name="Text Box 34"/>
              <p:cNvSpPr txBox="1">
                <a:spLocks noChangeArrowheads="1"/>
              </p:cNvSpPr>
              <p:nvPr/>
            </p:nvSpPr>
            <p:spPr bwMode="auto">
              <a:xfrm>
                <a:off x="4158" y="1621"/>
                <a:ext cx="272"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-4</a:t>
                </a:r>
                <a:endParaRPr lang="en-GB" altLang="en-US" sz="2000">
                  <a:solidFill>
                    <a:srgbClr val="777777"/>
                  </a:solidFill>
                  <a:latin typeface="Times New Roman" panose="02020603050405020304" pitchFamily="18" charset="0"/>
                </a:endParaRPr>
              </a:p>
            </p:txBody>
          </p:sp>
        </p:grpSp>
        <p:sp>
          <p:nvSpPr>
            <p:cNvPr id="196643" name="Text Box 35"/>
            <p:cNvSpPr txBox="1">
              <a:spLocks noChangeArrowheads="1"/>
            </p:cNvSpPr>
            <p:nvPr/>
          </p:nvSpPr>
          <p:spPr bwMode="auto">
            <a:xfrm>
              <a:off x="3880" y="891"/>
              <a:ext cx="288"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5</a:t>
              </a:r>
              <a:endParaRPr lang="en-GB" altLang="en-US" sz="2000">
                <a:solidFill>
                  <a:srgbClr val="777777"/>
                </a:solidFill>
                <a:latin typeface="Times New Roman" panose="02020603050405020304" pitchFamily="18" charset="0"/>
              </a:endParaRPr>
            </a:p>
          </p:txBody>
        </p:sp>
      </p:grpSp>
    </p:spTree>
    <p:extLst>
      <p:ext uri="{BB962C8B-B14F-4D97-AF65-F5344CB8AC3E}">
        <p14:creationId xmlns:p14="http://schemas.microsoft.com/office/powerpoint/2010/main" val="36301228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lstStyle/>
          <a:p>
            <a:r>
              <a:rPr lang="tr-TR" altLang="en-US" sz="3600" b="1">
                <a:solidFill>
                  <a:schemeClr val="accent2"/>
                </a:solidFill>
              </a:rPr>
              <a:t>Bellman-Ford Algorithm</a:t>
            </a:r>
            <a:br>
              <a:rPr lang="en-US" altLang="en-US" sz="3600" b="1">
                <a:solidFill>
                  <a:schemeClr val="accent2"/>
                </a:solidFill>
              </a:rPr>
            </a:br>
            <a:r>
              <a:rPr lang="en-US" altLang="en-US" sz="3600" b="1">
                <a:solidFill>
                  <a:schemeClr val="accent2"/>
                </a:solidFill>
              </a:rPr>
              <a:t>Example</a:t>
            </a:r>
          </a:p>
        </p:txBody>
      </p:sp>
      <p:grpSp>
        <p:nvGrpSpPr>
          <p:cNvPr id="197636" name="Group 4"/>
          <p:cNvGrpSpPr>
            <a:grpSpLocks/>
          </p:cNvGrpSpPr>
          <p:nvPr/>
        </p:nvGrpSpPr>
        <p:grpSpPr bwMode="auto">
          <a:xfrm>
            <a:off x="3429000" y="1905000"/>
            <a:ext cx="4114800" cy="3208338"/>
            <a:chOff x="502" y="2430"/>
            <a:chExt cx="1968" cy="1456"/>
          </a:xfrm>
        </p:grpSpPr>
        <p:grpSp>
          <p:nvGrpSpPr>
            <p:cNvPr id="197637" name="Group 5"/>
            <p:cNvGrpSpPr>
              <a:grpSpLocks/>
            </p:cNvGrpSpPr>
            <p:nvPr/>
          </p:nvGrpSpPr>
          <p:grpSpPr bwMode="auto">
            <a:xfrm>
              <a:off x="502" y="2462"/>
              <a:ext cx="1968" cy="1424"/>
              <a:chOff x="502" y="2462"/>
              <a:chExt cx="1968" cy="1424"/>
            </a:xfrm>
          </p:grpSpPr>
          <p:sp>
            <p:nvSpPr>
              <p:cNvPr id="197638" name="Oval 6"/>
              <p:cNvSpPr>
                <a:spLocks noChangeArrowheads="1"/>
              </p:cNvSpPr>
              <p:nvPr/>
            </p:nvSpPr>
            <p:spPr bwMode="auto">
              <a:xfrm>
                <a:off x="1270" y="2698"/>
                <a:ext cx="288" cy="288"/>
              </a:xfrm>
              <a:prstGeom prst="ellipse">
                <a:avLst/>
              </a:prstGeom>
              <a:solidFill>
                <a:srgbClr val="C0C0C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pPr>
                <a:r>
                  <a:rPr lang="en-GB" altLang="en-US">
                    <a:latin typeface="Symbol" panose="05050102010706020507" pitchFamily="18" charset="2"/>
                  </a:rPr>
                  <a:t>6</a:t>
                </a:r>
              </a:p>
            </p:txBody>
          </p:sp>
          <p:sp>
            <p:nvSpPr>
              <p:cNvPr id="197639" name="Oval 7"/>
              <p:cNvSpPr>
                <a:spLocks noChangeArrowheads="1"/>
              </p:cNvSpPr>
              <p:nvPr/>
            </p:nvSpPr>
            <p:spPr bwMode="auto">
              <a:xfrm>
                <a:off x="2038" y="2698"/>
                <a:ext cx="288" cy="288"/>
              </a:xfrm>
              <a:prstGeom prst="ellipse">
                <a:avLst/>
              </a:prstGeom>
              <a:solidFill>
                <a:srgbClr val="C0C0C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pPr>
                <a:r>
                  <a:rPr lang="en-GB" altLang="en-US">
                    <a:latin typeface="Symbol" panose="05050102010706020507" pitchFamily="18" charset="2"/>
                  </a:rPr>
                  <a:t>4</a:t>
                </a:r>
              </a:p>
            </p:txBody>
          </p:sp>
          <p:sp>
            <p:nvSpPr>
              <p:cNvPr id="197640" name="Oval 8"/>
              <p:cNvSpPr>
                <a:spLocks noChangeArrowheads="1"/>
              </p:cNvSpPr>
              <p:nvPr/>
            </p:nvSpPr>
            <p:spPr bwMode="auto">
              <a:xfrm>
                <a:off x="1270" y="3466"/>
                <a:ext cx="288" cy="288"/>
              </a:xfrm>
              <a:prstGeom prst="ellipse">
                <a:avLst/>
              </a:prstGeom>
              <a:solidFill>
                <a:srgbClr val="C0C0C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pPr>
                <a:r>
                  <a:rPr lang="en-GB" altLang="en-US">
                    <a:latin typeface="Symbol" panose="05050102010706020507" pitchFamily="18" charset="2"/>
                  </a:rPr>
                  <a:t>7</a:t>
                </a:r>
              </a:p>
            </p:txBody>
          </p:sp>
          <p:sp>
            <p:nvSpPr>
              <p:cNvPr id="197641" name="Oval 9"/>
              <p:cNvSpPr>
                <a:spLocks noChangeArrowheads="1"/>
              </p:cNvSpPr>
              <p:nvPr/>
            </p:nvSpPr>
            <p:spPr bwMode="auto">
              <a:xfrm>
                <a:off x="2038" y="3466"/>
                <a:ext cx="288" cy="288"/>
              </a:xfrm>
              <a:prstGeom prst="ellipse">
                <a:avLst/>
              </a:prstGeom>
              <a:solidFill>
                <a:srgbClr val="C0C0C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pPr>
                <a:r>
                  <a:rPr lang="en-GB" altLang="en-US">
                    <a:latin typeface="Symbol" panose="05050102010706020507" pitchFamily="18" charset="2"/>
                  </a:rPr>
                  <a:t>2</a:t>
                </a:r>
              </a:p>
            </p:txBody>
          </p:sp>
          <p:sp>
            <p:nvSpPr>
              <p:cNvPr id="197642" name="Oval 10"/>
              <p:cNvSpPr>
                <a:spLocks noChangeArrowheads="1"/>
              </p:cNvSpPr>
              <p:nvPr/>
            </p:nvSpPr>
            <p:spPr bwMode="auto">
              <a:xfrm>
                <a:off x="694" y="3082"/>
                <a:ext cx="288" cy="288"/>
              </a:xfrm>
              <a:prstGeom prst="ellipse">
                <a:avLst/>
              </a:prstGeom>
              <a:solidFill>
                <a:srgbClr val="C0C0C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pPr>
                <a:r>
                  <a:rPr lang="en-US" altLang="en-US">
                    <a:latin typeface="Symbol" panose="05050102010706020507" pitchFamily="18" charset="2"/>
                  </a:rPr>
                  <a:t>0</a:t>
                </a:r>
                <a:endParaRPr lang="en-GB" altLang="en-US">
                  <a:latin typeface="Symbol" panose="05050102010706020507" pitchFamily="18" charset="2"/>
                </a:endParaRPr>
              </a:p>
            </p:txBody>
          </p:sp>
          <p:cxnSp>
            <p:nvCxnSpPr>
              <p:cNvPr id="197643" name="AutoShape 11"/>
              <p:cNvCxnSpPr>
                <a:cxnSpLocks noChangeShapeType="1"/>
                <a:stCxn id="197638" idx="3"/>
                <a:endCxn id="197640" idx="1"/>
              </p:cNvCxnSpPr>
              <p:nvPr/>
            </p:nvCxnSpPr>
            <p:spPr bwMode="auto">
              <a:xfrm rot="5400000">
                <a:off x="1030" y="3226"/>
                <a:ext cx="564" cy="0"/>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7644" name="AutoShape 12"/>
              <p:cNvCxnSpPr>
                <a:cxnSpLocks noChangeShapeType="1"/>
                <a:stCxn id="197638" idx="7"/>
                <a:endCxn id="197639" idx="1"/>
              </p:cNvCxnSpPr>
              <p:nvPr/>
            </p:nvCxnSpPr>
            <p:spPr bwMode="auto">
              <a:xfrm rot="5400000" flipV="1">
                <a:off x="1797" y="2459"/>
                <a:ext cx="1" cy="564"/>
              </a:xfrm>
              <a:prstGeom prst="curvedConnector3">
                <a:avLst>
                  <a:gd name="adj1" fmla="val -8900005"/>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7645" name="AutoShape 13"/>
              <p:cNvCxnSpPr>
                <a:cxnSpLocks noChangeShapeType="1"/>
                <a:stCxn id="197640" idx="7"/>
                <a:endCxn id="197639" idx="3"/>
              </p:cNvCxnSpPr>
              <p:nvPr/>
            </p:nvCxnSpPr>
            <p:spPr bwMode="auto">
              <a:xfrm flipV="1">
                <a:off x="1516" y="2944"/>
                <a:ext cx="564" cy="564"/>
              </a:xfrm>
              <a:prstGeom prst="straightConnector1">
                <a:avLst/>
              </a:prstGeom>
              <a:noFill/>
              <a:ln w="63500">
                <a:solidFill>
                  <a:schemeClr val="tx1"/>
                </a:solidFill>
                <a:round/>
                <a:headEnd type="none" w="sm" len="sm"/>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7646" name="AutoShape 14"/>
              <p:cNvCxnSpPr>
                <a:cxnSpLocks noChangeShapeType="1"/>
                <a:stCxn id="197641" idx="7"/>
                <a:endCxn id="197639" idx="5"/>
              </p:cNvCxnSpPr>
              <p:nvPr/>
            </p:nvCxnSpPr>
            <p:spPr bwMode="auto">
              <a:xfrm flipV="1">
                <a:off x="2284" y="2944"/>
                <a:ext cx="0" cy="564"/>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7647" name="AutoShape 15"/>
              <p:cNvCxnSpPr>
                <a:cxnSpLocks noChangeShapeType="1"/>
                <a:stCxn id="197640" idx="6"/>
                <a:endCxn id="197641" idx="2"/>
              </p:cNvCxnSpPr>
              <p:nvPr/>
            </p:nvCxnSpPr>
            <p:spPr bwMode="auto">
              <a:xfrm>
                <a:off x="1558" y="3610"/>
                <a:ext cx="480" cy="0"/>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7648" name="AutoShape 16"/>
              <p:cNvCxnSpPr>
                <a:cxnSpLocks noChangeShapeType="1"/>
                <a:stCxn id="197641" idx="1"/>
                <a:endCxn id="197642" idx="6"/>
              </p:cNvCxnSpPr>
              <p:nvPr/>
            </p:nvCxnSpPr>
            <p:spPr bwMode="auto">
              <a:xfrm flipH="1" flipV="1">
                <a:off x="982" y="3226"/>
                <a:ext cx="1098" cy="282"/>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7649" name="AutoShape 17"/>
              <p:cNvCxnSpPr>
                <a:cxnSpLocks noChangeShapeType="1"/>
                <a:stCxn id="197642" idx="5"/>
                <a:endCxn id="197640" idx="2"/>
              </p:cNvCxnSpPr>
              <p:nvPr/>
            </p:nvCxnSpPr>
            <p:spPr bwMode="auto">
              <a:xfrm>
                <a:off x="940" y="3328"/>
                <a:ext cx="330" cy="282"/>
              </a:xfrm>
              <a:prstGeom prst="straightConnector1">
                <a:avLst/>
              </a:prstGeom>
              <a:noFill/>
              <a:ln w="63500">
                <a:solidFill>
                  <a:schemeClr val="tx1"/>
                </a:solidFill>
                <a:round/>
                <a:headEnd type="none" w="sm" len="sm"/>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7650" name="AutoShape 18"/>
              <p:cNvCxnSpPr>
                <a:cxnSpLocks noChangeShapeType="1"/>
                <a:stCxn id="197642" idx="7"/>
                <a:endCxn id="197638" idx="2"/>
              </p:cNvCxnSpPr>
              <p:nvPr/>
            </p:nvCxnSpPr>
            <p:spPr bwMode="auto">
              <a:xfrm flipV="1">
                <a:off x="940" y="2842"/>
                <a:ext cx="330" cy="282"/>
              </a:xfrm>
              <a:prstGeom prst="straightConnector1">
                <a:avLst/>
              </a:prstGeom>
              <a:noFill/>
              <a:ln w="63500">
                <a:solidFill>
                  <a:schemeClr val="tx1"/>
                </a:solidFill>
                <a:round/>
                <a:headEnd type="none" w="sm" len="sm"/>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7651" name="Text Box 19"/>
              <p:cNvSpPr txBox="1">
                <a:spLocks noChangeArrowheads="1"/>
              </p:cNvSpPr>
              <p:nvPr/>
            </p:nvSpPr>
            <p:spPr bwMode="auto">
              <a:xfrm>
                <a:off x="502" y="3082"/>
                <a:ext cx="192"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latin typeface="Times New Roman" panose="02020603050405020304" pitchFamily="18" charset="0"/>
                  </a:rPr>
                  <a:t>s</a:t>
                </a:r>
                <a:endParaRPr lang="en-GB" altLang="en-US" sz="2000">
                  <a:latin typeface="Times New Roman" panose="02020603050405020304" pitchFamily="18" charset="0"/>
                </a:endParaRPr>
              </a:p>
            </p:txBody>
          </p:sp>
          <p:sp>
            <p:nvSpPr>
              <p:cNvPr id="197652" name="Text Box 20"/>
              <p:cNvSpPr txBox="1">
                <a:spLocks noChangeArrowheads="1"/>
              </p:cNvSpPr>
              <p:nvPr/>
            </p:nvSpPr>
            <p:spPr bwMode="auto">
              <a:xfrm>
                <a:off x="2086" y="3706"/>
                <a:ext cx="192"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latin typeface="Times New Roman" panose="02020603050405020304" pitchFamily="18" charset="0"/>
                  </a:rPr>
                  <a:t>z</a:t>
                </a:r>
                <a:endParaRPr lang="en-GB" altLang="en-US" sz="2000">
                  <a:latin typeface="Times New Roman" panose="02020603050405020304" pitchFamily="18" charset="0"/>
                </a:endParaRPr>
              </a:p>
            </p:txBody>
          </p:sp>
          <p:sp>
            <p:nvSpPr>
              <p:cNvPr id="197653" name="Text Box 21"/>
              <p:cNvSpPr txBox="1">
                <a:spLocks noChangeArrowheads="1"/>
              </p:cNvSpPr>
              <p:nvPr/>
            </p:nvSpPr>
            <p:spPr bwMode="auto">
              <a:xfrm>
                <a:off x="1318" y="3706"/>
                <a:ext cx="192"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latin typeface="Times New Roman" panose="02020603050405020304" pitchFamily="18" charset="0"/>
                  </a:rPr>
                  <a:t>y</a:t>
                </a:r>
                <a:endParaRPr lang="en-GB" altLang="en-US" sz="2000">
                  <a:latin typeface="Times New Roman" panose="02020603050405020304" pitchFamily="18" charset="0"/>
                </a:endParaRPr>
              </a:p>
            </p:txBody>
          </p:sp>
          <p:sp>
            <p:nvSpPr>
              <p:cNvPr id="197654" name="Text Box 22"/>
              <p:cNvSpPr txBox="1">
                <a:spLocks noChangeArrowheads="1"/>
              </p:cNvSpPr>
              <p:nvPr/>
            </p:nvSpPr>
            <p:spPr bwMode="auto">
              <a:xfrm>
                <a:off x="886" y="2746"/>
                <a:ext cx="288"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6</a:t>
                </a:r>
                <a:endParaRPr lang="en-GB" altLang="en-US" sz="2000">
                  <a:solidFill>
                    <a:srgbClr val="777777"/>
                  </a:solidFill>
                  <a:latin typeface="Times New Roman" panose="02020603050405020304" pitchFamily="18" charset="0"/>
                </a:endParaRPr>
              </a:p>
            </p:txBody>
          </p:sp>
          <p:sp>
            <p:nvSpPr>
              <p:cNvPr id="197655" name="Text Box 23"/>
              <p:cNvSpPr txBox="1">
                <a:spLocks noChangeArrowheads="1"/>
              </p:cNvSpPr>
              <p:nvPr/>
            </p:nvSpPr>
            <p:spPr bwMode="auto">
              <a:xfrm>
                <a:off x="886" y="3370"/>
                <a:ext cx="288"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7</a:t>
                </a:r>
                <a:endParaRPr lang="en-GB" altLang="en-US" sz="2000">
                  <a:solidFill>
                    <a:srgbClr val="777777"/>
                  </a:solidFill>
                  <a:latin typeface="Times New Roman" panose="02020603050405020304" pitchFamily="18" charset="0"/>
                </a:endParaRPr>
              </a:p>
            </p:txBody>
          </p:sp>
          <p:sp>
            <p:nvSpPr>
              <p:cNvPr id="197656" name="Text Box 24"/>
              <p:cNvSpPr txBox="1">
                <a:spLocks noChangeArrowheads="1"/>
              </p:cNvSpPr>
              <p:nvPr/>
            </p:nvSpPr>
            <p:spPr bwMode="auto">
              <a:xfrm>
                <a:off x="1126" y="3034"/>
                <a:ext cx="192"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8</a:t>
                </a:r>
                <a:endParaRPr lang="en-GB" altLang="en-US" sz="2000">
                  <a:solidFill>
                    <a:srgbClr val="777777"/>
                  </a:solidFill>
                  <a:latin typeface="Times New Roman" panose="02020603050405020304" pitchFamily="18" charset="0"/>
                </a:endParaRPr>
              </a:p>
            </p:txBody>
          </p:sp>
          <p:sp>
            <p:nvSpPr>
              <p:cNvPr id="197657" name="Text Box 25"/>
              <p:cNvSpPr txBox="1">
                <a:spLocks noChangeArrowheads="1"/>
              </p:cNvSpPr>
              <p:nvPr/>
            </p:nvSpPr>
            <p:spPr bwMode="auto">
              <a:xfrm>
                <a:off x="1755" y="2891"/>
                <a:ext cx="272"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-3</a:t>
                </a:r>
                <a:endParaRPr lang="en-GB" altLang="en-US" sz="2000">
                  <a:solidFill>
                    <a:srgbClr val="777777"/>
                  </a:solidFill>
                  <a:latin typeface="Times New Roman" panose="02020603050405020304" pitchFamily="18" charset="0"/>
                </a:endParaRPr>
              </a:p>
            </p:txBody>
          </p:sp>
          <p:sp>
            <p:nvSpPr>
              <p:cNvPr id="197658" name="Text Box 26"/>
              <p:cNvSpPr txBox="1">
                <a:spLocks noChangeArrowheads="1"/>
              </p:cNvSpPr>
              <p:nvPr/>
            </p:nvSpPr>
            <p:spPr bwMode="auto">
              <a:xfrm>
                <a:off x="2278" y="3130"/>
                <a:ext cx="192"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7</a:t>
                </a:r>
                <a:endParaRPr lang="en-GB" altLang="en-US" sz="2000">
                  <a:solidFill>
                    <a:srgbClr val="777777"/>
                  </a:solidFill>
                  <a:latin typeface="Times New Roman" panose="02020603050405020304" pitchFamily="18" charset="0"/>
                </a:endParaRPr>
              </a:p>
            </p:txBody>
          </p:sp>
          <p:sp>
            <p:nvSpPr>
              <p:cNvPr id="197659" name="Text Box 27"/>
              <p:cNvSpPr txBox="1">
                <a:spLocks noChangeArrowheads="1"/>
              </p:cNvSpPr>
              <p:nvPr/>
            </p:nvSpPr>
            <p:spPr bwMode="auto">
              <a:xfrm>
                <a:off x="1780" y="3238"/>
                <a:ext cx="192"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2</a:t>
                </a:r>
                <a:endParaRPr lang="en-GB" altLang="en-US" sz="2000">
                  <a:solidFill>
                    <a:srgbClr val="777777"/>
                  </a:solidFill>
                  <a:latin typeface="Times New Roman" panose="02020603050405020304" pitchFamily="18" charset="0"/>
                </a:endParaRPr>
              </a:p>
            </p:txBody>
          </p:sp>
          <p:sp>
            <p:nvSpPr>
              <p:cNvPr id="197660" name="Text Box 28"/>
              <p:cNvSpPr txBox="1">
                <a:spLocks noChangeArrowheads="1"/>
              </p:cNvSpPr>
              <p:nvPr/>
            </p:nvSpPr>
            <p:spPr bwMode="auto">
              <a:xfrm>
                <a:off x="1702" y="3562"/>
                <a:ext cx="192"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9</a:t>
                </a:r>
                <a:endParaRPr lang="en-GB" altLang="en-US" sz="2000">
                  <a:solidFill>
                    <a:srgbClr val="777777"/>
                  </a:solidFill>
                  <a:latin typeface="Times New Roman" panose="02020603050405020304" pitchFamily="18" charset="0"/>
                </a:endParaRPr>
              </a:p>
            </p:txBody>
          </p:sp>
          <p:cxnSp>
            <p:nvCxnSpPr>
              <p:cNvPr id="197661" name="AutoShape 29"/>
              <p:cNvCxnSpPr>
                <a:cxnSpLocks noChangeShapeType="1"/>
                <a:stCxn id="197639" idx="2"/>
                <a:endCxn id="197638" idx="6"/>
              </p:cNvCxnSpPr>
              <p:nvPr/>
            </p:nvCxnSpPr>
            <p:spPr bwMode="auto">
              <a:xfrm rot="10800000">
                <a:off x="1558" y="2842"/>
                <a:ext cx="480" cy="0"/>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7662" name="Text Box 30"/>
              <p:cNvSpPr txBox="1">
                <a:spLocks noChangeArrowheads="1"/>
              </p:cNvSpPr>
              <p:nvPr/>
            </p:nvSpPr>
            <p:spPr bwMode="auto">
              <a:xfrm>
                <a:off x="1711" y="2635"/>
                <a:ext cx="288"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-2</a:t>
                </a:r>
                <a:endParaRPr lang="en-GB" altLang="en-US" sz="2000">
                  <a:solidFill>
                    <a:srgbClr val="777777"/>
                  </a:solidFill>
                  <a:latin typeface="Times New Roman" panose="02020603050405020304" pitchFamily="18" charset="0"/>
                </a:endParaRPr>
              </a:p>
            </p:txBody>
          </p:sp>
          <p:sp>
            <p:nvSpPr>
              <p:cNvPr id="197663" name="Text Box 31"/>
              <p:cNvSpPr txBox="1">
                <a:spLocks noChangeArrowheads="1"/>
              </p:cNvSpPr>
              <p:nvPr/>
            </p:nvSpPr>
            <p:spPr bwMode="auto">
              <a:xfrm>
                <a:off x="2098" y="2468"/>
                <a:ext cx="192"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latin typeface="Times New Roman" panose="02020603050405020304" pitchFamily="18" charset="0"/>
                  </a:rPr>
                  <a:t>x</a:t>
                </a:r>
                <a:endParaRPr lang="en-GB" altLang="en-US" sz="2000">
                  <a:latin typeface="Times New Roman" panose="02020603050405020304" pitchFamily="18" charset="0"/>
                </a:endParaRPr>
              </a:p>
            </p:txBody>
          </p:sp>
          <p:sp>
            <p:nvSpPr>
              <p:cNvPr id="197664" name="Text Box 32"/>
              <p:cNvSpPr txBox="1">
                <a:spLocks noChangeArrowheads="1"/>
              </p:cNvSpPr>
              <p:nvPr/>
            </p:nvSpPr>
            <p:spPr bwMode="auto">
              <a:xfrm>
                <a:off x="1320" y="2462"/>
                <a:ext cx="192"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latin typeface="Times New Roman" panose="02020603050405020304" pitchFamily="18" charset="0"/>
                  </a:rPr>
                  <a:t>t</a:t>
                </a:r>
                <a:endParaRPr lang="en-GB" altLang="en-US" sz="2000">
                  <a:latin typeface="Times New Roman" panose="02020603050405020304" pitchFamily="18" charset="0"/>
                </a:endParaRPr>
              </a:p>
            </p:txBody>
          </p:sp>
          <p:cxnSp>
            <p:nvCxnSpPr>
              <p:cNvPr id="197665" name="AutoShape 33"/>
              <p:cNvCxnSpPr>
                <a:cxnSpLocks noChangeShapeType="1"/>
                <a:stCxn id="197638" idx="5"/>
                <a:endCxn id="197641" idx="0"/>
              </p:cNvCxnSpPr>
              <p:nvPr/>
            </p:nvCxnSpPr>
            <p:spPr bwMode="auto">
              <a:xfrm>
                <a:off x="1516" y="2944"/>
                <a:ext cx="666" cy="522"/>
              </a:xfrm>
              <a:prstGeom prst="straightConnector1">
                <a:avLst/>
              </a:prstGeom>
              <a:noFill/>
              <a:ln w="63500">
                <a:solidFill>
                  <a:schemeClr val="tx1"/>
                </a:solidFill>
                <a:round/>
                <a:headEnd type="none" w="sm" len="sm"/>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7666" name="Text Box 34"/>
              <p:cNvSpPr txBox="1">
                <a:spLocks noChangeArrowheads="1"/>
              </p:cNvSpPr>
              <p:nvPr/>
            </p:nvSpPr>
            <p:spPr bwMode="auto">
              <a:xfrm>
                <a:off x="1968" y="3147"/>
                <a:ext cx="272"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-4</a:t>
                </a:r>
                <a:endParaRPr lang="en-GB" altLang="en-US" sz="2000">
                  <a:solidFill>
                    <a:srgbClr val="777777"/>
                  </a:solidFill>
                  <a:latin typeface="Times New Roman" panose="02020603050405020304" pitchFamily="18" charset="0"/>
                </a:endParaRPr>
              </a:p>
            </p:txBody>
          </p:sp>
        </p:grpSp>
        <p:sp>
          <p:nvSpPr>
            <p:cNvPr id="197667" name="Text Box 35"/>
            <p:cNvSpPr txBox="1">
              <a:spLocks noChangeArrowheads="1"/>
            </p:cNvSpPr>
            <p:nvPr/>
          </p:nvSpPr>
          <p:spPr bwMode="auto">
            <a:xfrm>
              <a:off x="1715" y="2430"/>
              <a:ext cx="288"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5</a:t>
              </a:r>
              <a:endParaRPr lang="en-GB" altLang="en-US" sz="2000">
                <a:solidFill>
                  <a:srgbClr val="777777"/>
                </a:solidFill>
                <a:latin typeface="Times New Roman" panose="02020603050405020304" pitchFamily="18" charset="0"/>
              </a:endParaRPr>
            </a:p>
          </p:txBody>
        </p:sp>
      </p:grpSp>
    </p:spTree>
    <p:extLst>
      <p:ext uri="{BB962C8B-B14F-4D97-AF65-F5344CB8AC3E}">
        <p14:creationId xmlns:p14="http://schemas.microsoft.com/office/powerpoint/2010/main" val="24994323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r>
              <a:rPr lang="tr-TR" altLang="en-US" sz="3600" b="1">
                <a:solidFill>
                  <a:schemeClr val="accent2"/>
                </a:solidFill>
              </a:rPr>
              <a:t>Bellman-Ford Algorithm</a:t>
            </a:r>
            <a:br>
              <a:rPr lang="en-US" altLang="en-US" sz="3600" b="1">
                <a:solidFill>
                  <a:schemeClr val="accent2"/>
                </a:solidFill>
              </a:rPr>
            </a:br>
            <a:r>
              <a:rPr lang="en-US" altLang="en-US" sz="3600" b="1">
                <a:solidFill>
                  <a:schemeClr val="accent2"/>
                </a:solidFill>
              </a:rPr>
              <a:t>Example</a:t>
            </a:r>
          </a:p>
        </p:txBody>
      </p:sp>
      <p:grpSp>
        <p:nvGrpSpPr>
          <p:cNvPr id="198660" name="Group 4"/>
          <p:cNvGrpSpPr>
            <a:grpSpLocks/>
          </p:cNvGrpSpPr>
          <p:nvPr/>
        </p:nvGrpSpPr>
        <p:grpSpPr bwMode="auto">
          <a:xfrm>
            <a:off x="3352800" y="1905001"/>
            <a:ext cx="4191000" cy="3241675"/>
            <a:chOff x="2691" y="2424"/>
            <a:chExt cx="1968" cy="1461"/>
          </a:xfrm>
        </p:grpSpPr>
        <p:grpSp>
          <p:nvGrpSpPr>
            <p:cNvPr id="198661" name="Group 5"/>
            <p:cNvGrpSpPr>
              <a:grpSpLocks/>
            </p:cNvGrpSpPr>
            <p:nvPr/>
          </p:nvGrpSpPr>
          <p:grpSpPr bwMode="auto">
            <a:xfrm>
              <a:off x="2691" y="2462"/>
              <a:ext cx="1968" cy="1423"/>
              <a:chOff x="2691" y="2462"/>
              <a:chExt cx="1968" cy="1423"/>
            </a:xfrm>
          </p:grpSpPr>
          <p:sp>
            <p:nvSpPr>
              <p:cNvPr id="198662" name="Oval 6"/>
              <p:cNvSpPr>
                <a:spLocks noChangeArrowheads="1"/>
              </p:cNvSpPr>
              <p:nvPr/>
            </p:nvSpPr>
            <p:spPr bwMode="auto">
              <a:xfrm>
                <a:off x="3459" y="2698"/>
                <a:ext cx="288" cy="288"/>
              </a:xfrm>
              <a:prstGeom prst="ellipse">
                <a:avLst/>
              </a:prstGeom>
              <a:solidFill>
                <a:srgbClr val="C0C0C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pPr>
                <a:r>
                  <a:rPr lang="en-GB" altLang="en-US">
                    <a:latin typeface="Symbol" panose="05050102010706020507" pitchFamily="18" charset="2"/>
                  </a:rPr>
                  <a:t>2</a:t>
                </a:r>
              </a:p>
            </p:txBody>
          </p:sp>
          <p:sp>
            <p:nvSpPr>
              <p:cNvPr id="198663" name="Oval 7"/>
              <p:cNvSpPr>
                <a:spLocks noChangeArrowheads="1"/>
              </p:cNvSpPr>
              <p:nvPr/>
            </p:nvSpPr>
            <p:spPr bwMode="auto">
              <a:xfrm>
                <a:off x="4227" y="2698"/>
                <a:ext cx="288" cy="288"/>
              </a:xfrm>
              <a:prstGeom prst="ellipse">
                <a:avLst/>
              </a:prstGeom>
              <a:solidFill>
                <a:srgbClr val="C0C0C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pPr>
                <a:r>
                  <a:rPr lang="en-GB" altLang="en-US">
                    <a:latin typeface="Symbol" panose="05050102010706020507" pitchFamily="18" charset="2"/>
                  </a:rPr>
                  <a:t>4</a:t>
                </a:r>
              </a:p>
            </p:txBody>
          </p:sp>
          <p:sp>
            <p:nvSpPr>
              <p:cNvPr id="198664" name="Oval 8"/>
              <p:cNvSpPr>
                <a:spLocks noChangeArrowheads="1"/>
              </p:cNvSpPr>
              <p:nvPr/>
            </p:nvSpPr>
            <p:spPr bwMode="auto">
              <a:xfrm>
                <a:off x="3459" y="3466"/>
                <a:ext cx="288" cy="288"/>
              </a:xfrm>
              <a:prstGeom prst="ellipse">
                <a:avLst/>
              </a:prstGeom>
              <a:solidFill>
                <a:srgbClr val="C0C0C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pPr>
                <a:r>
                  <a:rPr lang="en-GB" altLang="en-US">
                    <a:latin typeface="Symbol" panose="05050102010706020507" pitchFamily="18" charset="2"/>
                  </a:rPr>
                  <a:t>7</a:t>
                </a:r>
              </a:p>
            </p:txBody>
          </p:sp>
          <p:sp>
            <p:nvSpPr>
              <p:cNvPr id="198665" name="Oval 9"/>
              <p:cNvSpPr>
                <a:spLocks noChangeArrowheads="1"/>
              </p:cNvSpPr>
              <p:nvPr/>
            </p:nvSpPr>
            <p:spPr bwMode="auto">
              <a:xfrm>
                <a:off x="4227" y="3466"/>
                <a:ext cx="288" cy="288"/>
              </a:xfrm>
              <a:prstGeom prst="ellipse">
                <a:avLst/>
              </a:prstGeom>
              <a:solidFill>
                <a:srgbClr val="C0C0C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pPr>
                <a:r>
                  <a:rPr lang="en-GB" altLang="en-US">
                    <a:latin typeface="Symbol" panose="05050102010706020507" pitchFamily="18" charset="2"/>
                  </a:rPr>
                  <a:t>2</a:t>
                </a:r>
              </a:p>
            </p:txBody>
          </p:sp>
          <p:sp>
            <p:nvSpPr>
              <p:cNvPr id="198666" name="Oval 10"/>
              <p:cNvSpPr>
                <a:spLocks noChangeArrowheads="1"/>
              </p:cNvSpPr>
              <p:nvPr/>
            </p:nvSpPr>
            <p:spPr bwMode="auto">
              <a:xfrm>
                <a:off x="2883" y="3082"/>
                <a:ext cx="288" cy="288"/>
              </a:xfrm>
              <a:prstGeom prst="ellipse">
                <a:avLst/>
              </a:prstGeom>
              <a:solidFill>
                <a:srgbClr val="C0C0C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pPr>
                <a:r>
                  <a:rPr lang="en-US" altLang="en-US">
                    <a:latin typeface="Symbol" panose="05050102010706020507" pitchFamily="18" charset="2"/>
                  </a:rPr>
                  <a:t>0</a:t>
                </a:r>
                <a:endParaRPr lang="en-GB" altLang="en-US">
                  <a:latin typeface="Symbol" panose="05050102010706020507" pitchFamily="18" charset="2"/>
                </a:endParaRPr>
              </a:p>
            </p:txBody>
          </p:sp>
          <p:cxnSp>
            <p:nvCxnSpPr>
              <p:cNvPr id="198667" name="AutoShape 11"/>
              <p:cNvCxnSpPr>
                <a:cxnSpLocks noChangeShapeType="1"/>
                <a:stCxn id="198662" idx="3"/>
                <a:endCxn id="198664" idx="1"/>
              </p:cNvCxnSpPr>
              <p:nvPr/>
            </p:nvCxnSpPr>
            <p:spPr bwMode="auto">
              <a:xfrm rot="5400000">
                <a:off x="3219" y="3226"/>
                <a:ext cx="564" cy="0"/>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8668" name="AutoShape 12"/>
              <p:cNvCxnSpPr>
                <a:cxnSpLocks noChangeShapeType="1"/>
                <a:stCxn id="198662" idx="7"/>
                <a:endCxn id="198663" idx="1"/>
              </p:cNvCxnSpPr>
              <p:nvPr/>
            </p:nvCxnSpPr>
            <p:spPr bwMode="auto">
              <a:xfrm rot="5400000" flipV="1">
                <a:off x="3986" y="2459"/>
                <a:ext cx="1" cy="564"/>
              </a:xfrm>
              <a:prstGeom prst="curvedConnector3">
                <a:avLst>
                  <a:gd name="adj1" fmla="val -8900005"/>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8669" name="AutoShape 13"/>
              <p:cNvCxnSpPr>
                <a:cxnSpLocks noChangeShapeType="1"/>
                <a:stCxn id="198664" idx="7"/>
                <a:endCxn id="198663" idx="3"/>
              </p:cNvCxnSpPr>
              <p:nvPr/>
            </p:nvCxnSpPr>
            <p:spPr bwMode="auto">
              <a:xfrm flipV="1">
                <a:off x="3705" y="2944"/>
                <a:ext cx="564" cy="564"/>
              </a:xfrm>
              <a:prstGeom prst="straightConnector1">
                <a:avLst/>
              </a:prstGeom>
              <a:noFill/>
              <a:ln w="63500">
                <a:solidFill>
                  <a:schemeClr val="tx1"/>
                </a:solidFill>
                <a:round/>
                <a:headEnd type="none" w="sm" len="sm"/>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8670" name="AutoShape 14"/>
              <p:cNvCxnSpPr>
                <a:cxnSpLocks noChangeShapeType="1"/>
                <a:stCxn id="198665" idx="7"/>
                <a:endCxn id="198663" idx="5"/>
              </p:cNvCxnSpPr>
              <p:nvPr/>
            </p:nvCxnSpPr>
            <p:spPr bwMode="auto">
              <a:xfrm flipV="1">
                <a:off x="4473" y="2944"/>
                <a:ext cx="0" cy="564"/>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8671" name="AutoShape 15"/>
              <p:cNvCxnSpPr>
                <a:cxnSpLocks noChangeShapeType="1"/>
                <a:stCxn id="198664" idx="6"/>
                <a:endCxn id="198665" idx="2"/>
              </p:cNvCxnSpPr>
              <p:nvPr/>
            </p:nvCxnSpPr>
            <p:spPr bwMode="auto">
              <a:xfrm>
                <a:off x="3747" y="3610"/>
                <a:ext cx="480" cy="0"/>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8672" name="AutoShape 16"/>
              <p:cNvCxnSpPr>
                <a:cxnSpLocks noChangeShapeType="1"/>
                <a:stCxn id="198665" idx="1"/>
                <a:endCxn id="198666" idx="6"/>
              </p:cNvCxnSpPr>
              <p:nvPr/>
            </p:nvCxnSpPr>
            <p:spPr bwMode="auto">
              <a:xfrm flipH="1" flipV="1">
                <a:off x="3171" y="3226"/>
                <a:ext cx="1098" cy="282"/>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8673" name="AutoShape 17"/>
              <p:cNvCxnSpPr>
                <a:cxnSpLocks noChangeShapeType="1"/>
                <a:stCxn id="198666" idx="5"/>
                <a:endCxn id="198664" idx="2"/>
              </p:cNvCxnSpPr>
              <p:nvPr/>
            </p:nvCxnSpPr>
            <p:spPr bwMode="auto">
              <a:xfrm>
                <a:off x="3129" y="3328"/>
                <a:ext cx="330" cy="282"/>
              </a:xfrm>
              <a:prstGeom prst="straightConnector1">
                <a:avLst/>
              </a:prstGeom>
              <a:noFill/>
              <a:ln w="63500">
                <a:solidFill>
                  <a:schemeClr val="tx1"/>
                </a:solidFill>
                <a:round/>
                <a:headEnd type="none" w="sm" len="sm"/>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8674" name="AutoShape 18"/>
              <p:cNvCxnSpPr>
                <a:cxnSpLocks noChangeShapeType="1"/>
                <a:stCxn id="198666" idx="7"/>
                <a:endCxn id="198662" idx="2"/>
              </p:cNvCxnSpPr>
              <p:nvPr/>
            </p:nvCxnSpPr>
            <p:spPr bwMode="auto">
              <a:xfrm flipV="1">
                <a:off x="3129" y="2842"/>
                <a:ext cx="330" cy="282"/>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8675" name="Text Box 19"/>
              <p:cNvSpPr txBox="1">
                <a:spLocks noChangeArrowheads="1"/>
              </p:cNvSpPr>
              <p:nvPr/>
            </p:nvSpPr>
            <p:spPr bwMode="auto">
              <a:xfrm>
                <a:off x="2691" y="3082"/>
                <a:ext cx="192"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latin typeface="Times New Roman" panose="02020603050405020304" pitchFamily="18" charset="0"/>
                  </a:rPr>
                  <a:t>s</a:t>
                </a:r>
                <a:endParaRPr lang="en-GB" altLang="en-US" sz="2000">
                  <a:latin typeface="Times New Roman" panose="02020603050405020304" pitchFamily="18" charset="0"/>
                </a:endParaRPr>
              </a:p>
            </p:txBody>
          </p:sp>
          <p:sp>
            <p:nvSpPr>
              <p:cNvPr id="198676" name="Text Box 20"/>
              <p:cNvSpPr txBox="1">
                <a:spLocks noChangeArrowheads="1"/>
              </p:cNvSpPr>
              <p:nvPr/>
            </p:nvSpPr>
            <p:spPr bwMode="auto">
              <a:xfrm>
                <a:off x="4275" y="3706"/>
                <a:ext cx="192"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latin typeface="Times New Roman" panose="02020603050405020304" pitchFamily="18" charset="0"/>
                  </a:rPr>
                  <a:t>z</a:t>
                </a:r>
                <a:endParaRPr lang="en-GB" altLang="en-US" sz="2000">
                  <a:latin typeface="Times New Roman" panose="02020603050405020304" pitchFamily="18" charset="0"/>
                </a:endParaRPr>
              </a:p>
            </p:txBody>
          </p:sp>
          <p:sp>
            <p:nvSpPr>
              <p:cNvPr id="198677" name="Text Box 21"/>
              <p:cNvSpPr txBox="1">
                <a:spLocks noChangeArrowheads="1"/>
              </p:cNvSpPr>
              <p:nvPr/>
            </p:nvSpPr>
            <p:spPr bwMode="auto">
              <a:xfrm>
                <a:off x="3507" y="3706"/>
                <a:ext cx="192"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latin typeface="Times New Roman" panose="02020603050405020304" pitchFamily="18" charset="0"/>
                  </a:rPr>
                  <a:t>y</a:t>
                </a:r>
                <a:endParaRPr lang="en-GB" altLang="en-US" sz="2000">
                  <a:latin typeface="Times New Roman" panose="02020603050405020304" pitchFamily="18" charset="0"/>
                </a:endParaRPr>
              </a:p>
            </p:txBody>
          </p:sp>
          <p:sp>
            <p:nvSpPr>
              <p:cNvPr id="198678" name="Text Box 22"/>
              <p:cNvSpPr txBox="1">
                <a:spLocks noChangeArrowheads="1"/>
              </p:cNvSpPr>
              <p:nvPr/>
            </p:nvSpPr>
            <p:spPr bwMode="auto">
              <a:xfrm>
                <a:off x="3075" y="2746"/>
                <a:ext cx="288"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6</a:t>
                </a:r>
                <a:endParaRPr lang="en-GB" altLang="en-US" sz="2000">
                  <a:solidFill>
                    <a:srgbClr val="777777"/>
                  </a:solidFill>
                  <a:latin typeface="Times New Roman" panose="02020603050405020304" pitchFamily="18" charset="0"/>
                </a:endParaRPr>
              </a:p>
            </p:txBody>
          </p:sp>
          <p:sp>
            <p:nvSpPr>
              <p:cNvPr id="198679" name="Text Box 23"/>
              <p:cNvSpPr txBox="1">
                <a:spLocks noChangeArrowheads="1"/>
              </p:cNvSpPr>
              <p:nvPr/>
            </p:nvSpPr>
            <p:spPr bwMode="auto">
              <a:xfrm>
                <a:off x="3075" y="3370"/>
                <a:ext cx="288"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7</a:t>
                </a:r>
                <a:endParaRPr lang="en-GB" altLang="en-US" sz="2000">
                  <a:solidFill>
                    <a:srgbClr val="777777"/>
                  </a:solidFill>
                  <a:latin typeface="Times New Roman" panose="02020603050405020304" pitchFamily="18" charset="0"/>
                </a:endParaRPr>
              </a:p>
            </p:txBody>
          </p:sp>
          <p:sp>
            <p:nvSpPr>
              <p:cNvPr id="198680" name="Text Box 24"/>
              <p:cNvSpPr txBox="1">
                <a:spLocks noChangeArrowheads="1"/>
              </p:cNvSpPr>
              <p:nvPr/>
            </p:nvSpPr>
            <p:spPr bwMode="auto">
              <a:xfrm>
                <a:off x="3315" y="3034"/>
                <a:ext cx="192"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8</a:t>
                </a:r>
                <a:endParaRPr lang="en-GB" altLang="en-US" sz="2000">
                  <a:solidFill>
                    <a:srgbClr val="777777"/>
                  </a:solidFill>
                  <a:latin typeface="Times New Roman" panose="02020603050405020304" pitchFamily="18" charset="0"/>
                </a:endParaRPr>
              </a:p>
            </p:txBody>
          </p:sp>
          <p:sp>
            <p:nvSpPr>
              <p:cNvPr id="198681" name="Text Box 25"/>
              <p:cNvSpPr txBox="1">
                <a:spLocks noChangeArrowheads="1"/>
              </p:cNvSpPr>
              <p:nvPr/>
            </p:nvSpPr>
            <p:spPr bwMode="auto">
              <a:xfrm>
                <a:off x="3944" y="2891"/>
                <a:ext cx="272"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-3</a:t>
                </a:r>
                <a:endParaRPr lang="en-GB" altLang="en-US" sz="2000">
                  <a:solidFill>
                    <a:srgbClr val="777777"/>
                  </a:solidFill>
                  <a:latin typeface="Times New Roman" panose="02020603050405020304" pitchFamily="18" charset="0"/>
                </a:endParaRPr>
              </a:p>
            </p:txBody>
          </p:sp>
          <p:sp>
            <p:nvSpPr>
              <p:cNvPr id="198682" name="Text Box 26"/>
              <p:cNvSpPr txBox="1">
                <a:spLocks noChangeArrowheads="1"/>
              </p:cNvSpPr>
              <p:nvPr/>
            </p:nvSpPr>
            <p:spPr bwMode="auto">
              <a:xfrm>
                <a:off x="4467" y="3130"/>
                <a:ext cx="192"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7</a:t>
                </a:r>
                <a:endParaRPr lang="en-GB" altLang="en-US" sz="2000">
                  <a:solidFill>
                    <a:srgbClr val="777777"/>
                  </a:solidFill>
                  <a:latin typeface="Times New Roman" panose="02020603050405020304" pitchFamily="18" charset="0"/>
                </a:endParaRPr>
              </a:p>
            </p:txBody>
          </p:sp>
          <p:sp>
            <p:nvSpPr>
              <p:cNvPr id="198683" name="Text Box 27"/>
              <p:cNvSpPr txBox="1">
                <a:spLocks noChangeArrowheads="1"/>
              </p:cNvSpPr>
              <p:nvPr/>
            </p:nvSpPr>
            <p:spPr bwMode="auto">
              <a:xfrm>
                <a:off x="3969" y="3238"/>
                <a:ext cx="192"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2</a:t>
                </a:r>
                <a:endParaRPr lang="en-GB" altLang="en-US" sz="2000">
                  <a:solidFill>
                    <a:srgbClr val="777777"/>
                  </a:solidFill>
                  <a:latin typeface="Times New Roman" panose="02020603050405020304" pitchFamily="18" charset="0"/>
                </a:endParaRPr>
              </a:p>
            </p:txBody>
          </p:sp>
          <p:sp>
            <p:nvSpPr>
              <p:cNvPr id="198684" name="Text Box 28"/>
              <p:cNvSpPr txBox="1">
                <a:spLocks noChangeArrowheads="1"/>
              </p:cNvSpPr>
              <p:nvPr/>
            </p:nvSpPr>
            <p:spPr bwMode="auto">
              <a:xfrm>
                <a:off x="3891" y="3562"/>
                <a:ext cx="192"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9</a:t>
                </a:r>
                <a:endParaRPr lang="en-GB" altLang="en-US" sz="2000">
                  <a:solidFill>
                    <a:srgbClr val="777777"/>
                  </a:solidFill>
                  <a:latin typeface="Times New Roman" panose="02020603050405020304" pitchFamily="18" charset="0"/>
                </a:endParaRPr>
              </a:p>
            </p:txBody>
          </p:sp>
          <p:cxnSp>
            <p:nvCxnSpPr>
              <p:cNvPr id="198685" name="AutoShape 29"/>
              <p:cNvCxnSpPr>
                <a:cxnSpLocks noChangeShapeType="1"/>
                <a:stCxn id="198663" idx="2"/>
                <a:endCxn id="198662" idx="6"/>
              </p:cNvCxnSpPr>
              <p:nvPr/>
            </p:nvCxnSpPr>
            <p:spPr bwMode="auto">
              <a:xfrm rot="10800000">
                <a:off x="3747" y="2842"/>
                <a:ext cx="480" cy="0"/>
              </a:xfrm>
              <a:prstGeom prst="straightConnector1">
                <a:avLst/>
              </a:prstGeom>
              <a:noFill/>
              <a:ln w="63500">
                <a:solidFill>
                  <a:schemeClr val="tx1"/>
                </a:solidFill>
                <a:round/>
                <a:headEnd type="none" w="sm" len="sm"/>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8686" name="Text Box 30"/>
              <p:cNvSpPr txBox="1">
                <a:spLocks noChangeArrowheads="1"/>
              </p:cNvSpPr>
              <p:nvPr/>
            </p:nvSpPr>
            <p:spPr bwMode="auto">
              <a:xfrm>
                <a:off x="3900" y="2635"/>
                <a:ext cx="288"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-2</a:t>
                </a:r>
                <a:endParaRPr lang="en-GB" altLang="en-US" sz="2000">
                  <a:solidFill>
                    <a:srgbClr val="777777"/>
                  </a:solidFill>
                  <a:latin typeface="Times New Roman" panose="02020603050405020304" pitchFamily="18" charset="0"/>
                </a:endParaRPr>
              </a:p>
            </p:txBody>
          </p:sp>
          <p:sp>
            <p:nvSpPr>
              <p:cNvPr id="198687" name="Text Box 31"/>
              <p:cNvSpPr txBox="1">
                <a:spLocks noChangeArrowheads="1"/>
              </p:cNvSpPr>
              <p:nvPr/>
            </p:nvSpPr>
            <p:spPr bwMode="auto">
              <a:xfrm>
                <a:off x="4287" y="2468"/>
                <a:ext cx="192"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latin typeface="Times New Roman" panose="02020603050405020304" pitchFamily="18" charset="0"/>
                  </a:rPr>
                  <a:t>x</a:t>
                </a:r>
                <a:endParaRPr lang="en-GB" altLang="en-US" sz="2000">
                  <a:latin typeface="Times New Roman" panose="02020603050405020304" pitchFamily="18" charset="0"/>
                </a:endParaRPr>
              </a:p>
            </p:txBody>
          </p:sp>
          <p:sp>
            <p:nvSpPr>
              <p:cNvPr id="198688" name="Text Box 32"/>
              <p:cNvSpPr txBox="1">
                <a:spLocks noChangeArrowheads="1"/>
              </p:cNvSpPr>
              <p:nvPr/>
            </p:nvSpPr>
            <p:spPr bwMode="auto">
              <a:xfrm>
                <a:off x="3509" y="2462"/>
                <a:ext cx="192"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latin typeface="Times New Roman" panose="02020603050405020304" pitchFamily="18" charset="0"/>
                  </a:rPr>
                  <a:t>t</a:t>
                </a:r>
                <a:endParaRPr lang="en-GB" altLang="en-US" sz="2000">
                  <a:latin typeface="Times New Roman" panose="02020603050405020304" pitchFamily="18" charset="0"/>
                </a:endParaRPr>
              </a:p>
            </p:txBody>
          </p:sp>
          <p:cxnSp>
            <p:nvCxnSpPr>
              <p:cNvPr id="198689" name="AutoShape 33"/>
              <p:cNvCxnSpPr>
                <a:cxnSpLocks noChangeShapeType="1"/>
                <a:stCxn id="198662" idx="5"/>
                <a:endCxn id="198665" idx="0"/>
              </p:cNvCxnSpPr>
              <p:nvPr/>
            </p:nvCxnSpPr>
            <p:spPr bwMode="auto">
              <a:xfrm>
                <a:off x="3705" y="2944"/>
                <a:ext cx="666" cy="522"/>
              </a:xfrm>
              <a:prstGeom prst="straightConnector1">
                <a:avLst/>
              </a:prstGeom>
              <a:noFill/>
              <a:ln w="63500">
                <a:solidFill>
                  <a:schemeClr val="tx1"/>
                </a:solidFill>
                <a:round/>
                <a:headEnd type="none" w="sm" len="sm"/>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8690" name="Text Box 34"/>
              <p:cNvSpPr txBox="1">
                <a:spLocks noChangeArrowheads="1"/>
              </p:cNvSpPr>
              <p:nvPr/>
            </p:nvSpPr>
            <p:spPr bwMode="auto">
              <a:xfrm>
                <a:off x="4157" y="3147"/>
                <a:ext cx="272"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-4</a:t>
                </a:r>
                <a:endParaRPr lang="en-GB" altLang="en-US" sz="2000">
                  <a:solidFill>
                    <a:srgbClr val="777777"/>
                  </a:solidFill>
                  <a:latin typeface="Times New Roman" panose="02020603050405020304" pitchFamily="18" charset="0"/>
                </a:endParaRPr>
              </a:p>
            </p:txBody>
          </p:sp>
        </p:grpSp>
        <p:sp>
          <p:nvSpPr>
            <p:cNvPr id="198691" name="Text Box 35"/>
            <p:cNvSpPr txBox="1">
              <a:spLocks noChangeArrowheads="1"/>
            </p:cNvSpPr>
            <p:nvPr/>
          </p:nvSpPr>
          <p:spPr bwMode="auto">
            <a:xfrm>
              <a:off x="3898" y="2424"/>
              <a:ext cx="288"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5</a:t>
              </a:r>
              <a:endParaRPr lang="en-GB" altLang="en-US" sz="2000">
                <a:solidFill>
                  <a:srgbClr val="777777"/>
                </a:solidFill>
                <a:latin typeface="Times New Roman" panose="02020603050405020304" pitchFamily="18" charset="0"/>
              </a:endParaRPr>
            </a:p>
          </p:txBody>
        </p:sp>
      </p:grpSp>
    </p:spTree>
    <p:extLst>
      <p:ext uri="{BB962C8B-B14F-4D97-AF65-F5344CB8AC3E}">
        <p14:creationId xmlns:p14="http://schemas.microsoft.com/office/powerpoint/2010/main" val="16122561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r>
              <a:rPr lang="tr-TR" altLang="en-US" sz="3600" b="1">
                <a:solidFill>
                  <a:schemeClr val="accent2"/>
                </a:solidFill>
              </a:rPr>
              <a:t>Bellman-Ford Algorithm</a:t>
            </a:r>
            <a:br>
              <a:rPr lang="en-US" altLang="en-US" sz="3600" b="1">
                <a:solidFill>
                  <a:schemeClr val="accent2"/>
                </a:solidFill>
              </a:rPr>
            </a:br>
            <a:r>
              <a:rPr lang="en-US" altLang="en-US" sz="3600" b="1">
                <a:solidFill>
                  <a:schemeClr val="accent2"/>
                </a:solidFill>
              </a:rPr>
              <a:t>Example</a:t>
            </a:r>
          </a:p>
        </p:txBody>
      </p:sp>
      <p:grpSp>
        <p:nvGrpSpPr>
          <p:cNvPr id="199714" name="Group 34"/>
          <p:cNvGrpSpPr>
            <a:grpSpLocks/>
          </p:cNvGrpSpPr>
          <p:nvPr/>
        </p:nvGrpSpPr>
        <p:grpSpPr bwMode="auto">
          <a:xfrm>
            <a:off x="3429000" y="1916114"/>
            <a:ext cx="4114800" cy="3189287"/>
            <a:chOff x="470" y="1010"/>
            <a:chExt cx="1968" cy="1445"/>
          </a:xfrm>
        </p:grpSpPr>
        <p:grpSp>
          <p:nvGrpSpPr>
            <p:cNvPr id="199715" name="Group 35"/>
            <p:cNvGrpSpPr>
              <a:grpSpLocks/>
            </p:cNvGrpSpPr>
            <p:nvPr/>
          </p:nvGrpSpPr>
          <p:grpSpPr bwMode="auto">
            <a:xfrm>
              <a:off x="470" y="1031"/>
              <a:ext cx="1968" cy="1424"/>
              <a:chOff x="478" y="1127"/>
              <a:chExt cx="1968" cy="1424"/>
            </a:xfrm>
          </p:grpSpPr>
          <p:sp>
            <p:nvSpPr>
              <p:cNvPr id="199716" name="Oval 36"/>
              <p:cNvSpPr>
                <a:spLocks noChangeArrowheads="1"/>
              </p:cNvSpPr>
              <p:nvPr/>
            </p:nvSpPr>
            <p:spPr bwMode="auto">
              <a:xfrm>
                <a:off x="1246" y="1363"/>
                <a:ext cx="288" cy="288"/>
              </a:xfrm>
              <a:prstGeom prst="ellipse">
                <a:avLst/>
              </a:prstGeom>
              <a:solidFill>
                <a:srgbClr val="C0C0C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pPr>
                <a:r>
                  <a:rPr lang="en-GB" altLang="en-US">
                    <a:latin typeface="Symbol" panose="05050102010706020507" pitchFamily="18" charset="2"/>
                  </a:rPr>
                  <a:t>2</a:t>
                </a:r>
              </a:p>
            </p:txBody>
          </p:sp>
          <p:sp>
            <p:nvSpPr>
              <p:cNvPr id="199717" name="Oval 37"/>
              <p:cNvSpPr>
                <a:spLocks noChangeArrowheads="1"/>
              </p:cNvSpPr>
              <p:nvPr/>
            </p:nvSpPr>
            <p:spPr bwMode="auto">
              <a:xfrm>
                <a:off x="2014" y="1363"/>
                <a:ext cx="288" cy="288"/>
              </a:xfrm>
              <a:prstGeom prst="ellipse">
                <a:avLst/>
              </a:prstGeom>
              <a:solidFill>
                <a:srgbClr val="C0C0C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pPr>
                <a:r>
                  <a:rPr lang="en-GB" altLang="en-US">
                    <a:latin typeface="Symbol" panose="05050102010706020507" pitchFamily="18" charset="2"/>
                  </a:rPr>
                  <a:t>4</a:t>
                </a:r>
              </a:p>
            </p:txBody>
          </p:sp>
          <p:sp>
            <p:nvSpPr>
              <p:cNvPr id="199718" name="Oval 38"/>
              <p:cNvSpPr>
                <a:spLocks noChangeArrowheads="1"/>
              </p:cNvSpPr>
              <p:nvPr/>
            </p:nvSpPr>
            <p:spPr bwMode="auto">
              <a:xfrm>
                <a:off x="1246" y="2131"/>
                <a:ext cx="288" cy="288"/>
              </a:xfrm>
              <a:prstGeom prst="ellipse">
                <a:avLst/>
              </a:prstGeom>
              <a:solidFill>
                <a:srgbClr val="C0C0C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pPr>
                <a:r>
                  <a:rPr lang="en-GB" altLang="en-US">
                    <a:latin typeface="Symbol" panose="05050102010706020507" pitchFamily="18" charset="2"/>
                  </a:rPr>
                  <a:t>7</a:t>
                </a:r>
              </a:p>
            </p:txBody>
          </p:sp>
          <p:sp>
            <p:nvSpPr>
              <p:cNvPr id="199719" name="Oval 39"/>
              <p:cNvSpPr>
                <a:spLocks noChangeArrowheads="1"/>
              </p:cNvSpPr>
              <p:nvPr/>
            </p:nvSpPr>
            <p:spPr bwMode="auto">
              <a:xfrm>
                <a:off x="2014" y="2131"/>
                <a:ext cx="288" cy="288"/>
              </a:xfrm>
              <a:prstGeom prst="ellipse">
                <a:avLst/>
              </a:prstGeom>
              <a:solidFill>
                <a:srgbClr val="C0C0C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pPr>
                <a:r>
                  <a:rPr lang="en-GB" altLang="en-US">
                    <a:latin typeface="Symbol" panose="05050102010706020507" pitchFamily="18" charset="2"/>
                  </a:rPr>
                  <a:t>-2</a:t>
                </a:r>
              </a:p>
            </p:txBody>
          </p:sp>
          <p:sp>
            <p:nvSpPr>
              <p:cNvPr id="199720" name="Oval 40"/>
              <p:cNvSpPr>
                <a:spLocks noChangeArrowheads="1"/>
              </p:cNvSpPr>
              <p:nvPr/>
            </p:nvSpPr>
            <p:spPr bwMode="auto">
              <a:xfrm>
                <a:off x="670" y="1747"/>
                <a:ext cx="288" cy="288"/>
              </a:xfrm>
              <a:prstGeom prst="ellipse">
                <a:avLst/>
              </a:prstGeom>
              <a:solidFill>
                <a:srgbClr val="C0C0C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pPr>
                <a:r>
                  <a:rPr lang="en-US" altLang="en-US">
                    <a:latin typeface="Symbol" panose="05050102010706020507" pitchFamily="18" charset="2"/>
                  </a:rPr>
                  <a:t>0</a:t>
                </a:r>
                <a:endParaRPr lang="en-GB" altLang="en-US">
                  <a:latin typeface="Symbol" panose="05050102010706020507" pitchFamily="18" charset="2"/>
                </a:endParaRPr>
              </a:p>
            </p:txBody>
          </p:sp>
          <p:cxnSp>
            <p:nvCxnSpPr>
              <p:cNvPr id="199721" name="AutoShape 41"/>
              <p:cNvCxnSpPr>
                <a:cxnSpLocks noChangeShapeType="1"/>
                <a:stCxn id="199716" idx="3"/>
                <a:endCxn id="199718" idx="1"/>
              </p:cNvCxnSpPr>
              <p:nvPr/>
            </p:nvCxnSpPr>
            <p:spPr bwMode="auto">
              <a:xfrm rot="5400000">
                <a:off x="1006" y="1891"/>
                <a:ext cx="564" cy="0"/>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9722" name="AutoShape 42"/>
              <p:cNvCxnSpPr>
                <a:cxnSpLocks noChangeShapeType="1"/>
                <a:stCxn id="199716" idx="7"/>
                <a:endCxn id="199717" idx="1"/>
              </p:cNvCxnSpPr>
              <p:nvPr/>
            </p:nvCxnSpPr>
            <p:spPr bwMode="auto">
              <a:xfrm rot="5400000" flipV="1">
                <a:off x="1773" y="1124"/>
                <a:ext cx="1" cy="564"/>
              </a:xfrm>
              <a:prstGeom prst="curvedConnector3">
                <a:avLst>
                  <a:gd name="adj1" fmla="val -8900005"/>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9723" name="AutoShape 43"/>
              <p:cNvCxnSpPr>
                <a:cxnSpLocks noChangeShapeType="1"/>
                <a:stCxn id="199718" idx="7"/>
                <a:endCxn id="199717" idx="3"/>
              </p:cNvCxnSpPr>
              <p:nvPr/>
            </p:nvCxnSpPr>
            <p:spPr bwMode="auto">
              <a:xfrm flipV="1">
                <a:off x="1492" y="1609"/>
                <a:ext cx="564" cy="564"/>
              </a:xfrm>
              <a:prstGeom prst="straightConnector1">
                <a:avLst/>
              </a:prstGeom>
              <a:noFill/>
              <a:ln w="63500">
                <a:solidFill>
                  <a:schemeClr val="tx1"/>
                </a:solidFill>
                <a:round/>
                <a:headEnd type="none" w="sm" len="sm"/>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9724" name="AutoShape 44"/>
              <p:cNvCxnSpPr>
                <a:cxnSpLocks noChangeShapeType="1"/>
                <a:stCxn id="199719" idx="7"/>
                <a:endCxn id="199717" idx="5"/>
              </p:cNvCxnSpPr>
              <p:nvPr/>
            </p:nvCxnSpPr>
            <p:spPr bwMode="auto">
              <a:xfrm flipV="1">
                <a:off x="2260" y="1609"/>
                <a:ext cx="0" cy="564"/>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9725" name="AutoShape 45"/>
              <p:cNvCxnSpPr>
                <a:cxnSpLocks noChangeShapeType="1"/>
                <a:stCxn id="199718" idx="6"/>
                <a:endCxn id="199719" idx="2"/>
              </p:cNvCxnSpPr>
              <p:nvPr/>
            </p:nvCxnSpPr>
            <p:spPr bwMode="auto">
              <a:xfrm>
                <a:off x="1534" y="2275"/>
                <a:ext cx="480" cy="0"/>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9726" name="AutoShape 46"/>
              <p:cNvCxnSpPr>
                <a:cxnSpLocks noChangeShapeType="1"/>
                <a:stCxn id="199719" idx="1"/>
                <a:endCxn id="199720" idx="6"/>
              </p:cNvCxnSpPr>
              <p:nvPr/>
            </p:nvCxnSpPr>
            <p:spPr bwMode="auto">
              <a:xfrm flipH="1" flipV="1">
                <a:off x="958" y="1891"/>
                <a:ext cx="1098" cy="282"/>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9727" name="AutoShape 47"/>
              <p:cNvCxnSpPr>
                <a:cxnSpLocks noChangeShapeType="1"/>
                <a:stCxn id="199720" idx="5"/>
                <a:endCxn id="199718" idx="2"/>
              </p:cNvCxnSpPr>
              <p:nvPr/>
            </p:nvCxnSpPr>
            <p:spPr bwMode="auto">
              <a:xfrm>
                <a:off x="916" y="1993"/>
                <a:ext cx="330" cy="282"/>
              </a:xfrm>
              <a:prstGeom prst="straightConnector1">
                <a:avLst/>
              </a:prstGeom>
              <a:noFill/>
              <a:ln w="63500">
                <a:solidFill>
                  <a:schemeClr val="tx1"/>
                </a:solidFill>
                <a:round/>
                <a:headEnd type="none" w="sm" len="sm"/>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9728" name="AutoShape 48"/>
              <p:cNvCxnSpPr>
                <a:cxnSpLocks noChangeShapeType="1"/>
                <a:stCxn id="199720" idx="7"/>
                <a:endCxn id="199716" idx="2"/>
              </p:cNvCxnSpPr>
              <p:nvPr/>
            </p:nvCxnSpPr>
            <p:spPr bwMode="auto">
              <a:xfrm flipV="1">
                <a:off x="916" y="1507"/>
                <a:ext cx="330" cy="282"/>
              </a:xfrm>
              <a:prstGeom prst="straightConnector1">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9729" name="Text Box 49"/>
              <p:cNvSpPr txBox="1">
                <a:spLocks noChangeArrowheads="1"/>
              </p:cNvSpPr>
              <p:nvPr/>
            </p:nvSpPr>
            <p:spPr bwMode="auto">
              <a:xfrm>
                <a:off x="478" y="1747"/>
                <a:ext cx="192"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latin typeface="Times New Roman" panose="02020603050405020304" pitchFamily="18" charset="0"/>
                  </a:rPr>
                  <a:t>s</a:t>
                </a:r>
                <a:endParaRPr lang="en-GB" altLang="en-US" sz="2000">
                  <a:latin typeface="Times New Roman" panose="02020603050405020304" pitchFamily="18" charset="0"/>
                </a:endParaRPr>
              </a:p>
            </p:txBody>
          </p:sp>
          <p:sp>
            <p:nvSpPr>
              <p:cNvPr id="199730" name="Text Box 50"/>
              <p:cNvSpPr txBox="1">
                <a:spLocks noChangeArrowheads="1"/>
              </p:cNvSpPr>
              <p:nvPr/>
            </p:nvSpPr>
            <p:spPr bwMode="auto">
              <a:xfrm>
                <a:off x="2062" y="2371"/>
                <a:ext cx="192"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latin typeface="Times New Roman" panose="02020603050405020304" pitchFamily="18" charset="0"/>
                  </a:rPr>
                  <a:t>z</a:t>
                </a:r>
                <a:endParaRPr lang="en-GB" altLang="en-US" sz="2000">
                  <a:latin typeface="Times New Roman" panose="02020603050405020304" pitchFamily="18" charset="0"/>
                </a:endParaRPr>
              </a:p>
            </p:txBody>
          </p:sp>
          <p:sp>
            <p:nvSpPr>
              <p:cNvPr id="199731" name="Text Box 51"/>
              <p:cNvSpPr txBox="1">
                <a:spLocks noChangeArrowheads="1"/>
              </p:cNvSpPr>
              <p:nvPr/>
            </p:nvSpPr>
            <p:spPr bwMode="auto">
              <a:xfrm>
                <a:off x="1294" y="2371"/>
                <a:ext cx="192"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latin typeface="Times New Roman" panose="02020603050405020304" pitchFamily="18" charset="0"/>
                  </a:rPr>
                  <a:t>y</a:t>
                </a:r>
                <a:endParaRPr lang="en-GB" altLang="en-US" sz="2000">
                  <a:latin typeface="Times New Roman" panose="02020603050405020304" pitchFamily="18" charset="0"/>
                </a:endParaRPr>
              </a:p>
            </p:txBody>
          </p:sp>
          <p:sp>
            <p:nvSpPr>
              <p:cNvPr id="199732" name="Text Box 52"/>
              <p:cNvSpPr txBox="1">
                <a:spLocks noChangeArrowheads="1"/>
              </p:cNvSpPr>
              <p:nvPr/>
            </p:nvSpPr>
            <p:spPr bwMode="auto">
              <a:xfrm>
                <a:off x="862" y="1411"/>
                <a:ext cx="288"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6</a:t>
                </a:r>
                <a:endParaRPr lang="en-GB" altLang="en-US" sz="2000">
                  <a:solidFill>
                    <a:srgbClr val="777777"/>
                  </a:solidFill>
                  <a:latin typeface="Times New Roman" panose="02020603050405020304" pitchFamily="18" charset="0"/>
                </a:endParaRPr>
              </a:p>
            </p:txBody>
          </p:sp>
          <p:sp>
            <p:nvSpPr>
              <p:cNvPr id="199733" name="Text Box 53"/>
              <p:cNvSpPr txBox="1">
                <a:spLocks noChangeArrowheads="1"/>
              </p:cNvSpPr>
              <p:nvPr/>
            </p:nvSpPr>
            <p:spPr bwMode="auto">
              <a:xfrm>
                <a:off x="862" y="2035"/>
                <a:ext cx="288"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7</a:t>
                </a:r>
                <a:endParaRPr lang="en-GB" altLang="en-US" sz="2000">
                  <a:solidFill>
                    <a:srgbClr val="777777"/>
                  </a:solidFill>
                  <a:latin typeface="Times New Roman" panose="02020603050405020304" pitchFamily="18" charset="0"/>
                </a:endParaRPr>
              </a:p>
            </p:txBody>
          </p:sp>
          <p:sp>
            <p:nvSpPr>
              <p:cNvPr id="199734" name="Text Box 54"/>
              <p:cNvSpPr txBox="1">
                <a:spLocks noChangeArrowheads="1"/>
              </p:cNvSpPr>
              <p:nvPr/>
            </p:nvSpPr>
            <p:spPr bwMode="auto">
              <a:xfrm>
                <a:off x="1102" y="1699"/>
                <a:ext cx="192"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8</a:t>
                </a:r>
                <a:endParaRPr lang="en-GB" altLang="en-US" sz="2000">
                  <a:solidFill>
                    <a:srgbClr val="777777"/>
                  </a:solidFill>
                  <a:latin typeface="Times New Roman" panose="02020603050405020304" pitchFamily="18" charset="0"/>
                </a:endParaRPr>
              </a:p>
            </p:txBody>
          </p:sp>
          <p:sp>
            <p:nvSpPr>
              <p:cNvPr id="199735" name="Text Box 55"/>
              <p:cNvSpPr txBox="1">
                <a:spLocks noChangeArrowheads="1"/>
              </p:cNvSpPr>
              <p:nvPr/>
            </p:nvSpPr>
            <p:spPr bwMode="auto">
              <a:xfrm>
                <a:off x="1731" y="1556"/>
                <a:ext cx="272"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-3</a:t>
                </a:r>
                <a:endParaRPr lang="en-GB" altLang="en-US" sz="2000">
                  <a:solidFill>
                    <a:srgbClr val="777777"/>
                  </a:solidFill>
                  <a:latin typeface="Times New Roman" panose="02020603050405020304" pitchFamily="18" charset="0"/>
                </a:endParaRPr>
              </a:p>
            </p:txBody>
          </p:sp>
          <p:sp>
            <p:nvSpPr>
              <p:cNvPr id="199736" name="Text Box 56"/>
              <p:cNvSpPr txBox="1">
                <a:spLocks noChangeArrowheads="1"/>
              </p:cNvSpPr>
              <p:nvPr/>
            </p:nvSpPr>
            <p:spPr bwMode="auto">
              <a:xfrm>
                <a:off x="2254" y="1795"/>
                <a:ext cx="192"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7</a:t>
                </a:r>
                <a:endParaRPr lang="en-GB" altLang="en-US" sz="2000">
                  <a:solidFill>
                    <a:srgbClr val="777777"/>
                  </a:solidFill>
                  <a:latin typeface="Times New Roman" panose="02020603050405020304" pitchFamily="18" charset="0"/>
                </a:endParaRPr>
              </a:p>
            </p:txBody>
          </p:sp>
          <p:sp>
            <p:nvSpPr>
              <p:cNvPr id="199737" name="Text Box 57"/>
              <p:cNvSpPr txBox="1">
                <a:spLocks noChangeArrowheads="1"/>
              </p:cNvSpPr>
              <p:nvPr/>
            </p:nvSpPr>
            <p:spPr bwMode="auto">
              <a:xfrm>
                <a:off x="1756" y="1903"/>
                <a:ext cx="192"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2</a:t>
                </a:r>
                <a:endParaRPr lang="en-GB" altLang="en-US" sz="2000">
                  <a:solidFill>
                    <a:srgbClr val="777777"/>
                  </a:solidFill>
                  <a:latin typeface="Times New Roman" panose="02020603050405020304" pitchFamily="18" charset="0"/>
                </a:endParaRPr>
              </a:p>
            </p:txBody>
          </p:sp>
          <p:sp>
            <p:nvSpPr>
              <p:cNvPr id="199738" name="Text Box 58"/>
              <p:cNvSpPr txBox="1">
                <a:spLocks noChangeArrowheads="1"/>
              </p:cNvSpPr>
              <p:nvPr/>
            </p:nvSpPr>
            <p:spPr bwMode="auto">
              <a:xfrm>
                <a:off x="1678" y="2227"/>
                <a:ext cx="192"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9</a:t>
                </a:r>
                <a:endParaRPr lang="en-GB" altLang="en-US" sz="2000">
                  <a:solidFill>
                    <a:srgbClr val="777777"/>
                  </a:solidFill>
                  <a:latin typeface="Times New Roman" panose="02020603050405020304" pitchFamily="18" charset="0"/>
                </a:endParaRPr>
              </a:p>
            </p:txBody>
          </p:sp>
          <p:cxnSp>
            <p:nvCxnSpPr>
              <p:cNvPr id="199739" name="AutoShape 59"/>
              <p:cNvCxnSpPr>
                <a:cxnSpLocks noChangeShapeType="1"/>
                <a:stCxn id="199717" idx="2"/>
                <a:endCxn id="199716" idx="6"/>
              </p:cNvCxnSpPr>
              <p:nvPr/>
            </p:nvCxnSpPr>
            <p:spPr bwMode="auto">
              <a:xfrm rot="10800000">
                <a:off x="1534" y="1507"/>
                <a:ext cx="480" cy="0"/>
              </a:xfrm>
              <a:prstGeom prst="straightConnector1">
                <a:avLst/>
              </a:prstGeom>
              <a:noFill/>
              <a:ln w="63500">
                <a:solidFill>
                  <a:schemeClr val="tx1"/>
                </a:solidFill>
                <a:round/>
                <a:headEnd type="none" w="sm" len="sm"/>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9740" name="Text Box 60"/>
              <p:cNvSpPr txBox="1">
                <a:spLocks noChangeArrowheads="1"/>
              </p:cNvSpPr>
              <p:nvPr/>
            </p:nvSpPr>
            <p:spPr bwMode="auto">
              <a:xfrm>
                <a:off x="1687" y="1300"/>
                <a:ext cx="288"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-2</a:t>
                </a:r>
                <a:endParaRPr lang="en-GB" altLang="en-US" sz="2000">
                  <a:solidFill>
                    <a:srgbClr val="777777"/>
                  </a:solidFill>
                  <a:latin typeface="Times New Roman" panose="02020603050405020304" pitchFamily="18" charset="0"/>
                </a:endParaRPr>
              </a:p>
            </p:txBody>
          </p:sp>
          <p:sp>
            <p:nvSpPr>
              <p:cNvPr id="199741" name="Text Box 61"/>
              <p:cNvSpPr txBox="1">
                <a:spLocks noChangeArrowheads="1"/>
              </p:cNvSpPr>
              <p:nvPr/>
            </p:nvSpPr>
            <p:spPr bwMode="auto">
              <a:xfrm>
                <a:off x="2074" y="1133"/>
                <a:ext cx="192"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latin typeface="Times New Roman" panose="02020603050405020304" pitchFamily="18" charset="0"/>
                  </a:rPr>
                  <a:t>x</a:t>
                </a:r>
                <a:endParaRPr lang="en-GB" altLang="en-US" sz="2000">
                  <a:latin typeface="Times New Roman" panose="02020603050405020304" pitchFamily="18" charset="0"/>
                </a:endParaRPr>
              </a:p>
            </p:txBody>
          </p:sp>
          <p:sp>
            <p:nvSpPr>
              <p:cNvPr id="199742" name="Text Box 62"/>
              <p:cNvSpPr txBox="1">
                <a:spLocks noChangeArrowheads="1"/>
              </p:cNvSpPr>
              <p:nvPr/>
            </p:nvSpPr>
            <p:spPr bwMode="auto">
              <a:xfrm>
                <a:off x="1296" y="1127"/>
                <a:ext cx="192"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latin typeface="Times New Roman" panose="02020603050405020304" pitchFamily="18" charset="0"/>
                  </a:rPr>
                  <a:t>t</a:t>
                </a:r>
                <a:endParaRPr lang="en-GB" altLang="en-US" sz="2000">
                  <a:latin typeface="Times New Roman" panose="02020603050405020304" pitchFamily="18" charset="0"/>
                </a:endParaRPr>
              </a:p>
            </p:txBody>
          </p:sp>
          <p:cxnSp>
            <p:nvCxnSpPr>
              <p:cNvPr id="199743" name="AutoShape 63"/>
              <p:cNvCxnSpPr>
                <a:cxnSpLocks noChangeShapeType="1"/>
                <a:stCxn id="199716" idx="5"/>
                <a:endCxn id="199719" idx="0"/>
              </p:cNvCxnSpPr>
              <p:nvPr/>
            </p:nvCxnSpPr>
            <p:spPr bwMode="auto">
              <a:xfrm>
                <a:off x="1492" y="1609"/>
                <a:ext cx="666" cy="522"/>
              </a:xfrm>
              <a:prstGeom prst="straightConnector1">
                <a:avLst/>
              </a:prstGeom>
              <a:noFill/>
              <a:ln w="63500">
                <a:solidFill>
                  <a:schemeClr val="tx1"/>
                </a:solidFill>
                <a:round/>
                <a:headEnd type="none" w="sm" len="sm"/>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9744" name="Text Box 64"/>
              <p:cNvSpPr txBox="1">
                <a:spLocks noChangeArrowheads="1"/>
              </p:cNvSpPr>
              <p:nvPr/>
            </p:nvSpPr>
            <p:spPr bwMode="auto">
              <a:xfrm>
                <a:off x="1944" y="1812"/>
                <a:ext cx="272"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-4</a:t>
                </a:r>
                <a:endParaRPr lang="en-GB" altLang="en-US" sz="2000">
                  <a:solidFill>
                    <a:srgbClr val="777777"/>
                  </a:solidFill>
                  <a:latin typeface="Times New Roman" panose="02020603050405020304" pitchFamily="18" charset="0"/>
                </a:endParaRPr>
              </a:p>
            </p:txBody>
          </p:sp>
        </p:grpSp>
        <p:sp>
          <p:nvSpPr>
            <p:cNvPr id="199745" name="Text Box 65"/>
            <p:cNvSpPr txBox="1">
              <a:spLocks noChangeArrowheads="1"/>
            </p:cNvSpPr>
            <p:nvPr/>
          </p:nvSpPr>
          <p:spPr bwMode="auto">
            <a:xfrm>
              <a:off x="1708" y="1010"/>
              <a:ext cx="288"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a:solidFill>
                    <a:srgbClr val="777777"/>
                  </a:solidFill>
                  <a:latin typeface="Times New Roman" panose="02020603050405020304" pitchFamily="18" charset="0"/>
                </a:rPr>
                <a:t>5</a:t>
              </a:r>
              <a:endParaRPr lang="en-GB" altLang="en-US" sz="2000">
                <a:solidFill>
                  <a:srgbClr val="777777"/>
                </a:solidFill>
                <a:latin typeface="Times New Roman" panose="02020603050405020304" pitchFamily="18" charset="0"/>
              </a:endParaRPr>
            </a:p>
          </p:txBody>
        </p:sp>
      </p:grpSp>
    </p:spTree>
    <p:extLst>
      <p:ext uri="{BB962C8B-B14F-4D97-AF65-F5344CB8AC3E}">
        <p14:creationId xmlns:p14="http://schemas.microsoft.com/office/powerpoint/2010/main" val="23589249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Dijkstra's Algorithm</a:t>
            </a:r>
            <a:endParaRPr lang="en-IN" dirty="0"/>
          </a:p>
        </p:txBody>
      </p:sp>
      <p:sp>
        <p:nvSpPr>
          <p:cNvPr id="3" name="Content Placeholder 2"/>
          <p:cNvSpPr>
            <a:spLocks noGrp="1"/>
          </p:cNvSpPr>
          <p:nvPr>
            <p:ph idx="1"/>
          </p:nvPr>
        </p:nvSpPr>
        <p:spPr/>
        <p:txBody>
          <a:bodyPr>
            <a:normAutofit/>
          </a:bodyPr>
          <a:lstStyle/>
          <a:p>
            <a:r>
              <a:rPr lang="en-US" b="1" dirty="0"/>
              <a:t>Notation:</a:t>
            </a:r>
            <a:br>
              <a:rPr lang="en-US" dirty="0"/>
            </a:br>
            <a:r>
              <a:rPr lang="en-US" dirty="0"/>
              <a:t>D</a:t>
            </a:r>
            <a:r>
              <a:rPr lang="en-US" baseline="-25000" dirty="0"/>
              <a:t>i </a:t>
            </a:r>
            <a:r>
              <a:rPr lang="en-US" dirty="0"/>
              <a:t>  =     Length of shortest path from node '</a:t>
            </a:r>
            <a:r>
              <a:rPr lang="en-US" dirty="0" err="1"/>
              <a:t>i</a:t>
            </a:r>
            <a:r>
              <a:rPr lang="en-US" dirty="0"/>
              <a:t>' to node 1. </a:t>
            </a:r>
            <a:br>
              <a:rPr lang="en-US" dirty="0"/>
            </a:br>
            <a:r>
              <a:rPr lang="en-US" dirty="0" err="1"/>
              <a:t>d</a:t>
            </a:r>
            <a:r>
              <a:rPr lang="en-US" baseline="-25000" dirty="0" err="1"/>
              <a:t>i,j</a:t>
            </a:r>
            <a:r>
              <a:rPr lang="en-US" baseline="-25000" dirty="0"/>
              <a:t> </a:t>
            </a:r>
            <a:r>
              <a:rPr lang="en-US" dirty="0"/>
              <a:t> =     Length of path between nodes </a:t>
            </a:r>
            <a:r>
              <a:rPr lang="en-US" dirty="0" err="1"/>
              <a:t>i</a:t>
            </a:r>
            <a:r>
              <a:rPr lang="en-US" dirty="0"/>
              <a:t> and j .</a:t>
            </a:r>
            <a:endParaRPr lang="en-IN" dirty="0"/>
          </a:p>
        </p:txBody>
      </p:sp>
    </p:spTree>
    <p:extLst>
      <p:ext uri="{BB962C8B-B14F-4D97-AF65-F5344CB8AC3E}">
        <p14:creationId xmlns:p14="http://schemas.microsoft.com/office/powerpoint/2010/main" val="40378700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b="1" dirty="0"/>
              <a:t>Algorithm</a:t>
            </a:r>
            <a:br>
              <a:rPr lang="en-US" dirty="0"/>
            </a:br>
            <a:r>
              <a:rPr lang="en-US" dirty="0"/>
              <a:t>Each node j  is  labeled with </a:t>
            </a:r>
            <a:r>
              <a:rPr lang="en-US" dirty="0" err="1"/>
              <a:t>Dj</a:t>
            </a:r>
            <a:r>
              <a:rPr lang="en-US" dirty="0"/>
              <a:t>, which is an estimate of cost of path from node j to node 1. </a:t>
            </a:r>
          </a:p>
          <a:p>
            <a:r>
              <a:rPr lang="en-US" dirty="0"/>
              <a:t>Initially, let the estimates be infinity, indicating that nothing is known about the paths.  </a:t>
            </a:r>
          </a:p>
          <a:p>
            <a:r>
              <a:rPr lang="en-US" dirty="0"/>
              <a:t>We now iterate on the length of paths, each time revising our estimate to lower values, as we obtain them. Actually, we divide the nodes into two groups ; the first one, called set P contains the nodes whose shortest distances have been found, and the other Q containing all the remaining nodes. </a:t>
            </a:r>
          </a:p>
          <a:p>
            <a:endParaRPr lang="en-IN" dirty="0"/>
          </a:p>
        </p:txBody>
      </p:sp>
    </p:spTree>
    <p:extLst>
      <p:ext uri="{BB962C8B-B14F-4D97-AF65-F5344CB8AC3E}">
        <p14:creationId xmlns:p14="http://schemas.microsoft.com/office/powerpoint/2010/main" val="29069668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Initially P contains only the node 1. At each step,  we select the node that has minimum cost path to node 1. This node is transferred to set P.  </a:t>
            </a:r>
          </a:p>
          <a:p>
            <a:r>
              <a:rPr lang="en-US" dirty="0"/>
              <a:t>At the first step, this corresponds to shifting the node closest to 1 in P. Its minimum cost to node 1 is now known. At the next step, select the next closest node from set Q and update the labels corresponding to each node using :</a:t>
            </a:r>
            <a:endParaRPr lang="en-IN" dirty="0"/>
          </a:p>
          <a:p>
            <a:r>
              <a:rPr lang="en-US" b="1" dirty="0" err="1"/>
              <a:t>D</a:t>
            </a:r>
            <a:r>
              <a:rPr lang="en-US" b="1" baseline="-25000" dirty="0" err="1"/>
              <a:t>j</a:t>
            </a:r>
            <a:r>
              <a:rPr lang="en-US" b="1" baseline="-25000" dirty="0"/>
              <a:t> </a:t>
            </a:r>
            <a:r>
              <a:rPr lang="en-US" b="1" dirty="0"/>
              <a:t>   =   min [ </a:t>
            </a:r>
            <a:r>
              <a:rPr lang="en-US" b="1" dirty="0" err="1"/>
              <a:t>D</a:t>
            </a:r>
            <a:r>
              <a:rPr lang="en-US" b="1" baseline="-25000" dirty="0" err="1"/>
              <a:t>j</a:t>
            </a:r>
            <a:r>
              <a:rPr lang="en-US" b="1" dirty="0"/>
              <a:t>  ,  D</a:t>
            </a:r>
            <a:r>
              <a:rPr lang="en-US" b="1" baseline="-25000" dirty="0"/>
              <a:t>i</a:t>
            </a:r>
            <a:r>
              <a:rPr lang="en-US" b="1" dirty="0"/>
              <a:t>  +  </a:t>
            </a:r>
            <a:r>
              <a:rPr lang="en-US" b="1" dirty="0" err="1"/>
              <a:t>d</a:t>
            </a:r>
            <a:r>
              <a:rPr lang="en-US" b="1" baseline="-25000" dirty="0" err="1"/>
              <a:t>j,i</a:t>
            </a:r>
            <a:r>
              <a:rPr lang="en-US" b="1" baseline="-25000" dirty="0"/>
              <a:t> </a:t>
            </a:r>
            <a:r>
              <a:rPr lang="en-US" b="1" dirty="0"/>
              <a:t>  ]</a:t>
            </a:r>
            <a:endParaRPr lang="en-IN" dirty="0"/>
          </a:p>
          <a:p>
            <a:r>
              <a:rPr lang="en-US" dirty="0"/>
              <a:t>Finally, after N-1 iterations, the  shortest paths for all nodes are known, and the algorithm terminates. </a:t>
            </a:r>
            <a:br>
              <a:rPr lang="en-US" dirty="0"/>
            </a:br>
            <a:r>
              <a:rPr lang="en-US" dirty="0"/>
              <a:t> </a:t>
            </a:r>
            <a:endParaRPr lang="en-IN" dirty="0"/>
          </a:p>
          <a:p>
            <a:endParaRPr lang="en-US" dirty="0"/>
          </a:p>
        </p:txBody>
      </p:sp>
    </p:spTree>
    <p:extLst>
      <p:ext uri="{BB962C8B-B14F-4D97-AF65-F5344CB8AC3E}">
        <p14:creationId xmlns:p14="http://schemas.microsoft.com/office/powerpoint/2010/main" val="28850384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US" b="1" dirty="0"/>
              <a:t>Principle</a:t>
            </a:r>
            <a:br>
              <a:rPr lang="en-US" dirty="0"/>
            </a:br>
            <a:r>
              <a:rPr lang="en-US" dirty="0"/>
              <a:t>Let the closest node to 1 at some step be </a:t>
            </a:r>
            <a:r>
              <a:rPr lang="en-US" dirty="0" err="1"/>
              <a:t>i</a:t>
            </a:r>
            <a:r>
              <a:rPr lang="en-US" dirty="0"/>
              <a:t>. Then </a:t>
            </a:r>
            <a:r>
              <a:rPr lang="en-US" dirty="0" err="1"/>
              <a:t>i</a:t>
            </a:r>
            <a:r>
              <a:rPr lang="en-US" dirty="0"/>
              <a:t> is shifted to P. Now, for each node j , the closest path to 1 either passes through </a:t>
            </a:r>
            <a:r>
              <a:rPr lang="en-US" dirty="0" err="1"/>
              <a:t>i</a:t>
            </a:r>
            <a:r>
              <a:rPr lang="en-US" dirty="0"/>
              <a:t> or it doesn't.  </a:t>
            </a:r>
          </a:p>
          <a:p>
            <a:r>
              <a:rPr lang="en-US" dirty="0"/>
              <a:t>In the first case </a:t>
            </a:r>
            <a:r>
              <a:rPr lang="en-US" dirty="0" err="1"/>
              <a:t>Dj</a:t>
            </a:r>
            <a:r>
              <a:rPr lang="en-US" dirty="0"/>
              <a:t> remains the same. In the second case, the revised estimate of </a:t>
            </a:r>
            <a:r>
              <a:rPr lang="en-US" dirty="0" err="1"/>
              <a:t>D</a:t>
            </a:r>
            <a:r>
              <a:rPr lang="en-US" baseline="-25000" dirty="0" err="1"/>
              <a:t>j</a:t>
            </a:r>
            <a:r>
              <a:rPr lang="en-US" dirty="0"/>
              <a:t> is the sum D</a:t>
            </a:r>
            <a:r>
              <a:rPr lang="en-US" baseline="-25000" dirty="0"/>
              <a:t>i </a:t>
            </a:r>
            <a:r>
              <a:rPr lang="en-US" dirty="0"/>
              <a:t> +  </a:t>
            </a:r>
            <a:r>
              <a:rPr lang="en-US" dirty="0" err="1"/>
              <a:t>d</a:t>
            </a:r>
            <a:r>
              <a:rPr lang="en-US" baseline="-25000" dirty="0" err="1"/>
              <a:t>i,j</a:t>
            </a:r>
            <a:r>
              <a:rPr lang="en-US" baseline="-25000" dirty="0"/>
              <a:t> </a:t>
            </a:r>
            <a:r>
              <a:rPr lang="en-US" dirty="0"/>
              <a:t>. So we take the minimum of these two cases and update </a:t>
            </a:r>
            <a:r>
              <a:rPr lang="en-US" dirty="0" err="1"/>
              <a:t>D</a:t>
            </a:r>
            <a:r>
              <a:rPr lang="en-US" baseline="-25000" dirty="0" err="1"/>
              <a:t>j</a:t>
            </a:r>
            <a:r>
              <a:rPr lang="en-US" baseline="-25000" dirty="0"/>
              <a:t> </a:t>
            </a:r>
            <a:r>
              <a:rPr lang="en-US" dirty="0"/>
              <a:t>accordingly. </a:t>
            </a:r>
          </a:p>
          <a:p>
            <a:r>
              <a:rPr lang="en-US" dirty="0"/>
              <a:t> As each of the nodes get transferred to set P, the estimates get closer to the lowest possible value. When a node is transferred, its shortest path length is known. </a:t>
            </a:r>
          </a:p>
          <a:p>
            <a:r>
              <a:rPr lang="en-US" dirty="0"/>
              <a:t>So finally all the nodes are in P and the </a:t>
            </a:r>
            <a:r>
              <a:rPr lang="en-US" dirty="0" err="1"/>
              <a:t>D</a:t>
            </a:r>
            <a:r>
              <a:rPr lang="en-US" baseline="-25000" dirty="0" err="1"/>
              <a:t>j</a:t>
            </a:r>
            <a:r>
              <a:rPr lang="en-US" baseline="-25000" dirty="0"/>
              <a:t> </a:t>
            </a:r>
            <a:r>
              <a:rPr lang="en-US" dirty="0"/>
              <a:t>'s represent the minimum costs. The algorithm is guaranteed to terminate in N-1 iterations and  its complexity is O( N</a:t>
            </a:r>
            <a:r>
              <a:rPr lang="en-US" baseline="30000" dirty="0"/>
              <a:t>2</a:t>
            </a:r>
            <a:r>
              <a:rPr lang="en-US" dirty="0"/>
              <a:t> ).</a:t>
            </a:r>
            <a:endParaRPr lang="en-IN" dirty="0"/>
          </a:p>
          <a:p>
            <a:endParaRPr lang="en-IN" dirty="0"/>
          </a:p>
        </p:txBody>
      </p:sp>
    </p:spTree>
    <p:extLst>
      <p:ext uri="{BB962C8B-B14F-4D97-AF65-F5344CB8AC3E}">
        <p14:creationId xmlns:p14="http://schemas.microsoft.com/office/powerpoint/2010/main" val="10273778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3519576" y="1215026"/>
            <a:ext cx="6538823" cy="4840718"/>
          </a:xfrm>
          <a:prstGeom prst="rect">
            <a:avLst/>
          </a:prstGeom>
        </p:spPr>
      </p:pic>
      <p:sp>
        <p:nvSpPr>
          <p:cNvPr id="5" name="Rectangle 4"/>
          <p:cNvSpPr/>
          <p:nvPr/>
        </p:nvSpPr>
        <p:spPr>
          <a:xfrm>
            <a:off x="140898" y="3269259"/>
            <a:ext cx="2610928" cy="1477328"/>
          </a:xfrm>
          <a:prstGeom prst="rect">
            <a:avLst/>
          </a:prstGeom>
        </p:spPr>
        <p:txBody>
          <a:bodyPr wrap="square">
            <a:spAutoFit/>
          </a:bodyPr>
          <a:lstStyle/>
          <a:p>
            <a:r>
              <a:rPr lang="en-IN" dirty="0">
                <a:latin typeface="TimesNewRoman"/>
              </a:rPr>
              <a:t>The first 6 steps used in computing the shortest path from A to D.</a:t>
            </a:r>
          </a:p>
          <a:p>
            <a:r>
              <a:rPr lang="en-IN" dirty="0">
                <a:latin typeface="TimesNewRoman"/>
              </a:rPr>
              <a:t>The arrows indicate the working node.</a:t>
            </a:r>
            <a:endParaRPr lang="en-IN" dirty="0"/>
          </a:p>
        </p:txBody>
      </p:sp>
    </p:spTree>
    <p:extLst>
      <p:ext uri="{BB962C8B-B14F-4D97-AF65-F5344CB8AC3E}">
        <p14:creationId xmlns:p14="http://schemas.microsoft.com/office/powerpoint/2010/main" val="3400794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pPr marL="0" indent="0">
              <a:buNone/>
            </a:pPr>
            <a:r>
              <a:rPr lang="en-IN" dirty="0"/>
              <a:t>Initially mark all nodes (except source) with infinite distance.</a:t>
            </a:r>
          </a:p>
          <a:p>
            <a:pPr marL="0" indent="0">
              <a:buNone/>
            </a:pPr>
            <a:r>
              <a:rPr lang="en-IN" dirty="0"/>
              <a:t>working node = source node</a:t>
            </a:r>
          </a:p>
          <a:p>
            <a:pPr marL="0" indent="0">
              <a:buNone/>
            </a:pPr>
            <a:r>
              <a:rPr lang="en-IN" dirty="0"/>
              <a:t>Sink node = destination node</a:t>
            </a:r>
          </a:p>
          <a:p>
            <a:pPr marL="0" indent="0">
              <a:buNone/>
            </a:pPr>
            <a:r>
              <a:rPr lang="en-IN" dirty="0"/>
              <a:t>While the working node is not equal to the sink</a:t>
            </a:r>
          </a:p>
          <a:p>
            <a:pPr marL="457200" lvl="1" indent="0">
              <a:buNone/>
            </a:pPr>
            <a:r>
              <a:rPr lang="en-IN" dirty="0"/>
              <a:t>1. Mark the working node as permanent.</a:t>
            </a:r>
          </a:p>
          <a:p>
            <a:pPr marL="457200" lvl="1" indent="0">
              <a:buNone/>
            </a:pPr>
            <a:r>
              <a:rPr lang="en-IN" dirty="0"/>
              <a:t>2. Examine all adjacent nodes in turn</a:t>
            </a:r>
          </a:p>
          <a:p>
            <a:pPr marL="457200" lvl="1" indent="0">
              <a:buNone/>
            </a:pPr>
            <a:r>
              <a:rPr lang="en-IN" dirty="0"/>
              <a:t>If the sum of label on working node plus distance from working node to adjacent node is less than current labelled distance on the adjacent node, this implies a shorter path. Relabel the distance on the adjacent node and label it with the node from which the probe was made.</a:t>
            </a:r>
          </a:p>
          <a:p>
            <a:pPr marL="457200" lvl="1" indent="0">
              <a:buNone/>
            </a:pPr>
            <a:r>
              <a:rPr lang="en-IN" dirty="0"/>
              <a:t>3. Examine all tentative nodes (not just adjacent nodes) and mark the node with the smallest labelled value as permanent. This node becomes the new working node. Reconstruct the path backwards from sink to source.</a:t>
            </a:r>
          </a:p>
          <a:p>
            <a:pPr marL="0" indent="0">
              <a:buNone/>
            </a:pPr>
            <a:endParaRPr lang="en-IN" dirty="0"/>
          </a:p>
        </p:txBody>
      </p:sp>
    </p:spTree>
    <p:extLst>
      <p:ext uri="{BB962C8B-B14F-4D97-AF65-F5344CB8AC3E}">
        <p14:creationId xmlns:p14="http://schemas.microsoft.com/office/powerpoint/2010/main" val="36085712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Floyd </a:t>
            </a:r>
            <a:r>
              <a:rPr lang="en-US" b="1" dirty="0" err="1"/>
              <a:t>Warshall</a:t>
            </a:r>
            <a:r>
              <a:rPr lang="en-US" b="1" dirty="0"/>
              <a:t> Algorithm</a:t>
            </a:r>
            <a:endParaRPr lang="en-IN" dirty="0"/>
          </a:p>
        </p:txBody>
      </p:sp>
      <p:sp>
        <p:nvSpPr>
          <p:cNvPr id="3" name="Content Placeholder 2"/>
          <p:cNvSpPr>
            <a:spLocks noGrp="1"/>
          </p:cNvSpPr>
          <p:nvPr>
            <p:ph idx="1"/>
          </p:nvPr>
        </p:nvSpPr>
        <p:spPr/>
        <p:txBody>
          <a:bodyPr/>
          <a:lstStyle/>
          <a:p>
            <a:r>
              <a:rPr lang="en-US" dirty="0"/>
              <a:t>This algorithm iterates on the set of nodes that can be used as intermediate nodes on paths. This set grows from a single node ( say node 1 ) at start to finally all the nodes of the graph.  At each iteration, we find the shortest path using given set of nodes as intermediate nodes, so that finally all the shortest paths are obtained.</a:t>
            </a:r>
            <a:endParaRPr lang="en-IN" dirty="0"/>
          </a:p>
          <a:p>
            <a:r>
              <a:rPr lang="en-US" b="1" dirty="0"/>
              <a:t>Notation</a:t>
            </a:r>
            <a:br>
              <a:rPr lang="en-US" dirty="0"/>
            </a:br>
            <a:r>
              <a:rPr lang="en-US" dirty="0" err="1"/>
              <a:t>D</a:t>
            </a:r>
            <a:r>
              <a:rPr lang="en-US" baseline="-25000" dirty="0" err="1"/>
              <a:t>i,j</a:t>
            </a:r>
            <a:r>
              <a:rPr lang="en-US" dirty="0"/>
              <a:t> [n]     =     Length of shortest  path between the nodes </a:t>
            </a:r>
            <a:r>
              <a:rPr lang="en-US" dirty="0" err="1"/>
              <a:t>i</a:t>
            </a:r>
            <a:r>
              <a:rPr lang="en-US" dirty="0"/>
              <a:t> and j using only the nodes 1,2,....n as intermediate nodes.</a:t>
            </a:r>
            <a:endParaRPr lang="en-IN" dirty="0"/>
          </a:p>
          <a:p>
            <a:r>
              <a:rPr lang="en-US" b="1" dirty="0"/>
              <a:t>Initial Condition</a:t>
            </a:r>
            <a:br>
              <a:rPr lang="en-US" dirty="0"/>
            </a:br>
            <a:r>
              <a:rPr lang="en-US" dirty="0" err="1"/>
              <a:t>Di,j</a:t>
            </a:r>
            <a:r>
              <a:rPr lang="en-US" dirty="0"/>
              <a:t>[0]     =     </a:t>
            </a:r>
            <a:r>
              <a:rPr lang="en-US" dirty="0" err="1"/>
              <a:t>d</a:t>
            </a:r>
            <a:r>
              <a:rPr lang="en-US" baseline="-25000" dirty="0" err="1"/>
              <a:t>i,j</a:t>
            </a:r>
            <a:r>
              <a:rPr lang="en-US" baseline="-25000" dirty="0"/>
              <a:t> </a:t>
            </a:r>
            <a:r>
              <a:rPr lang="en-US" dirty="0"/>
              <a:t>       for all nodes </a:t>
            </a:r>
            <a:r>
              <a:rPr lang="en-US" dirty="0" err="1"/>
              <a:t>i,j</a:t>
            </a:r>
            <a:r>
              <a:rPr lang="en-US" dirty="0"/>
              <a:t> .</a:t>
            </a:r>
            <a:endParaRPr lang="en-IN" dirty="0"/>
          </a:p>
          <a:p>
            <a:endParaRPr lang="en-IN" dirty="0"/>
          </a:p>
        </p:txBody>
      </p:sp>
    </p:spTree>
    <p:extLst>
      <p:ext uri="{BB962C8B-B14F-4D97-AF65-F5344CB8AC3E}">
        <p14:creationId xmlns:p14="http://schemas.microsoft.com/office/powerpoint/2010/main" val="38022139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US" b="1" dirty="0"/>
              <a:t>Algorithm</a:t>
            </a:r>
            <a:br>
              <a:rPr lang="en-US" dirty="0"/>
            </a:br>
            <a:r>
              <a:rPr lang="en-US" dirty="0"/>
              <a:t>Initially,  n = 0.      </a:t>
            </a:r>
          </a:p>
          <a:p>
            <a:pPr marL="0" indent="0">
              <a:buNone/>
            </a:pPr>
            <a:r>
              <a:rPr lang="en-US" dirty="0"/>
              <a:t>At each iteration, add next node to n. </a:t>
            </a:r>
          </a:p>
          <a:p>
            <a:pPr marL="0" indent="0">
              <a:buNone/>
            </a:pPr>
            <a:r>
              <a:rPr lang="en-US" dirty="0"/>
              <a:t>i.e.   For  n = 1,2, .....N-1 , </a:t>
            </a:r>
            <a:br>
              <a:rPr lang="en-US" dirty="0"/>
            </a:br>
            <a:br>
              <a:rPr lang="en-US" dirty="0"/>
            </a:br>
            <a:r>
              <a:rPr lang="en-US" dirty="0"/>
              <a:t>      </a:t>
            </a:r>
            <a:r>
              <a:rPr lang="en-US" dirty="0" err="1"/>
              <a:t>Di,j</a:t>
            </a:r>
            <a:r>
              <a:rPr lang="en-US" dirty="0"/>
              <a:t>[n + 1]    =  min  {  </a:t>
            </a:r>
            <a:r>
              <a:rPr lang="en-US" dirty="0" err="1"/>
              <a:t>D</a:t>
            </a:r>
            <a:r>
              <a:rPr lang="en-US" baseline="-25000" dirty="0" err="1"/>
              <a:t>i,j</a:t>
            </a:r>
            <a:r>
              <a:rPr lang="en-US" dirty="0"/>
              <a:t>[n] ,   D</a:t>
            </a:r>
            <a:r>
              <a:rPr lang="en-US" baseline="-25000" dirty="0"/>
              <a:t>i,n+1</a:t>
            </a:r>
            <a:r>
              <a:rPr lang="en-US" dirty="0"/>
              <a:t>[n]  + D</a:t>
            </a:r>
            <a:r>
              <a:rPr lang="en-US" baseline="-25000" dirty="0"/>
              <a:t>n+1,j</a:t>
            </a:r>
            <a:r>
              <a:rPr lang="en-US" dirty="0"/>
              <a:t>[n]  }</a:t>
            </a:r>
            <a:endParaRPr lang="en-IN" dirty="0"/>
          </a:p>
          <a:p>
            <a:endParaRPr lang="en-IN" dirty="0"/>
          </a:p>
        </p:txBody>
      </p:sp>
    </p:spTree>
    <p:extLst>
      <p:ext uri="{BB962C8B-B14F-4D97-AF65-F5344CB8AC3E}">
        <p14:creationId xmlns:p14="http://schemas.microsoft.com/office/powerpoint/2010/main" val="14284124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US" b="1" dirty="0"/>
              <a:t>Principle</a:t>
            </a:r>
            <a:br>
              <a:rPr lang="en-US" dirty="0"/>
            </a:br>
            <a:r>
              <a:rPr lang="en-US" dirty="0"/>
              <a:t>Suppose the shortest path between </a:t>
            </a:r>
            <a:r>
              <a:rPr lang="en-US" dirty="0" err="1"/>
              <a:t>i</a:t>
            </a:r>
            <a:r>
              <a:rPr lang="en-US" dirty="0"/>
              <a:t> and j using nodes 1,2,...n is known. Now, if node n+1 is allowed to be an intermediate node, then the shortest path under new conditions either passes through node n+1 or it doesn't. </a:t>
            </a:r>
          </a:p>
          <a:p>
            <a:r>
              <a:rPr lang="en-US" dirty="0"/>
              <a:t>If it does not pass through the node n+1, then </a:t>
            </a:r>
            <a:r>
              <a:rPr lang="en-US" dirty="0" err="1"/>
              <a:t>D</a:t>
            </a:r>
            <a:r>
              <a:rPr lang="en-US" baseline="-25000" dirty="0" err="1"/>
              <a:t>i,j</a:t>
            </a:r>
            <a:r>
              <a:rPr lang="en-US" dirty="0"/>
              <a:t>[n+1] is same as </a:t>
            </a:r>
            <a:r>
              <a:rPr lang="en-US" dirty="0" err="1"/>
              <a:t>D</a:t>
            </a:r>
            <a:r>
              <a:rPr lang="en-US" baseline="-25000" dirty="0" err="1"/>
              <a:t>i,j</a:t>
            </a:r>
            <a:r>
              <a:rPr lang="en-US" dirty="0"/>
              <a:t>[n] .  Else, we find the cost of the new route, which is obtained from the sum,  D</a:t>
            </a:r>
            <a:r>
              <a:rPr lang="en-US" baseline="-25000" dirty="0"/>
              <a:t>i,n+1</a:t>
            </a:r>
            <a:r>
              <a:rPr lang="en-US" dirty="0"/>
              <a:t>[n] + D</a:t>
            </a:r>
            <a:r>
              <a:rPr lang="en-US" baseline="-25000" dirty="0"/>
              <a:t>n+1,j</a:t>
            </a:r>
            <a:r>
              <a:rPr lang="en-US" dirty="0"/>
              <a:t>[n]. </a:t>
            </a:r>
          </a:p>
          <a:p>
            <a:r>
              <a:rPr lang="en-US" dirty="0"/>
              <a:t>So we take the minimum of these two cases at each step.  After adding all the nodes to the set of intermediate nodes, we obtain the shortest paths between all pairs of nodes together. </a:t>
            </a:r>
            <a:r>
              <a:rPr lang="en-US"/>
              <a:t> </a:t>
            </a:r>
          </a:p>
          <a:p>
            <a:r>
              <a:rPr lang="en-US"/>
              <a:t>The </a:t>
            </a:r>
            <a:r>
              <a:rPr lang="en-US" dirty="0"/>
              <a:t>complexity of  Floyd-</a:t>
            </a:r>
            <a:r>
              <a:rPr lang="en-US" dirty="0" err="1"/>
              <a:t>Warshall</a:t>
            </a:r>
            <a:r>
              <a:rPr lang="en-US" dirty="0"/>
              <a:t> algorithm is O ( N</a:t>
            </a:r>
            <a:r>
              <a:rPr lang="en-US" baseline="30000" dirty="0"/>
              <a:t>3</a:t>
            </a:r>
            <a:r>
              <a:rPr lang="en-US" dirty="0"/>
              <a:t> ).</a:t>
            </a:r>
            <a:endParaRPr lang="en-IN" dirty="0"/>
          </a:p>
          <a:p>
            <a:endParaRPr lang="en-IN" dirty="0"/>
          </a:p>
        </p:txBody>
      </p:sp>
    </p:spTree>
    <p:extLst>
      <p:ext uri="{BB962C8B-B14F-4D97-AF65-F5344CB8AC3E}">
        <p14:creationId xmlns:p14="http://schemas.microsoft.com/office/powerpoint/2010/main" val="36057656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Distance Vector Routing</a:t>
            </a:r>
          </a:p>
        </p:txBody>
      </p:sp>
      <p:sp>
        <p:nvSpPr>
          <p:cNvPr id="3" name="Content Placeholder 2"/>
          <p:cNvSpPr>
            <a:spLocks noGrp="1"/>
          </p:cNvSpPr>
          <p:nvPr>
            <p:ph idx="1"/>
          </p:nvPr>
        </p:nvSpPr>
        <p:spPr/>
        <p:txBody>
          <a:bodyPr>
            <a:normAutofit/>
          </a:bodyPr>
          <a:lstStyle/>
          <a:p>
            <a:r>
              <a:rPr lang="en-IN" dirty="0"/>
              <a:t>Distance Vector Routing is dynamic routing algorithm.</a:t>
            </a:r>
          </a:p>
          <a:p>
            <a:r>
              <a:rPr lang="en-IN" dirty="0"/>
              <a:t>Distance Vector Routing algorithms operate by having each router maintain a table (i.e., a vector) giving the best known distance to each destination and which line to use to get there.</a:t>
            </a:r>
          </a:p>
          <a:p>
            <a:r>
              <a:rPr lang="en-IN" dirty="0"/>
              <a:t>These tables are updated by exchanging information with the neighbours.</a:t>
            </a:r>
          </a:p>
        </p:txBody>
      </p:sp>
    </p:spTree>
    <p:extLst>
      <p:ext uri="{BB962C8B-B14F-4D97-AF65-F5344CB8AC3E}">
        <p14:creationId xmlns:p14="http://schemas.microsoft.com/office/powerpoint/2010/main" val="37256325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As an example, assume that delay is used as a metric and that the router knows the delay to each of its neighbours.</a:t>
            </a:r>
          </a:p>
          <a:p>
            <a:r>
              <a:rPr lang="en-IN" dirty="0"/>
              <a:t>Once every T </a:t>
            </a:r>
            <a:r>
              <a:rPr lang="en-IN" dirty="0" err="1"/>
              <a:t>msec</a:t>
            </a:r>
            <a:r>
              <a:rPr lang="en-IN" dirty="0"/>
              <a:t> each router sends to each neighbour a list of its estimated delays to each destination.</a:t>
            </a:r>
          </a:p>
          <a:p>
            <a:r>
              <a:rPr lang="en-IN" dirty="0"/>
              <a:t>It also receives a similar list from each neighbour.</a:t>
            </a:r>
          </a:p>
        </p:txBody>
      </p:sp>
    </p:spTree>
    <p:extLst>
      <p:ext uri="{BB962C8B-B14F-4D97-AF65-F5344CB8AC3E}">
        <p14:creationId xmlns:p14="http://schemas.microsoft.com/office/powerpoint/2010/main" val="6653861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1492624" y="2027673"/>
            <a:ext cx="8996082" cy="3421586"/>
          </a:xfrm>
          <a:prstGeom prst="rect">
            <a:avLst/>
          </a:prstGeom>
        </p:spPr>
      </p:pic>
      <p:sp>
        <p:nvSpPr>
          <p:cNvPr id="5" name="Rectangle 4"/>
          <p:cNvSpPr/>
          <p:nvPr/>
        </p:nvSpPr>
        <p:spPr>
          <a:xfrm>
            <a:off x="3361243" y="5893012"/>
            <a:ext cx="6096000" cy="646331"/>
          </a:xfrm>
          <a:prstGeom prst="rect">
            <a:avLst/>
          </a:prstGeom>
        </p:spPr>
        <p:txBody>
          <a:bodyPr>
            <a:spAutoFit/>
          </a:bodyPr>
          <a:lstStyle/>
          <a:p>
            <a:r>
              <a:rPr lang="en-IN" dirty="0">
                <a:solidFill>
                  <a:srgbClr val="3333CD"/>
                </a:solidFill>
                <a:latin typeface="TimesNewRoman"/>
              </a:rPr>
              <a:t>(a) </a:t>
            </a:r>
            <a:r>
              <a:rPr lang="en-IN" dirty="0">
                <a:solidFill>
                  <a:srgbClr val="000000"/>
                </a:solidFill>
                <a:latin typeface="TimesNewRoman"/>
              </a:rPr>
              <a:t>A subnet. </a:t>
            </a:r>
            <a:r>
              <a:rPr lang="en-IN" dirty="0">
                <a:solidFill>
                  <a:srgbClr val="3333CD"/>
                </a:solidFill>
                <a:latin typeface="TimesNewRoman"/>
              </a:rPr>
              <a:t>(b) </a:t>
            </a:r>
            <a:r>
              <a:rPr lang="en-IN" dirty="0">
                <a:solidFill>
                  <a:srgbClr val="000000"/>
                </a:solidFill>
                <a:latin typeface="TimesNewRoman"/>
              </a:rPr>
              <a:t>Input from A, I, H, K, and the new</a:t>
            </a:r>
          </a:p>
          <a:p>
            <a:r>
              <a:rPr lang="en-IN" dirty="0">
                <a:solidFill>
                  <a:srgbClr val="000000"/>
                </a:solidFill>
                <a:latin typeface="TimesNewRoman"/>
              </a:rPr>
              <a:t>routing table for J.</a:t>
            </a:r>
            <a:endParaRPr lang="en-IN" dirty="0"/>
          </a:p>
        </p:txBody>
      </p:sp>
    </p:spTree>
    <p:extLst>
      <p:ext uri="{BB962C8B-B14F-4D97-AF65-F5344CB8AC3E}">
        <p14:creationId xmlns:p14="http://schemas.microsoft.com/office/powerpoint/2010/main" val="12677728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Fig (b) shows the delay vectors received from the neighbors of router </a:t>
            </a:r>
            <a:r>
              <a:rPr lang="en-US" i="1" dirty="0"/>
              <a:t>J</a:t>
            </a:r>
            <a:r>
              <a:rPr lang="en-US" dirty="0"/>
              <a:t>. </a:t>
            </a:r>
            <a:r>
              <a:rPr lang="en-US" i="1" dirty="0"/>
              <a:t>A </a:t>
            </a:r>
            <a:r>
              <a:rPr lang="en-US" dirty="0"/>
              <a:t>claims to have a 12-msec delay to </a:t>
            </a:r>
            <a:r>
              <a:rPr lang="en-US" i="1" dirty="0"/>
              <a:t>B</a:t>
            </a:r>
            <a:r>
              <a:rPr lang="en-US" dirty="0"/>
              <a:t>, a 25-msec delay to </a:t>
            </a:r>
            <a:r>
              <a:rPr lang="en-US" i="1" dirty="0"/>
              <a:t>C</a:t>
            </a:r>
            <a:r>
              <a:rPr lang="en-US" dirty="0"/>
              <a:t>, a 40- </a:t>
            </a:r>
            <a:r>
              <a:rPr lang="en-US" dirty="0" err="1"/>
              <a:t>msec</a:t>
            </a:r>
            <a:r>
              <a:rPr lang="en-US" dirty="0"/>
              <a:t> delay to </a:t>
            </a:r>
            <a:r>
              <a:rPr lang="en-US" i="1" dirty="0"/>
              <a:t>D</a:t>
            </a:r>
            <a:r>
              <a:rPr lang="en-US" dirty="0"/>
              <a:t>, etc. Suppose that </a:t>
            </a:r>
            <a:r>
              <a:rPr lang="en-US" i="1" dirty="0"/>
              <a:t>J </a:t>
            </a:r>
            <a:r>
              <a:rPr lang="en-US" dirty="0"/>
              <a:t>has measured or estimated its delay to its neighbors, </a:t>
            </a:r>
            <a:r>
              <a:rPr lang="en-US" i="1" dirty="0"/>
              <a:t>A</a:t>
            </a:r>
            <a:r>
              <a:rPr lang="en-US" dirty="0"/>
              <a:t>, </a:t>
            </a:r>
            <a:r>
              <a:rPr lang="en-US" i="1" dirty="0"/>
              <a:t>I, H</a:t>
            </a:r>
            <a:r>
              <a:rPr lang="en-US" dirty="0"/>
              <a:t>, and </a:t>
            </a:r>
            <a:r>
              <a:rPr lang="en-US" i="1" dirty="0"/>
              <a:t>K</a:t>
            </a:r>
            <a:r>
              <a:rPr lang="en-US" dirty="0"/>
              <a:t>, as 8, 10, 12, and 6 </a:t>
            </a:r>
            <a:r>
              <a:rPr lang="en-US" dirty="0" err="1"/>
              <a:t>msec</a:t>
            </a:r>
            <a:r>
              <a:rPr lang="en-US" dirty="0"/>
              <a:t>, respectively.</a:t>
            </a:r>
          </a:p>
          <a:p>
            <a:r>
              <a:rPr lang="en-US" dirty="0"/>
              <a:t>Consider how </a:t>
            </a:r>
            <a:r>
              <a:rPr lang="en-US" i="1" dirty="0"/>
              <a:t>J </a:t>
            </a:r>
            <a:r>
              <a:rPr lang="en-US" dirty="0"/>
              <a:t>computes its new route to router </a:t>
            </a:r>
            <a:r>
              <a:rPr lang="en-US" i="1" dirty="0"/>
              <a:t>G</a:t>
            </a:r>
            <a:r>
              <a:rPr lang="en-US" dirty="0"/>
              <a:t>. </a:t>
            </a:r>
          </a:p>
          <a:p>
            <a:r>
              <a:rPr lang="en-US" dirty="0"/>
              <a:t>It knows that it can get to </a:t>
            </a:r>
            <a:r>
              <a:rPr lang="en-US" i="1" dirty="0"/>
              <a:t>A </a:t>
            </a:r>
            <a:r>
              <a:rPr lang="en-US" dirty="0"/>
              <a:t>in 8 </a:t>
            </a:r>
            <a:r>
              <a:rPr lang="en-US" dirty="0" err="1"/>
              <a:t>msec</a:t>
            </a:r>
            <a:r>
              <a:rPr lang="en-US" dirty="0"/>
              <a:t>, and furthermore </a:t>
            </a:r>
            <a:r>
              <a:rPr lang="en-US" i="1" dirty="0"/>
              <a:t>A </a:t>
            </a:r>
            <a:r>
              <a:rPr lang="en-US" dirty="0"/>
              <a:t>claims to be able to get to </a:t>
            </a:r>
            <a:r>
              <a:rPr lang="en-US" i="1" dirty="0"/>
              <a:t>G </a:t>
            </a:r>
            <a:r>
              <a:rPr lang="en-US" dirty="0"/>
              <a:t>in 18 </a:t>
            </a:r>
            <a:r>
              <a:rPr lang="en-US" dirty="0" err="1"/>
              <a:t>msec</a:t>
            </a:r>
            <a:r>
              <a:rPr lang="en-US" dirty="0"/>
              <a:t>, so </a:t>
            </a:r>
            <a:r>
              <a:rPr lang="en-US" i="1" dirty="0"/>
              <a:t>J </a:t>
            </a:r>
            <a:r>
              <a:rPr lang="en-US" dirty="0"/>
              <a:t>knows it can count on a delay of 26 </a:t>
            </a:r>
            <a:r>
              <a:rPr lang="en-US" dirty="0" err="1"/>
              <a:t>msec</a:t>
            </a:r>
            <a:r>
              <a:rPr lang="en-US" dirty="0"/>
              <a:t> to </a:t>
            </a:r>
            <a:r>
              <a:rPr lang="en-US" i="1" dirty="0"/>
              <a:t>G </a:t>
            </a:r>
            <a:r>
              <a:rPr lang="en-US" dirty="0"/>
              <a:t>if it forwards packets bound for </a:t>
            </a:r>
            <a:r>
              <a:rPr lang="en-US" i="1" dirty="0"/>
              <a:t>G </a:t>
            </a:r>
            <a:r>
              <a:rPr lang="en-US" dirty="0"/>
              <a:t>to </a:t>
            </a:r>
            <a:r>
              <a:rPr lang="en-US" i="1" dirty="0"/>
              <a:t>A</a:t>
            </a:r>
            <a:r>
              <a:rPr lang="en-US" dirty="0"/>
              <a:t>. </a:t>
            </a:r>
          </a:p>
          <a:p>
            <a:r>
              <a:rPr lang="en-US" dirty="0"/>
              <a:t>Similarly, it computes the delay to </a:t>
            </a:r>
            <a:r>
              <a:rPr lang="en-US" i="1" dirty="0"/>
              <a:t>G </a:t>
            </a:r>
            <a:r>
              <a:rPr lang="en-US" dirty="0"/>
              <a:t>via </a:t>
            </a:r>
            <a:r>
              <a:rPr lang="en-US" i="1" dirty="0"/>
              <a:t>I</a:t>
            </a:r>
            <a:r>
              <a:rPr lang="en-US" dirty="0"/>
              <a:t>, </a:t>
            </a:r>
            <a:r>
              <a:rPr lang="en-US" i="1" dirty="0"/>
              <a:t>H</a:t>
            </a:r>
            <a:r>
              <a:rPr lang="en-US" dirty="0"/>
              <a:t>, and </a:t>
            </a:r>
            <a:r>
              <a:rPr lang="en-US" i="1" dirty="0"/>
              <a:t>K </a:t>
            </a:r>
            <a:r>
              <a:rPr lang="en-US" dirty="0"/>
              <a:t>as 41 (31 + 10), 18 (6 + 12), and 37 (31 + 6) </a:t>
            </a:r>
            <a:r>
              <a:rPr lang="en-US" dirty="0" err="1"/>
              <a:t>msec</a:t>
            </a:r>
            <a:r>
              <a:rPr lang="en-US" dirty="0"/>
              <a:t>, respectively. </a:t>
            </a:r>
          </a:p>
          <a:p>
            <a:r>
              <a:rPr lang="en-US" dirty="0"/>
              <a:t>The best of these values is 18, so it makes an entry in its routing table that the delay to </a:t>
            </a:r>
            <a:r>
              <a:rPr lang="en-US" i="1" dirty="0"/>
              <a:t>G </a:t>
            </a:r>
            <a:r>
              <a:rPr lang="en-US" dirty="0"/>
              <a:t>is 18 </a:t>
            </a:r>
            <a:r>
              <a:rPr lang="en-US" dirty="0" err="1"/>
              <a:t>msec</a:t>
            </a:r>
            <a:r>
              <a:rPr lang="en-US" dirty="0"/>
              <a:t> and that the route to use is via </a:t>
            </a:r>
            <a:r>
              <a:rPr lang="en-US" i="1" dirty="0"/>
              <a:t>H</a:t>
            </a:r>
            <a:r>
              <a:rPr lang="en-US" dirty="0"/>
              <a:t>. </a:t>
            </a:r>
          </a:p>
          <a:p>
            <a:r>
              <a:rPr lang="en-US" dirty="0"/>
              <a:t>The same calculation is performed for all the other destinations, with the new routing table shown in the last column of the figure.</a:t>
            </a:r>
          </a:p>
        </p:txBody>
      </p:sp>
    </p:spTree>
    <p:extLst>
      <p:ext uri="{BB962C8B-B14F-4D97-AF65-F5344CB8AC3E}">
        <p14:creationId xmlns:p14="http://schemas.microsoft.com/office/powerpoint/2010/main" val="21884558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Count-to-Infinity Problem</a:t>
            </a:r>
          </a:p>
        </p:txBody>
      </p:sp>
      <p:sp>
        <p:nvSpPr>
          <p:cNvPr id="3" name="Content Placeholder 2"/>
          <p:cNvSpPr>
            <a:spLocks noGrp="1"/>
          </p:cNvSpPr>
          <p:nvPr>
            <p:ph idx="1"/>
          </p:nvPr>
        </p:nvSpPr>
        <p:spPr/>
        <p:txBody>
          <a:bodyPr>
            <a:normAutofit/>
          </a:bodyPr>
          <a:lstStyle/>
          <a:p>
            <a:r>
              <a:rPr lang="en-IN" dirty="0"/>
              <a:t>Distance Vector Routing works in theory but has a serious drawback in practice.</a:t>
            </a:r>
          </a:p>
          <a:p>
            <a:r>
              <a:rPr lang="en-IN" dirty="0"/>
              <a:t>In particular, it reacts rapidly to good news, but leisurely to bad news.</a:t>
            </a:r>
          </a:p>
          <a:p>
            <a:r>
              <a:rPr lang="en-IN" dirty="0"/>
              <a:t>The core of the problem is that when X tells Y that it has a path somewhere, Y has no way of knowing whether it itself is on the path.</a:t>
            </a:r>
          </a:p>
        </p:txBody>
      </p:sp>
    </p:spTree>
    <p:extLst>
      <p:ext uri="{BB962C8B-B14F-4D97-AF65-F5344CB8AC3E}">
        <p14:creationId xmlns:p14="http://schemas.microsoft.com/office/powerpoint/2010/main" val="28770680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3001993" y="2674189"/>
            <a:ext cx="6763110" cy="3001992"/>
          </a:xfrm>
          <a:prstGeom prst="rect">
            <a:avLst/>
          </a:prstGeom>
        </p:spPr>
      </p:pic>
      <p:sp>
        <p:nvSpPr>
          <p:cNvPr id="5" name="Rectangle 4"/>
          <p:cNvSpPr/>
          <p:nvPr/>
        </p:nvSpPr>
        <p:spPr>
          <a:xfrm>
            <a:off x="1343773" y="2187641"/>
            <a:ext cx="3172663" cy="369332"/>
          </a:xfrm>
          <a:prstGeom prst="rect">
            <a:avLst/>
          </a:prstGeom>
        </p:spPr>
        <p:txBody>
          <a:bodyPr wrap="none">
            <a:spAutoFit/>
          </a:bodyPr>
          <a:lstStyle/>
          <a:p>
            <a:r>
              <a:rPr lang="en-IN" dirty="0">
                <a:latin typeface="TimesNewRoman"/>
              </a:rPr>
              <a:t>The count-to-infinity problem.</a:t>
            </a:r>
            <a:endParaRPr lang="en-IN" dirty="0"/>
          </a:p>
        </p:txBody>
      </p:sp>
    </p:spTree>
    <p:extLst>
      <p:ext uri="{BB962C8B-B14F-4D97-AF65-F5344CB8AC3E}">
        <p14:creationId xmlns:p14="http://schemas.microsoft.com/office/powerpoint/2010/main" val="249550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Link State Routing</a:t>
            </a:r>
          </a:p>
        </p:txBody>
      </p:sp>
      <p:sp>
        <p:nvSpPr>
          <p:cNvPr id="3" name="Content Placeholder 2"/>
          <p:cNvSpPr>
            <a:spLocks noGrp="1"/>
          </p:cNvSpPr>
          <p:nvPr>
            <p:ph idx="1"/>
          </p:nvPr>
        </p:nvSpPr>
        <p:spPr/>
        <p:txBody>
          <a:bodyPr/>
          <a:lstStyle/>
          <a:p>
            <a:r>
              <a:rPr lang="en-IN" dirty="0"/>
              <a:t>Two primary problems of distance vector routing</a:t>
            </a:r>
          </a:p>
          <a:p>
            <a:r>
              <a:rPr lang="en-IN" dirty="0"/>
              <a:t>First, since the delay metric was queue length, it did not take line bandwidth into account when choosing routes.</a:t>
            </a:r>
          </a:p>
          <a:p>
            <a:r>
              <a:rPr lang="en-IN" dirty="0"/>
              <a:t>Second, the algorithm often took too long to converge (the count-to-infinity problem)</a:t>
            </a:r>
          </a:p>
          <a:p>
            <a:r>
              <a:rPr lang="en-IN" dirty="0"/>
              <a:t>Distance vector routing was replaced by Link State Routing</a:t>
            </a:r>
          </a:p>
          <a:p>
            <a:r>
              <a:rPr lang="en-IN" dirty="0"/>
              <a:t>Link State Routing is also dynamic routing algorithm.</a:t>
            </a:r>
          </a:p>
          <a:p>
            <a:endParaRPr lang="en-IN" dirty="0"/>
          </a:p>
        </p:txBody>
      </p:sp>
    </p:spTree>
    <p:extLst>
      <p:ext uri="{BB962C8B-B14F-4D97-AF65-F5344CB8AC3E}">
        <p14:creationId xmlns:p14="http://schemas.microsoft.com/office/powerpoint/2010/main" val="14264605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IN" dirty="0"/>
              <a:t>Each router must do the following:</a:t>
            </a:r>
          </a:p>
          <a:p>
            <a:pPr marL="0" indent="0">
              <a:buNone/>
            </a:pPr>
            <a:r>
              <a:rPr lang="en-IN" dirty="0"/>
              <a:t>1. Discover its neighbours, learn their network address.</a:t>
            </a:r>
          </a:p>
          <a:p>
            <a:pPr marL="0" indent="0">
              <a:buNone/>
            </a:pPr>
            <a:r>
              <a:rPr lang="en-IN" dirty="0"/>
              <a:t>2. Measure the delay or cost to each of its neighbours.</a:t>
            </a:r>
          </a:p>
          <a:p>
            <a:pPr marL="0" indent="0">
              <a:buNone/>
            </a:pPr>
            <a:r>
              <a:rPr lang="en-IN" dirty="0"/>
              <a:t>3. Construct a packet telling all it has just learned.</a:t>
            </a:r>
          </a:p>
          <a:p>
            <a:pPr marL="0" indent="0">
              <a:buNone/>
            </a:pPr>
            <a:r>
              <a:rPr lang="en-IN" dirty="0"/>
              <a:t>4. Send this packet to all other routers.</a:t>
            </a:r>
          </a:p>
          <a:p>
            <a:pPr marL="0" indent="0">
              <a:buNone/>
            </a:pPr>
            <a:r>
              <a:rPr lang="en-IN" dirty="0"/>
              <a:t>5. Compute the shortest path to every other router.</a:t>
            </a:r>
          </a:p>
        </p:txBody>
      </p:sp>
    </p:spTree>
    <p:extLst>
      <p:ext uri="{BB962C8B-B14F-4D97-AF65-F5344CB8AC3E}">
        <p14:creationId xmlns:p14="http://schemas.microsoft.com/office/powerpoint/2010/main" val="34029706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3364303" y="2596551"/>
            <a:ext cx="5978106" cy="2361810"/>
          </a:xfrm>
          <a:prstGeom prst="rect">
            <a:avLst/>
          </a:prstGeom>
        </p:spPr>
      </p:pic>
      <p:sp>
        <p:nvSpPr>
          <p:cNvPr id="5" name="Rectangle 4"/>
          <p:cNvSpPr/>
          <p:nvPr/>
        </p:nvSpPr>
        <p:spPr>
          <a:xfrm>
            <a:off x="921311" y="1998125"/>
            <a:ext cx="3704860" cy="400110"/>
          </a:xfrm>
          <a:prstGeom prst="rect">
            <a:avLst/>
          </a:prstGeom>
        </p:spPr>
        <p:txBody>
          <a:bodyPr wrap="none">
            <a:spAutoFit/>
          </a:bodyPr>
          <a:lstStyle/>
          <a:p>
            <a:r>
              <a:rPr lang="en-IN" sz="2000" dirty="0">
                <a:latin typeface="TimesNewRoman"/>
              </a:rPr>
              <a:t>Learning about the Neighbours</a:t>
            </a:r>
            <a:endParaRPr lang="en-IN" sz="2000" dirty="0"/>
          </a:p>
        </p:txBody>
      </p:sp>
      <p:sp>
        <p:nvSpPr>
          <p:cNvPr id="6" name="Rectangle 5"/>
          <p:cNvSpPr/>
          <p:nvPr/>
        </p:nvSpPr>
        <p:spPr>
          <a:xfrm>
            <a:off x="3709499" y="5450465"/>
            <a:ext cx="5558060" cy="369332"/>
          </a:xfrm>
          <a:prstGeom prst="rect">
            <a:avLst/>
          </a:prstGeom>
        </p:spPr>
        <p:txBody>
          <a:bodyPr wrap="none">
            <a:spAutoFit/>
          </a:bodyPr>
          <a:lstStyle/>
          <a:p>
            <a:r>
              <a:rPr lang="en-IN" dirty="0">
                <a:latin typeface="TimesNewRoman"/>
              </a:rPr>
              <a:t>(a) Nine routers and a LAN. (b) A graph model of (a).</a:t>
            </a:r>
            <a:endParaRPr lang="en-IN" dirty="0"/>
          </a:p>
        </p:txBody>
      </p:sp>
    </p:spTree>
    <p:extLst>
      <p:ext uri="{BB962C8B-B14F-4D97-AF65-F5344CB8AC3E}">
        <p14:creationId xmlns:p14="http://schemas.microsoft.com/office/powerpoint/2010/main" val="31703215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IN"/>
          </a:p>
        </p:txBody>
      </p:sp>
      <p:sp>
        <p:nvSpPr>
          <p:cNvPr id="3" name="Content Placeholder 2"/>
          <p:cNvSpPr>
            <a:spLocks noGrp="1"/>
          </p:cNvSpPr>
          <p:nvPr>
            <p:ph idx="4294967295"/>
          </p:nvPr>
        </p:nvSpPr>
        <p:spPr>
          <a:xfrm>
            <a:off x="940278" y="1825625"/>
            <a:ext cx="9575321" cy="4351338"/>
          </a:xfrm>
        </p:spPr>
        <p:txBody>
          <a:bodyPr/>
          <a:lstStyle/>
          <a:p>
            <a:r>
              <a:rPr lang="en-IN" dirty="0"/>
              <a:t>Measuring Line Cost</a:t>
            </a:r>
          </a:p>
        </p:txBody>
      </p:sp>
      <p:pic>
        <p:nvPicPr>
          <p:cNvPr id="4" name="Picture 3"/>
          <p:cNvPicPr>
            <a:picLocks noChangeAspect="1"/>
          </p:cNvPicPr>
          <p:nvPr/>
        </p:nvPicPr>
        <p:blipFill>
          <a:blip r:embed="rId2"/>
          <a:stretch>
            <a:fillRect/>
          </a:stretch>
        </p:blipFill>
        <p:spPr>
          <a:xfrm>
            <a:off x="4753155" y="2427777"/>
            <a:ext cx="5986732" cy="2621661"/>
          </a:xfrm>
          <a:prstGeom prst="rect">
            <a:avLst/>
          </a:prstGeom>
        </p:spPr>
      </p:pic>
      <p:sp>
        <p:nvSpPr>
          <p:cNvPr id="6" name="Rectangle 5"/>
          <p:cNvSpPr/>
          <p:nvPr/>
        </p:nvSpPr>
        <p:spPr>
          <a:xfrm>
            <a:off x="1035169" y="5049438"/>
            <a:ext cx="6096000" cy="646331"/>
          </a:xfrm>
          <a:prstGeom prst="rect">
            <a:avLst/>
          </a:prstGeom>
        </p:spPr>
        <p:txBody>
          <a:bodyPr>
            <a:spAutoFit/>
          </a:bodyPr>
          <a:lstStyle/>
          <a:p>
            <a:r>
              <a:rPr lang="en-IN" dirty="0">
                <a:latin typeface="TimesNewRoman"/>
              </a:rPr>
              <a:t>A subnet in which the East and West parts are connected by two lines.</a:t>
            </a:r>
            <a:endParaRPr lang="en-IN" dirty="0"/>
          </a:p>
        </p:txBody>
      </p:sp>
    </p:spTree>
    <p:extLst>
      <p:ext uri="{BB962C8B-B14F-4D97-AF65-F5344CB8AC3E}">
        <p14:creationId xmlns:p14="http://schemas.microsoft.com/office/powerpoint/2010/main" val="20923706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Rectangle 2"/>
          <p:cNvSpPr/>
          <p:nvPr/>
        </p:nvSpPr>
        <p:spPr>
          <a:xfrm>
            <a:off x="930995" y="1875354"/>
            <a:ext cx="3292889" cy="400110"/>
          </a:xfrm>
          <a:prstGeom prst="rect">
            <a:avLst/>
          </a:prstGeom>
        </p:spPr>
        <p:txBody>
          <a:bodyPr wrap="none">
            <a:spAutoFit/>
          </a:bodyPr>
          <a:lstStyle/>
          <a:p>
            <a:r>
              <a:rPr lang="en-IN" sz="2000" dirty="0">
                <a:latin typeface="TimesNewRoman"/>
              </a:rPr>
              <a:t>Building Link State Packets</a:t>
            </a:r>
            <a:endParaRPr lang="en-IN" sz="2000" dirty="0"/>
          </a:p>
        </p:txBody>
      </p:sp>
      <p:pic>
        <p:nvPicPr>
          <p:cNvPr id="4" name="Picture 3"/>
          <p:cNvPicPr>
            <a:picLocks noChangeAspect="1"/>
          </p:cNvPicPr>
          <p:nvPr/>
        </p:nvPicPr>
        <p:blipFill>
          <a:blip r:embed="rId2"/>
          <a:stretch>
            <a:fillRect/>
          </a:stretch>
        </p:blipFill>
        <p:spPr>
          <a:xfrm>
            <a:off x="2605177" y="2587925"/>
            <a:ext cx="6961517" cy="2199735"/>
          </a:xfrm>
          <a:prstGeom prst="rect">
            <a:avLst/>
          </a:prstGeom>
        </p:spPr>
      </p:pic>
      <p:sp>
        <p:nvSpPr>
          <p:cNvPr id="5" name="Rectangle 4"/>
          <p:cNvSpPr/>
          <p:nvPr/>
        </p:nvSpPr>
        <p:spPr>
          <a:xfrm>
            <a:off x="3248521" y="5130899"/>
            <a:ext cx="5694957" cy="369332"/>
          </a:xfrm>
          <a:prstGeom prst="rect">
            <a:avLst/>
          </a:prstGeom>
        </p:spPr>
        <p:txBody>
          <a:bodyPr wrap="none">
            <a:spAutoFit/>
          </a:bodyPr>
          <a:lstStyle/>
          <a:p>
            <a:r>
              <a:rPr lang="en-IN" dirty="0">
                <a:latin typeface="TimesNewRoman"/>
              </a:rPr>
              <a:t>(a) A subnet. (b) The link state packets for this subnet.</a:t>
            </a:r>
            <a:endParaRPr lang="en-IN" dirty="0"/>
          </a:p>
        </p:txBody>
      </p:sp>
    </p:spTree>
    <p:extLst>
      <p:ext uri="{BB962C8B-B14F-4D97-AF65-F5344CB8AC3E}">
        <p14:creationId xmlns:p14="http://schemas.microsoft.com/office/powerpoint/2010/main" val="2419543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NewRoman"/>
              </a:rPr>
              <a:t>Distributing the Link State Packets</a:t>
            </a:r>
            <a:endParaRPr lang="en-IN" dirty="0"/>
          </a:p>
        </p:txBody>
      </p:sp>
      <p:pic>
        <p:nvPicPr>
          <p:cNvPr id="4" name="Picture 3"/>
          <p:cNvPicPr>
            <a:picLocks noChangeAspect="1"/>
          </p:cNvPicPr>
          <p:nvPr/>
        </p:nvPicPr>
        <p:blipFill>
          <a:blip r:embed="rId2"/>
          <a:stretch>
            <a:fillRect/>
          </a:stretch>
        </p:blipFill>
        <p:spPr>
          <a:xfrm>
            <a:off x="2873611" y="3546431"/>
            <a:ext cx="7021902" cy="2381692"/>
          </a:xfrm>
          <a:prstGeom prst="rect">
            <a:avLst/>
          </a:prstGeom>
        </p:spPr>
      </p:pic>
      <p:sp>
        <p:nvSpPr>
          <p:cNvPr id="5" name="Rectangle 4"/>
          <p:cNvSpPr/>
          <p:nvPr/>
        </p:nvSpPr>
        <p:spPr>
          <a:xfrm>
            <a:off x="546253" y="2282845"/>
            <a:ext cx="3522311" cy="400110"/>
          </a:xfrm>
          <a:prstGeom prst="rect">
            <a:avLst/>
          </a:prstGeom>
        </p:spPr>
        <p:txBody>
          <a:bodyPr wrap="none">
            <a:spAutoFit/>
          </a:bodyPr>
          <a:lstStyle/>
          <a:p>
            <a:r>
              <a:rPr lang="en-IN" sz="2000" dirty="0">
                <a:latin typeface="TimesNewRoman"/>
              </a:rPr>
              <a:t>The packet buffer for router B</a:t>
            </a:r>
            <a:endParaRPr lang="en-IN" sz="2000" dirty="0"/>
          </a:p>
        </p:txBody>
      </p:sp>
    </p:spTree>
    <p:extLst>
      <p:ext uri="{BB962C8B-B14F-4D97-AF65-F5344CB8AC3E}">
        <p14:creationId xmlns:p14="http://schemas.microsoft.com/office/powerpoint/2010/main" val="10201073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NewRoman"/>
              </a:rPr>
              <a:t>Computing the New Routes</a:t>
            </a:r>
            <a:endParaRPr lang="en-IN" dirty="0"/>
          </a:p>
        </p:txBody>
      </p:sp>
      <p:sp>
        <p:nvSpPr>
          <p:cNvPr id="7" name="Content Placeholder 6"/>
          <p:cNvSpPr>
            <a:spLocks noGrp="1"/>
          </p:cNvSpPr>
          <p:nvPr>
            <p:ph idx="1"/>
          </p:nvPr>
        </p:nvSpPr>
        <p:spPr/>
        <p:txBody>
          <a:bodyPr/>
          <a:lstStyle/>
          <a:p>
            <a:r>
              <a:rPr lang="en-IN" dirty="0">
                <a:solidFill>
                  <a:srgbClr val="000000"/>
                </a:solidFill>
                <a:latin typeface="TimesNewRoman"/>
              </a:rPr>
              <a:t>Once a router has accumulated a full set of link state packets, it can construct the entire subnet graph because every link is represented.</a:t>
            </a:r>
          </a:p>
          <a:p>
            <a:r>
              <a:rPr lang="en-IN" dirty="0">
                <a:solidFill>
                  <a:srgbClr val="3333CD"/>
                </a:solidFill>
                <a:latin typeface="TimesNewRoman"/>
              </a:rPr>
              <a:t> </a:t>
            </a:r>
            <a:r>
              <a:rPr lang="en-IN" dirty="0">
                <a:solidFill>
                  <a:srgbClr val="000000"/>
                </a:solidFill>
                <a:latin typeface="TimesNewRoman"/>
              </a:rPr>
              <a:t>Every link is, in fact, represented twice, once for each direction.</a:t>
            </a:r>
            <a:endParaRPr lang="en-IN" dirty="0"/>
          </a:p>
          <a:p>
            <a:endParaRPr lang="en-IN" dirty="0"/>
          </a:p>
        </p:txBody>
      </p:sp>
    </p:spTree>
    <p:extLst>
      <p:ext uri="{BB962C8B-B14F-4D97-AF65-F5344CB8AC3E}">
        <p14:creationId xmlns:p14="http://schemas.microsoft.com/office/powerpoint/2010/main" val="13341438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Hierarchical Routing</a:t>
            </a:r>
          </a:p>
        </p:txBody>
      </p:sp>
      <p:pic>
        <p:nvPicPr>
          <p:cNvPr id="4" name="Content Placeholder 3"/>
          <p:cNvPicPr>
            <a:picLocks noGrp="1" noChangeAspect="1"/>
          </p:cNvPicPr>
          <p:nvPr>
            <p:ph idx="1"/>
          </p:nvPr>
        </p:nvPicPr>
        <p:blipFill>
          <a:blip r:embed="rId2"/>
          <a:stretch>
            <a:fillRect/>
          </a:stretch>
        </p:blipFill>
        <p:spPr>
          <a:xfrm>
            <a:off x="2941607" y="1759788"/>
            <a:ext cx="6754483" cy="3856007"/>
          </a:xfrm>
          <a:prstGeom prst="rect">
            <a:avLst/>
          </a:prstGeom>
        </p:spPr>
      </p:pic>
    </p:spTree>
    <p:extLst>
      <p:ext uri="{BB962C8B-B14F-4D97-AF65-F5344CB8AC3E}">
        <p14:creationId xmlns:p14="http://schemas.microsoft.com/office/powerpoint/2010/main" val="30753908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Broadcast Routing</a:t>
            </a:r>
          </a:p>
        </p:txBody>
      </p:sp>
      <p:pic>
        <p:nvPicPr>
          <p:cNvPr id="4" name="Content Placeholder 3"/>
          <p:cNvPicPr>
            <a:picLocks noGrp="1" noChangeAspect="1"/>
          </p:cNvPicPr>
          <p:nvPr>
            <p:ph idx="1"/>
          </p:nvPr>
        </p:nvPicPr>
        <p:blipFill>
          <a:blip r:embed="rId2"/>
          <a:stretch>
            <a:fillRect/>
          </a:stretch>
        </p:blipFill>
        <p:spPr>
          <a:xfrm>
            <a:off x="2311880" y="1690688"/>
            <a:ext cx="7763772" cy="2723649"/>
          </a:xfrm>
          <a:prstGeom prst="rect">
            <a:avLst/>
          </a:prstGeom>
        </p:spPr>
      </p:pic>
      <p:sp>
        <p:nvSpPr>
          <p:cNvPr id="5" name="Rectangle 4"/>
          <p:cNvSpPr/>
          <p:nvPr/>
        </p:nvSpPr>
        <p:spPr>
          <a:xfrm>
            <a:off x="3220529" y="5021224"/>
            <a:ext cx="6096000" cy="646331"/>
          </a:xfrm>
          <a:prstGeom prst="rect">
            <a:avLst/>
          </a:prstGeom>
        </p:spPr>
        <p:txBody>
          <a:bodyPr>
            <a:spAutoFit/>
          </a:bodyPr>
          <a:lstStyle/>
          <a:p>
            <a:r>
              <a:rPr lang="en-IN" dirty="0">
                <a:latin typeface="TimesNewRoman"/>
              </a:rPr>
              <a:t>Reverse path forwarding. (a) A subnet. (b) a Sink tree. (c) The tree built by reverse path forwarding.</a:t>
            </a:r>
            <a:endParaRPr lang="en-IN" dirty="0"/>
          </a:p>
        </p:txBody>
      </p:sp>
    </p:spTree>
    <p:extLst>
      <p:ext uri="{BB962C8B-B14F-4D97-AF65-F5344CB8AC3E}">
        <p14:creationId xmlns:p14="http://schemas.microsoft.com/office/powerpoint/2010/main" val="8666477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Multicast Routing</a:t>
            </a:r>
          </a:p>
        </p:txBody>
      </p:sp>
      <p:pic>
        <p:nvPicPr>
          <p:cNvPr id="4" name="Content Placeholder 3"/>
          <p:cNvPicPr>
            <a:picLocks noGrp="1" noChangeAspect="1"/>
          </p:cNvPicPr>
          <p:nvPr>
            <p:ph idx="1"/>
          </p:nvPr>
        </p:nvPicPr>
        <p:blipFill>
          <a:blip r:embed="rId2"/>
          <a:stretch>
            <a:fillRect/>
          </a:stretch>
        </p:blipFill>
        <p:spPr>
          <a:xfrm>
            <a:off x="2941606" y="1465667"/>
            <a:ext cx="6788989" cy="2847539"/>
          </a:xfrm>
          <a:prstGeom prst="rect">
            <a:avLst/>
          </a:prstGeom>
        </p:spPr>
      </p:pic>
      <p:sp>
        <p:nvSpPr>
          <p:cNvPr id="5" name="Rectangle 4"/>
          <p:cNvSpPr/>
          <p:nvPr/>
        </p:nvSpPr>
        <p:spPr>
          <a:xfrm>
            <a:off x="2159479" y="5227456"/>
            <a:ext cx="6096000" cy="923330"/>
          </a:xfrm>
          <a:prstGeom prst="rect">
            <a:avLst/>
          </a:prstGeom>
        </p:spPr>
        <p:txBody>
          <a:bodyPr>
            <a:spAutoFit/>
          </a:bodyPr>
          <a:lstStyle/>
          <a:p>
            <a:r>
              <a:rPr lang="en-IN" dirty="0">
                <a:latin typeface="TimesNewRoman"/>
              </a:rPr>
              <a:t>(a) A network. (b) A spanning tree for the leftmost router.</a:t>
            </a:r>
          </a:p>
          <a:p>
            <a:r>
              <a:rPr lang="en-IN" dirty="0">
                <a:latin typeface="TimesNewRoman"/>
              </a:rPr>
              <a:t>(c) A multicast tree for group 1. (d) A multicast tree for group 2.</a:t>
            </a:r>
            <a:endParaRPr lang="en-IN" dirty="0"/>
          </a:p>
        </p:txBody>
      </p:sp>
    </p:spTree>
    <p:extLst>
      <p:ext uri="{BB962C8B-B14F-4D97-AF65-F5344CB8AC3E}">
        <p14:creationId xmlns:p14="http://schemas.microsoft.com/office/powerpoint/2010/main" val="20164588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