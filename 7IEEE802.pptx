
<file path=[Content_Types].xml><?xml version="1.0" encoding="utf-8"?>
<Types xmlns="http://schemas.openxmlformats.org/package/2006/content-types">
  <Default ContentType="image/x-wmf" Extension="wmf"/>
  <Default ContentType="application/vnd.openxmlformats-officedocument.vmlDrawing" Extension="vml"/>
  <Default ContentType="application/vnd.openxmlformats-officedocument.oleObject" Extension="bin"/>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5C22544A-7EE6-4342-B048-85BDC9FD1C3A}" styleName="Medium Style 2 - Accent 1">
    <a:wholeTbl>
      <a:tcTxStyle>
        <a:fontRef idx="minor">
          <a:prstClr val="black"/>
        </a:fontRef>
        <a:schemeClr val="dk1"/>
      </a:tcTxStyle>
      <a:tcStyle>
        <a:tcBdr>
          <a:left>
            <a:ln cmpd="sng" w="12700">
              <a:solidFill>
                <a:schemeClr val="lt1"/>
              </a:solidFill>
            </a:ln>
          </a:left>
          <a:right>
            <a:ln cmpd="sng" w="12700">
              <a:solidFill>
                <a:schemeClr val="lt1"/>
              </a:solidFill>
            </a:ln>
          </a:right>
          <a:top>
            <a:ln cmpd="sng" w="12700">
              <a:solidFill>
                <a:schemeClr val="lt1"/>
              </a:solidFill>
            </a:ln>
          </a:top>
          <a:bottom>
            <a:ln cmpd="sng" w="12700">
              <a:solidFill>
                <a:schemeClr val="lt1"/>
              </a:solidFill>
            </a:ln>
          </a:bottom>
          <a:insideH>
            <a:ln cmpd="sng" w="12700">
              <a:solidFill>
                <a:schemeClr val="lt1"/>
              </a:solidFill>
            </a:ln>
          </a:insideH>
          <a:insideV>
            <a:ln cmpd="sng"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cmpd="sng" w="38100">
              <a:solidFill>
                <a:schemeClr val="lt1"/>
              </a:solidFill>
            </a:ln>
          </a:top>
        </a:tcBdr>
        <a:fill>
          <a:solidFill>
            <a:schemeClr val="accent1"/>
          </a:solidFill>
        </a:fill>
      </a:tcStyle>
    </a:lastRow>
    <a:firstRow>
      <a:tcTxStyle b="on">
        <a:fontRef idx="minor">
          <a:prstClr val="black"/>
        </a:fontRef>
        <a:schemeClr val="lt1"/>
      </a:tcTxStyle>
      <a:tcStyle>
        <a:tcBdr>
          <a:bottom>
            <a:ln cmpd="sng" w="38100">
              <a:solidFill>
                <a:schemeClr val="lt1"/>
              </a:solidFill>
            </a:ln>
          </a:bottom>
        </a:tcBdr>
        <a:fill>
          <a:solidFill>
            <a:schemeClr val="accent1"/>
          </a:solidFill>
        </a:fill>
      </a:tcStyle>
    </a:firstRow>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D35176-0883-4716-B48F-AF055A6833A3}" type="datetimeFigureOut">
              <a:rPr lang="en-IN" smtClean="0"/>
              <a:t>22-09-2026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4D86F6-5526-4834-A214-24F5035BABFC}" type="slidenum">
              <a:rPr lang="en-IN" smtClean="0"/>
              <a:t>‹#›</a:t>
            </a:fld>
            <a:endParaRPr lang="en-IN"/>
          </a:p>
        </p:txBody>
      </p:sp>
    </p:spTree>
    <p:extLst>
      <p:ext uri="{BB962C8B-B14F-4D97-AF65-F5344CB8AC3E}">
        <p14:creationId xmlns:p14="http://schemas.microsoft.com/office/powerpoint/2010/main" val="3604011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9964DE-6B26-4431-82D7-A6280C824463}" type="slidenum">
              <a:rPr lang="en-US" altLang="en-US"/>
              <a:pPr/>
              <a:t>14</a:t>
            </a:fld>
            <a:endParaRPr lang="en-US" altLang="en-US"/>
          </a:p>
        </p:txBody>
      </p:sp>
      <p:sp>
        <p:nvSpPr>
          <p:cNvPr id="921602" name="Rectangle 2"/>
          <p:cNvSpPr>
            <a:spLocks noGrp="1" noRot="1" noChangeAspect="1" noChangeArrowheads="1" noTextEdit="1"/>
          </p:cNvSpPr>
          <p:nvPr>
            <p:ph type="sldImg"/>
          </p:nvPr>
        </p:nvSpPr>
        <p:spPr>
          <a:ln/>
        </p:spPr>
      </p:sp>
      <p:sp>
        <p:nvSpPr>
          <p:cNvPr id="9216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748289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8FA202-D9AB-4590-B670-E0397C8E3386}" type="slidenum">
              <a:rPr lang="en-US" altLang="en-US"/>
              <a:pPr/>
              <a:t>19</a:t>
            </a:fld>
            <a:endParaRPr lang="en-US" altLang="en-US"/>
          </a:p>
        </p:txBody>
      </p:sp>
      <p:sp>
        <p:nvSpPr>
          <p:cNvPr id="939010" name="Rectangle 2"/>
          <p:cNvSpPr>
            <a:spLocks noGrp="1" noRot="1" noChangeAspect="1" noChangeArrowheads="1" noTextEdit="1"/>
          </p:cNvSpPr>
          <p:nvPr>
            <p:ph type="sldImg"/>
          </p:nvPr>
        </p:nvSpPr>
        <p:spPr>
          <a:ln/>
        </p:spPr>
      </p:sp>
      <p:sp>
        <p:nvSpPr>
          <p:cNvPr id="9390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896442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692729-A684-4F12-BDB8-4ACF6472E57A}" type="slidenum">
              <a:rPr lang="en-US" altLang="en-US"/>
              <a:pPr/>
              <a:t>21</a:t>
            </a:fld>
            <a:endParaRPr lang="en-US" altLang="en-US"/>
          </a:p>
        </p:txBody>
      </p:sp>
      <p:sp>
        <p:nvSpPr>
          <p:cNvPr id="940034" name="Rectangle 2"/>
          <p:cNvSpPr>
            <a:spLocks noGrp="1" noRot="1" noChangeAspect="1" noChangeArrowheads="1" noTextEdit="1"/>
          </p:cNvSpPr>
          <p:nvPr>
            <p:ph type="sldImg"/>
          </p:nvPr>
        </p:nvSpPr>
        <p:spPr>
          <a:ln/>
        </p:spPr>
      </p:sp>
      <p:sp>
        <p:nvSpPr>
          <p:cNvPr id="9400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80915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B371CEB-26A5-4AFB-AC7D-92C640521390}"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3226713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B371CEB-26A5-4AFB-AC7D-92C640521390}"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122233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371CEB-26A5-4AFB-AC7D-92C640521390}"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4268883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B371CEB-26A5-4AFB-AC7D-92C640521390}"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4200681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B371CEB-26A5-4AFB-AC7D-92C640521390}" type="datetimeFigureOut">
              <a:rPr lang="en-IN" smtClean="0"/>
              <a:t>22-09-2026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440063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B371CEB-26A5-4AFB-AC7D-92C640521390}" type="datetimeFigureOut">
              <a:rPr lang="en-IN" smtClean="0"/>
              <a:t>22-09-2026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1871219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371CEB-26A5-4AFB-AC7D-92C640521390}" type="datetimeFigureOut">
              <a:rPr lang="en-IN" smtClean="0"/>
              <a:t>22-09-2026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3268524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371CEB-26A5-4AFB-AC7D-92C640521390}"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2445084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371CEB-26A5-4AFB-AC7D-92C640521390}"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228397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B371CEB-26A5-4AFB-AC7D-92C640521390}"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184825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B371CEB-26A5-4AFB-AC7D-92C640521390}"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67D7-CFD0-48E5-9DE6-A04497181685}" type="slidenum">
              <a:rPr lang="en-IN" smtClean="0"/>
              <a:t>‹#›</a:t>
            </a:fld>
            <a:endParaRPr lang="en-IN"/>
          </a:p>
        </p:txBody>
      </p:sp>
    </p:spTree>
    <p:extLst>
      <p:ext uri="{BB962C8B-B14F-4D97-AF65-F5344CB8AC3E}">
        <p14:creationId xmlns:p14="http://schemas.microsoft.com/office/powerpoint/2010/main" val="20383656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11074400" cy="8382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295400"/>
            <a:ext cx="54356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248400" y="1295400"/>
            <a:ext cx="54356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0" y="0"/>
            <a:ext cx="4165600" cy="457200"/>
          </a:xfrm>
        </p:spPr>
        <p:txBody>
          <a:bodyPr/>
          <a:lstStyle>
            <a:lvl1pPr>
              <a:defRPr/>
            </a:lvl1pPr>
          </a:lstStyle>
          <a:p>
            <a:r>
              <a:rPr lang="en-US" altLang="en-US"/>
              <a:t>IST 228\Ch1\Internetworking</a:t>
            </a:r>
          </a:p>
        </p:txBody>
      </p:sp>
      <p:sp>
        <p:nvSpPr>
          <p:cNvPr id="6" name="Slide Number Placeholder 5"/>
          <p:cNvSpPr>
            <a:spLocks noGrp="1"/>
          </p:cNvSpPr>
          <p:nvPr>
            <p:ph type="sldNum" sz="quarter" idx="11"/>
          </p:nvPr>
        </p:nvSpPr>
        <p:spPr>
          <a:xfrm>
            <a:off x="9652000" y="0"/>
            <a:ext cx="2540000" cy="457200"/>
          </a:xfrm>
        </p:spPr>
        <p:txBody>
          <a:bodyPr/>
          <a:lstStyle>
            <a:lvl1pPr>
              <a:defRPr/>
            </a:lvl1pPr>
          </a:lstStyle>
          <a:p>
            <a:fld id="{75D96B72-2C6B-40FD-9595-CFCC938551D9}" type="slidenum">
              <a:rPr lang="en-US" altLang="en-US"/>
              <a:pPr/>
              <a:t>‹#›</a:t>
            </a:fld>
            <a:endParaRPr lang="en-US" altLang="en-US"/>
          </a:p>
        </p:txBody>
      </p:sp>
    </p:spTree>
    <p:extLst>
      <p:ext uri="{BB962C8B-B14F-4D97-AF65-F5344CB8AC3E}">
        <p14:creationId xmlns:p14="http://schemas.microsoft.com/office/powerpoint/2010/main" val="2420374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371CEB-26A5-4AFB-AC7D-92C640521390}" type="datetimeFigureOut">
              <a:rPr lang="en-IN" smtClean="0"/>
              <a:t>22-09-2026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4267D7-CFD0-48E5-9DE6-A04497181685}" type="slidenum">
              <a:rPr lang="en-IN" smtClean="0"/>
              <a:t>‹#›</a:t>
            </a:fld>
            <a:endParaRPr lang="en-IN"/>
          </a:p>
        </p:txBody>
      </p:sp>
    </p:spTree>
    <p:extLst>
      <p:ext uri="{BB962C8B-B14F-4D97-AF65-F5344CB8AC3E}">
        <p14:creationId xmlns:p14="http://schemas.microsoft.com/office/powerpoint/2010/main" val="2387132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IEEE 802</a:t>
            </a:r>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15581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133600" y="76200"/>
            <a:ext cx="7391400" cy="609600"/>
          </a:xfrm>
        </p:spPr>
        <p:txBody>
          <a:bodyPr/>
          <a:lstStyle/>
          <a:p>
            <a:r>
              <a:rPr lang="en-US" altLang="en-US" sz="3600"/>
              <a:t>IEEE 802 Standards Working Groups</a:t>
            </a:r>
          </a:p>
        </p:txBody>
      </p:sp>
      <p:pic>
        <p:nvPicPr>
          <p:cNvPr id="5123" name="Picture 3" descr="1-38"/>
          <p:cNvPicPr>
            <a:picLocks noChangeAspect="1" noChangeArrowheads="1"/>
          </p:cNvPicPr>
          <p:nvPr/>
        </p:nvPicPr>
        <p:blipFill>
          <a:blip r:embed="rId2">
            <a:extLst>
              <a:ext uri="{28A0092B-C50C-407E-A947-70E740481C1C}">
                <a14:useLocalDpi xmlns:a14="http://schemas.microsoft.com/office/drawing/2010/main" val="0"/>
              </a:ext>
            </a:extLst>
          </a:blip>
          <a:srcRect l="13138"/>
          <a:stretch>
            <a:fillRect/>
          </a:stretch>
        </p:blipFill>
        <p:spPr bwMode="auto">
          <a:xfrm>
            <a:off x="3051176" y="838201"/>
            <a:ext cx="5864225" cy="4486275"/>
          </a:xfrm>
          <a:prstGeom prst="rect">
            <a:avLst/>
          </a:prstGeom>
          <a:noFill/>
          <a:extLst>
            <a:ext uri="{909E8E84-426E-40DD-AFC4-6F175D3DCCD1}">
              <a14:hiddenFill xmlns:a14="http://schemas.microsoft.com/office/drawing/2010/main">
                <a:solidFill>
                  <a:srgbClr val="FFFFFF"/>
                </a:solidFill>
              </a14:hiddenFill>
            </a:ext>
          </a:extLst>
        </p:spPr>
      </p:pic>
      <p:sp>
        <p:nvSpPr>
          <p:cNvPr id="5125" name="Text Box 5"/>
          <p:cNvSpPr txBox="1">
            <a:spLocks noChangeArrowheads="1"/>
          </p:cNvSpPr>
          <p:nvPr/>
        </p:nvSpPr>
        <p:spPr bwMode="auto">
          <a:xfrm>
            <a:off x="1752600" y="5394326"/>
            <a:ext cx="8305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latin typeface="Times New Roman" panose="02020603050405020304" pitchFamily="18" charset="0"/>
              </a:rPr>
              <a:t>The important ones are marked with *.  The ones marked with </a:t>
            </a:r>
            <a:r>
              <a:rPr lang="en-US" altLang="en-US" sz="2000" dirty="0">
                <a:latin typeface="Times New Roman" panose="02020603050405020304" pitchFamily="18" charset="0"/>
                <a:sym typeface="Wingdings" panose="05000000000000000000" pitchFamily="2" charset="2"/>
              </a:rPr>
              <a:t> are hibernating.  The one marked with  † gave up.</a:t>
            </a:r>
          </a:p>
        </p:txBody>
      </p:sp>
    </p:spTree>
    <p:extLst>
      <p:ext uri="{BB962C8B-B14F-4D97-AF65-F5344CB8AC3E}">
        <p14:creationId xmlns:p14="http://schemas.microsoft.com/office/powerpoint/2010/main" val="610322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tr-TR" dirty="0"/>
              <a:t>CSMA/CD (IEEE 802.3 – Ethernet)</a:t>
            </a:r>
          </a:p>
        </p:txBody>
      </p:sp>
      <p:sp>
        <p:nvSpPr>
          <p:cNvPr id="29699" name="Rectangle 3"/>
          <p:cNvSpPr>
            <a:spLocks noGrp="1" noChangeArrowheads="1"/>
          </p:cNvSpPr>
          <p:nvPr>
            <p:ph idx="1"/>
          </p:nvPr>
        </p:nvSpPr>
        <p:spPr/>
        <p:txBody>
          <a:bodyPr>
            <a:normAutofit lnSpcReduction="10000"/>
          </a:bodyPr>
          <a:lstStyle/>
          <a:p>
            <a:pPr>
              <a:lnSpc>
                <a:spcPct val="90000"/>
              </a:lnSpc>
            </a:pPr>
            <a:r>
              <a:rPr lang="en-US" altLang="tr-TR" dirty="0"/>
              <a:t>As in 1-persistent CSMA, but uses slotted channels</a:t>
            </a:r>
          </a:p>
          <a:p>
            <a:pPr lvl="1">
              <a:lnSpc>
                <a:spcPct val="90000"/>
              </a:lnSpc>
            </a:pPr>
            <a:r>
              <a:rPr lang="en-US" altLang="tr-TR" dirty="0"/>
              <a:t>If medium idle, transmit</a:t>
            </a:r>
          </a:p>
          <a:p>
            <a:pPr lvl="1">
              <a:lnSpc>
                <a:spcPct val="90000"/>
              </a:lnSpc>
            </a:pPr>
            <a:r>
              <a:rPr lang="en-US" altLang="tr-TR" dirty="0"/>
              <a:t>If busy, listen for idle</a:t>
            </a:r>
            <a:r>
              <a:rPr lang="tr-TR" altLang="tr-TR" dirty="0"/>
              <a:t> slot</a:t>
            </a:r>
            <a:r>
              <a:rPr lang="en-US" altLang="tr-TR" dirty="0"/>
              <a:t>, then transmit</a:t>
            </a:r>
          </a:p>
          <a:p>
            <a:pPr>
              <a:lnSpc>
                <a:spcPct val="90000"/>
              </a:lnSpc>
            </a:pPr>
            <a:r>
              <a:rPr lang="tr-TR" altLang="tr-TR" dirty="0"/>
              <a:t>In regular </a:t>
            </a:r>
            <a:r>
              <a:rPr lang="en-US" altLang="tr-TR" dirty="0"/>
              <a:t>CSMA, collision occupies medium for duration of transmission</a:t>
            </a:r>
          </a:p>
          <a:p>
            <a:pPr lvl="1">
              <a:lnSpc>
                <a:spcPct val="90000"/>
              </a:lnSpc>
            </a:pPr>
            <a:r>
              <a:rPr lang="en-US" altLang="tr-TR" dirty="0"/>
              <a:t>it is inefficient to complete the transmission of a collided packet</a:t>
            </a:r>
          </a:p>
          <a:p>
            <a:pPr>
              <a:lnSpc>
                <a:spcPct val="90000"/>
              </a:lnSpc>
            </a:pPr>
            <a:r>
              <a:rPr lang="tr-TR" altLang="tr-TR" dirty="0"/>
              <a:t>In CSMA/CD, </a:t>
            </a:r>
            <a:r>
              <a:rPr lang="en-US" altLang="tr-TR" dirty="0"/>
              <a:t>stations listen while transmitting </a:t>
            </a:r>
          </a:p>
          <a:p>
            <a:pPr>
              <a:lnSpc>
                <a:spcPct val="90000"/>
              </a:lnSpc>
            </a:pPr>
            <a:r>
              <a:rPr lang="en-US" altLang="tr-TR" dirty="0"/>
              <a:t>If collision detected (due to high voltage on bus), cease transmission and wait random time then start again</a:t>
            </a:r>
          </a:p>
          <a:p>
            <a:pPr lvl="1">
              <a:lnSpc>
                <a:spcPct val="90000"/>
              </a:lnSpc>
            </a:pPr>
            <a:r>
              <a:rPr lang="en-US" altLang="tr-TR" dirty="0"/>
              <a:t> random waiting time is determined using </a:t>
            </a:r>
            <a:r>
              <a:rPr lang="en-US" altLang="tr-TR" i="1" dirty="0"/>
              <a:t>binary exponential </a:t>
            </a:r>
            <a:r>
              <a:rPr lang="en-US" altLang="tr-TR" i="1" dirty="0" err="1"/>
              <a:t>backoff</a:t>
            </a:r>
            <a:r>
              <a:rPr lang="en-US" altLang="tr-TR" i="1" dirty="0"/>
              <a:t> mechanism</a:t>
            </a:r>
            <a:endParaRPr lang="en-US" altLang="tr-TR" dirty="0"/>
          </a:p>
        </p:txBody>
      </p:sp>
    </p:spTree>
    <p:extLst>
      <p:ext uri="{BB962C8B-B14F-4D97-AF65-F5344CB8AC3E}">
        <p14:creationId xmlns:p14="http://schemas.microsoft.com/office/powerpoint/2010/main" val="1295972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tr-TR" dirty="0"/>
              <a:t>CSMA/CD - Details of Contention</a:t>
            </a:r>
          </a:p>
        </p:txBody>
      </p:sp>
      <p:sp>
        <p:nvSpPr>
          <p:cNvPr id="32771" name="Rectangle 3"/>
          <p:cNvSpPr>
            <a:spLocks noGrp="1" noChangeArrowheads="1"/>
          </p:cNvSpPr>
          <p:nvPr>
            <p:ph idx="1"/>
          </p:nvPr>
        </p:nvSpPr>
        <p:spPr/>
        <p:txBody>
          <a:bodyPr>
            <a:normAutofit lnSpcReduction="10000"/>
          </a:bodyPr>
          <a:lstStyle/>
          <a:p>
            <a:pPr>
              <a:lnSpc>
                <a:spcPct val="90000"/>
              </a:lnSpc>
            </a:pPr>
            <a:r>
              <a:rPr lang="tr-TR" altLang="tr-TR" dirty="0"/>
              <a:t>No </a:t>
            </a:r>
            <a:r>
              <a:rPr lang="en-US" altLang="tr-TR" dirty="0"/>
              <a:t>acknowledgments</a:t>
            </a:r>
            <a:r>
              <a:rPr lang="tr-TR" altLang="tr-TR" dirty="0"/>
              <a:t> in CSMA/CD, so s</a:t>
            </a:r>
            <a:r>
              <a:rPr lang="en-US" altLang="tr-TR" dirty="0"/>
              <a:t>ending station must make sure that</a:t>
            </a:r>
            <a:r>
              <a:rPr lang="tr-TR" altLang="tr-TR" dirty="0"/>
              <a:t>:</a:t>
            </a:r>
            <a:r>
              <a:rPr lang="en-US" altLang="tr-TR" dirty="0"/>
              <a:t> </a:t>
            </a:r>
          </a:p>
          <a:p>
            <a:pPr lvl="1">
              <a:lnSpc>
                <a:spcPct val="90000"/>
              </a:lnSpc>
            </a:pPr>
            <a:r>
              <a:rPr lang="en-US" altLang="tr-TR" dirty="0"/>
              <a:t> all other stations are aware of its transmission and </a:t>
            </a:r>
          </a:p>
          <a:p>
            <a:pPr lvl="1">
              <a:lnSpc>
                <a:spcPct val="90000"/>
              </a:lnSpc>
            </a:pPr>
            <a:r>
              <a:rPr lang="en-US" altLang="tr-TR" dirty="0"/>
              <a:t> there is no collision on the channel</a:t>
            </a:r>
          </a:p>
          <a:p>
            <a:pPr>
              <a:lnSpc>
                <a:spcPct val="90000"/>
              </a:lnSpc>
            </a:pPr>
            <a:r>
              <a:rPr lang="en-US" altLang="tr-TR" dirty="0"/>
              <a:t>so the sending station has to continue transmission for a duration of the worst case scenario in which understanding a collision takes as long as the round trip time </a:t>
            </a:r>
          </a:p>
          <a:p>
            <a:pPr lvl="1">
              <a:lnSpc>
                <a:spcPct val="90000"/>
              </a:lnSpc>
            </a:pPr>
            <a:r>
              <a:rPr lang="en-US" altLang="tr-TR" dirty="0"/>
              <a:t>this is closely related to the length of the cable (bus) and the propagation speed</a:t>
            </a:r>
          </a:p>
          <a:p>
            <a:pPr lvl="1">
              <a:lnSpc>
                <a:spcPct val="90000"/>
              </a:lnSpc>
            </a:pPr>
            <a:r>
              <a:rPr lang="en-US" altLang="tr-TR" dirty="0"/>
              <a:t>for 2500 meters of coax cable (standard for 10 Mbps Ethernet), round trip time is </a:t>
            </a:r>
            <a:r>
              <a:rPr lang="en-US" altLang="tr-TR" dirty="0" err="1"/>
              <a:t>approx</a:t>
            </a:r>
            <a:r>
              <a:rPr lang="en-US" altLang="tr-TR" dirty="0"/>
              <a:t> 50 microseconds</a:t>
            </a:r>
          </a:p>
        </p:txBody>
      </p:sp>
    </p:spTree>
    <p:extLst>
      <p:ext uri="{BB962C8B-B14F-4D97-AF65-F5344CB8AC3E}">
        <p14:creationId xmlns:p14="http://schemas.microsoft.com/office/powerpoint/2010/main" val="252499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074"/>
          <p:cNvSpPr>
            <a:spLocks noGrp="1" noChangeArrowheads="1"/>
          </p:cNvSpPr>
          <p:nvPr>
            <p:ph type="title"/>
          </p:nvPr>
        </p:nvSpPr>
        <p:spPr/>
        <p:txBody>
          <a:bodyPr/>
          <a:lstStyle/>
          <a:p>
            <a:r>
              <a:rPr lang="en-US" altLang="tr-TR" dirty="0"/>
              <a:t>Minimum Frame Size </a:t>
            </a:r>
          </a:p>
        </p:txBody>
      </p:sp>
      <p:sp>
        <p:nvSpPr>
          <p:cNvPr id="33795" name="Rectangle 3075"/>
          <p:cNvSpPr>
            <a:spLocks noGrp="1" noChangeArrowheads="1"/>
          </p:cNvSpPr>
          <p:nvPr>
            <p:ph type="body" idx="1"/>
          </p:nvPr>
        </p:nvSpPr>
        <p:spPr/>
        <p:txBody>
          <a:bodyPr/>
          <a:lstStyle/>
          <a:p>
            <a:pPr marL="0" indent="0">
              <a:buNone/>
            </a:pPr>
            <a:r>
              <a:rPr lang="en-US" altLang="tr-TR" dirty="0"/>
              <a:t>at 10 Mbps: one bit takes 100 ns to be transmitted </a:t>
            </a:r>
          </a:p>
          <a:p>
            <a:pPr lvl="1"/>
            <a:r>
              <a:rPr lang="en-US" altLang="tr-TR" dirty="0"/>
              <a:t>In order to occupy the channel during 50 </a:t>
            </a:r>
            <a:r>
              <a:rPr lang="en-US" altLang="tr-TR" dirty="0" err="1"/>
              <a:t>microsecs</a:t>
            </a:r>
            <a:endParaRPr lang="en-US" altLang="tr-TR" dirty="0"/>
          </a:p>
          <a:p>
            <a:pPr lvl="2"/>
            <a:r>
              <a:rPr lang="en-US" altLang="tr-TR" dirty="0"/>
              <a:t>one frame at minimum should be 500 bits</a:t>
            </a:r>
          </a:p>
          <a:p>
            <a:pPr lvl="2"/>
            <a:r>
              <a:rPr lang="en-US" altLang="tr-TR" dirty="0"/>
              <a:t>plus some safety margins and rounding, minimum frame size is set to 512 bits (64 bytes) in IEEE 802.3</a:t>
            </a:r>
          </a:p>
          <a:p>
            <a:pPr lvl="2"/>
            <a:r>
              <a:rPr lang="en-US" altLang="tr-TR" dirty="0"/>
              <a:t>Maximum frame size is 1518 bytes </a:t>
            </a:r>
          </a:p>
          <a:p>
            <a:pPr lvl="1"/>
            <a:r>
              <a:rPr lang="en-US" altLang="tr-TR" dirty="0"/>
              <a:t>In TCP/IP world the encapsulation of IP datagrams is defined in RFC 894 for Ethernets and in RFC 1042 for IEEE 802 networks </a:t>
            </a:r>
          </a:p>
        </p:txBody>
      </p:sp>
    </p:spTree>
    <p:extLst>
      <p:ext uri="{BB962C8B-B14F-4D97-AF65-F5344CB8AC3E}">
        <p14:creationId xmlns:p14="http://schemas.microsoft.com/office/powerpoint/2010/main" val="773356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tr-TR" dirty="0"/>
              <a:t>IEEE 802.3 Frame Format</a:t>
            </a:r>
          </a:p>
        </p:txBody>
      </p:sp>
      <p:pic>
        <p:nvPicPr>
          <p:cNvPr id="34819" name="Picture 3"/>
          <p:cNvPicPr>
            <a:picLocks noChangeAspect="1" noChangeArrowheads="1"/>
          </p:cNvPicPr>
          <p:nvPr/>
        </p:nvPicPr>
        <p:blipFill>
          <a:blip r:embed="rId2">
            <a:extLst>
              <a:ext uri="{28A0092B-C50C-407E-A947-70E740481C1C}">
                <a14:useLocalDpi xmlns:a14="http://schemas.microsoft.com/office/drawing/2010/main" val="0"/>
              </a:ext>
            </a:extLst>
          </a:blip>
          <a:srcRect b="18254"/>
          <a:stretch>
            <a:fillRect/>
          </a:stretch>
        </p:blipFill>
        <p:spPr bwMode="auto">
          <a:xfrm>
            <a:off x="1981200" y="1524001"/>
            <a:ext cx="8153400"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Text Box 4"/>
          <p:cNvSpPr txBox="1">
            <a:spLocks noChangeArrowheads="1"/>
          </p:cNvSpPr>
          <p:nvPr/>
        </p:nvSpPr>
        <p:spPr bwMode="auto">
          <a:xfrm>
            <a:off x="7467600" y="1905000"/>
            <a:ext cx="381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9900"/>
              </a:buClr>
              <a:buChar char="•"/>
              <a:defRPr kumimoji="1" sz="2800">
                <a:solidFill>
                  <a:schemeClr val="tx1"/>
                </a:solidFill>
                <a:latin typeface="Tahoma" panose="020B0604030504040204" pitchFamily="34" charset="0"/>
              </a:defRPr>
            </a:lvl1pPr>
            <a:lvl2pPr marL="742950" indent="-285750">
              <a:spcBef>
                <a:spcPct val="20000"/>
              </a:spcBef>
              <a:buClr>
                <a:srgbClr val="FF9900"/>
              </a:buClr>
              <a:buChar char="—"/>
              <a:defRPr kumimoji="1" sz="2400">
                <a:solidFill>
                  <a:schemeClr val="tx1"/>
                </a:solidFill>
                <a:latin typeface="Tahoma" panose="020B0604030504040204" pitchFamily="34" charset="0"/>
              </a:defRPr>
            </a:lvl2pPr>
            <a:lvl3pPr marL="1143000" indent="-228600">
              <a:spcBef>
                <a:spcPct val="20000"/>
              </a:spcBef>
              <a:buClr>
                <a:srgbClr val="FF9900"/>
              </a:buClr>
              <a:buChar char="•"/>
              <a:defRPr kumimoji="1" sz="2000">
                <a:solidFill>
                  <a:schemeClr val="tx1"/>
                </a:solidFill>
                <a:latin typeface="Tahoma" panose="020B0604030504040204" pitchFamily="34" charset="0"/>
              </a:defRPr>
            </a:lvl3pPr>
            <a:lvl4pPr marL="1600200" indent="-228600">
              <a:spcBef>
                <a:spcPct val="20000"/>
              </a:spcBef>
              <a:buClr>
                <a:srgbClr val="FF9900"/>
              </a:buClr>
              <a:buChar char="–"/>
              <a:defRPr kumimoji="1" sz="2000">
                <a:solidFill>
                  <a:schemeClr val="tx1"/>
                </a:solidFill>
                <a:latin typeface="Tahoma" panose="020B0604030504040204" pitchFamily="34" charset="0"/>
              </a:defRPr>
            </a:lvl4pPr>
            <a:lvl5pPr marL="2057400" indent="-228600">
              <a:spcBef>
                <a:spcPct val="20000"/>
              </a:spcBef>
              <a:buClr>
                <a:srgbClr val="FF9900"/>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9pPr>
          </a:lstStyle>
          <a:p>
            <a:pPr algn="ctr">
              <a:spcBef>
                <a:spcPct val="50000"/>
              </a:spcBef>
              <a:buClrTx/>
              <a:buFontTx/>
              <a:buNone/>
            </a:pPr>
            <a:r>
              <a:rPr kumimoji="0" lang="en-AU" altLang="tr-TR" sz="1200">
                <a:latin typeface="Times New Roman" panose="02020603050405020304" pitchFamily="18" charset="0"/>
              </a:rPr>
              <a:t>&gt;=</a:t>
            </a:r>
            <a:endParaRPr kumimoji="0" lang="en-AU" altLang="tr-TR" sz="2400">
              <a:latin typeface="Times New Roman" panose="02020603050405020304" pitchFamily="18" charset="0"/>
            </a:endParaRPr>
          </a:p>
        </p:txBody>
      </p:sp>
      <p:sp>
        <p:nvSpPr>
          <p:cNvPr id="34821" name="Text Box 5"/>
          <p:cNvSpPr txBox="1">
            <a:spLocks noChangeArrowheads="1"/>
          </p:cNvSpPr>
          <p:nvPr/>
        </p:nvSpPr>
        <p:spPr bwMode="auto">
          <a:xfrm>
            <a:off x="8686800" y="1905000"/>
            <a:ext cx="381000"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9900"/>
              </a:buClr>
              <a:buChar char="•"/>
              <a:defRPr kumimoji="1" sz="2800">
                <a:solidFill>
                  <a:schemeClr val="tx1"/>
                </a:solidFill>
                <a:latin typeface="Tahoma" panose="020B0604030504040204" pitchFamily="34" charset="0"/>
              </a:defRPr>
            </a:lvl1pPr>
            <a:lvl2pPr marL="742950" indent="-285750">
              <a:spcBef>
                <a:spcPct val="20000"/>
              </a:spcBef>
              <a:buClr>
                <a:srgbClr val="FF9900"/>
              </a:buClr>
              <a:buChar char="—"/>
              <a:defRPr kumimoji="1" sz="2400">
                <a:solidFill>
                  <a:schemeClr val="tx1"/>
                </a:solidFill>
                <a:latin typeface="Tahoma" panose="020B0604030504040204" pitchFamily="34" charset="0"/>
              </a:defRPr>
            </a:lvl2pPr>
            <a:lvl3pPr marL="1143000" indent="-228600">
              <a:spcBef>
                <a:spcPct val="20000"/>
              </a:spcBef>
              <a:buClr>
                <a:srgbClr val="FF9900"/>
              </a:buClr>
              <a:buChar char="•"/>
              <a:defRPr kumimoji="1" sz="2000">
                <a:solidFill>
                  <a:schemeClr val="tx1"/>
                </a:solidFill>
                <a:latin typeface="Tahoma" panose="020B0604030504040204" pitchFamily="34" charset="0"/>
              </a:defRPr>
            </a:lvl3pPr>
            <a:lvl4pPr marL="1600200" indent="-228600">
              <a:spcBef>
                <a:spcPct val="20000"/>
              </a:spcBef>
              <a:buClr>
                <a:srgbClr val="FF9900"/>
              </a:buClr>
              <a:buChar char="–"/>
              <a:defRPr kumimoji="1" sz="2000">
                <a:solidFill>
                  <a:schemeClr val="tx1"/>
                </a:solidFill>
                <a:latin typeface="Tahoma" panose="020B0604030504040204" pitchFamily="34" charset="0"/>
              </a:defRPr>
            </a:lvl4pPr>
            <a:lvl5pPr marL="2057400" indent="-228600">
              <a:spcBef>
                <a:spcPct val="20000"/>
              </a:spcBef>
              <a:buClr>
                <a:srgbClr val="FF9900"/>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9pPr>
          </a:lstStyle>
          <a:p>
            <a:pPr algn="ctr">
              <a:spcBef>
                <a:spcPct val="50000"/>
              </a:spcBef>
              <a:buClrTx/>
              <a:buFontTx/>
              <a:buNone/>
            </a:pPr>
            <a:r>
              <a:rPr kumimoji="0" lang="en-AU" altLang="tr-TR" sz="1200">
                <a:latin typeface="Times New Roman" panose="02020603050405020304" pitchFamily="18" charset="0"/>
              </a:rPr>
              <a:t>&gt;=</a:t>
            </a:r>
            <a:endParaRPr kumimoji="0" lang="en-AU" altLang="tr-TR" sz="2400">
              <a:latin typeface="Times New Roman" panose="02020603050405020304" pitchFamily="18" charset="0"/>
            </a:endParaRPr>
          </a:p>
        </p:txBody>
      </p:sp>
      <p:sp>
        <p:nvSpPr>
          <p:cNvPr id="34822" name="Text Box 6"/>
          <p:cNvSpPr txBox="1">
            <a:spLocks noChangeArrowheads="1"/>
          </p:cNvSpPr>
          <p:nvPr/>
        </p:nvSpPr>
        <p:spPr bwMode="auto">
          <a:xfrm>
            <a:off x="1774825" y="3860801"/>
            <a:ext cx="8642350" cy="2556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9900"/>
              </a:buClr>
              <a:buChar char="•"/>
              <a:defRPr kumimoji="1" sz="2800">
                <a:solidFill>
                  <a:schemeClr val="tx1"/>
                </a:solidFill>
                <a:latin typeface="Tahoma" panose="020B0604030504040204" pitchFamily="34" charset="0"/>
              </a:defRPr>
            </a:lvl1pPr>
            <a:lvl2pPr marL="742950" indent="-285750">
              <a:spcBef>
                <a:spcPct val="20000"/>
              </a:spcBef>
              <a:buClr>
                <a:srgbClr val="FF9900"/>
              </a:buClr>
              <a:buChar char="—"/>
              <a:defRPr kumimoji="1" sz="2400">
                <a:solidFill>
                  <a:schemeClr val="tx1"/>
                </a:solidFill>
                <a:latin typeface="Tahoma" panose="020B0604030504040204" pitchFamily="34" charset="0"/>
              </a:defRPr>
            </a:lvl2pPr>
            <a:lvl3pPr marL="1143000" indent="-228600">
              <a:spcBef>
                <a:spcPct val="20000"/>
              </a:spcBef>
              <a:buClr>
                <a:srgbClr val="FF9900"/>
              </a:buClr>
              <a:buChar char="•"/>
              <a:defRPr kumimoji="1" sz="2000">
                <a:solidFill>
                  <a:schemeClr val="tx1"/>
                </a:solidFill>
                <a:latin typeface="Tahoma" panose="020B0604030504040204" pitchFamily="34" charset="0"/>
              </a:defRPr>
            </a:lvl3pPr>
            <a:lvl4pPr marL="1600200" indent="-228600">
              <a:spcBef>
                <a:spcPct val="20000"/>
              </a:spcBef>
              <a:buClr>
                <a:srgbClr val="FF9900"/>
              </a:buClr>
              <a:buChar char="–"/>
              <a:defRPr kumimoji="1" sz="2000">
                <a:solidFill>
                  <a:schemeClr val="tx1"/>
                </a:solidFill>
                <a:latin typeface="Tahoma" panose="020B0604030504040204" pitchFamily="34" charset="0"/>
              </a:defRPr>
            </a:lvl4pPr>
            <a:lvl5pPr marL="2057400" indent="-228600">
              <a:spcBef>
                <a:spcPct val="20000"/>
              </a:spcBef>
              <a:buClr>
                <a:srgbClr val="FF9900"/>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9900"/>
              </a:buClr>
              <a:buChar char="•"/>
              <a:defRPr kumimoji="1" sz="2000">
                <a:solidFill>
                  <a:schemeClr val="tx1"/>
                </a:solidFill>
                <a:latin typeface="Tahoma" panose="020B0604030504040204" pitchFamily="34" charset="0"/>
              </a:defRPr>
            </a:lvl9pPr>
          </a:lstStyle>
          <a:p>
            <a:pPr>
              <a:spcBef>
                <a:spcPct val="50000"/>
              </a:spcBef>
              <a:buClrTx/>
              <a:buFontTx/>
              <a:buNone/>
            </a:pPr>
            <a:r>
              <a:rPr kumimoji="0" lang="en-AU" altLang="tr-TR" sz="2000" dirty="0">
                <a:latin typeface="Arial" panose="020B0604020202020204" pitchFamily="34" charset="0"/>
              </a:rPr>
              <a:t>Preamble is alternating </a:t>
            </a:r>
            <a:r>
              <a:rPr kumimoji="0" lang="tr-TR" altLang="tr-TR" sz="2000" dirty="0">
                <a:latin typeface="Arial" panose="020B0604020202020204" pitchFamily="34" charset="0"/>
              </a:rPr>
              <a:t>1</a:t>
            </a:r>
            <a:r>
              <a:rPr kumimoji="0" lang="en-AU" altLang="tr-TR" sz="2000" dirty="0">
                <a:latin typeface="Arial" panose="020B0604020202020204" pitchFamily="34" charset="0"/>
              </a:rPr>
              <a:t>’s and </a:t>
            </a:r>
            <a:r>
              <a:rPr kumimoji="0" lang="tr-TR" altLang="tr-TR" sz="2000" dirty="0">
                <a:latin typeface="Arial" panose="020B0604020202020204" pitchFamily="34" charset="0"/>
              </a:rPr>
              <a:t>0</a:t>
            </a:r>
            <a:r>
              <a:rPr kumimoji="0" lang="en-AU" altLang="tr-TR" sz="2000" dirty="0">
                <a:latin typeface="Arial" panose="020B0604020202020204" pitchFamily="34" charset="0"/>
              </a:rPr>
              <a:t>’s (for clock synchronization)</a:t>
            </a:r>
          </a:p>
          <a:p>
            <a:pPr>
              <a:spcBef>
                <a:spcPct val="50000"/>
              </a:spcBef>
              <a:buClrTx/>
              <a:buFontTx/>
              <a:buNone/>
            </a:pPr>
            <a:r>
              <a:rPr kumimoji="0" lang="en-AU" altLang="tr-TR" sz="2000" dirty="0">
                <a:latin typeface="Arial" panose="020B0604020202020204" pitchFamily="34" charset="0"/>
              </a:rPr>
              <a:t>SFD is 10101011</a:t>
            </a:r>
            <a:endParaRPr kumimoji="0" lang="tr-TR" altLang="tr-TR" sz="2000" dirty="0">
              <a:latin typeface="Arial" panose="020B0604020202020204" pitchFamily="34" charset="0"/>
            </a:endParaRPr>
          </a:p>
          <a:p>
            <a:pPr>
              <a:spcBef>
                <a:spcPct val="50000"/>
              </a:spcBef>
              <a:buClrTx/>
              <a:buFontTx/>
              <a:buNone/>
            </a:pPr>
            <a:r>
              <a:rPr kumimoji="0" lang="tr-TR" altLang="tr-TR" sz="2000" dirty="0">
                <a:latin typeface="Arial" panose="020B0604020202020204" pitchFamily="34" charset="0"/>
              </a:rPr>
              <a:t>Length is of the LLC data</a:t>
            </a:r>
            <a:endParaRPr kumimoji="0" lang="en-AU" altLang="tr-TR" sz="2000" dirty="0">
              <a:latin typeface="Arial" panose="020B0604020202020204" pitchFamily="34" charset="0"/>
            </a:endParaRPr>
          </a:p>
          <a:p>
            <a:pPr>
              <a:spcBef>
                <a:spcPct val="50000"/>
              </a:spcBef>
              <a:buClrTx/>
              <a:buFontTx/>
              <a:buNone/>
            </a:pPr>
            <a:r>
              <a:rPr kumimoji="0" lang="en-AU" altLang="tr-TR" sz="2000" dirty="0">
                <a:latin typeface="Arial" panose="020B0604020202020204" pitchFamily="34" charset="0"/>
              </a:rPr>
              <a:t>FCS </a:t>
            </a:r>
            <a:r>
              <a:rPr kumimoji="0" lang="tr-TR" altLang="tr-TR" sz="2000" dirty="0">
                <a:latin typeface="Arial" panose="020B0604020202020204" pitchFamily="34" charset="0"/>
              </a:rPr>
              <a:t>is 32-bit CRC (Cyclic Redundancy Check) code and </a:t>
            </a:r>
            <a:r>
              <a:rPr kumimoji="0" lang="en-AU" altLang="tr-TR" sz="2000" dirty="0">
                <a:latin typeface="Arial" panose="020B0604020202020204" pitchFamily="34" charset="0"/>
              </a:rPr>
              <a:t>excludes Preamble and SFD</a:t>
            </a:r>
          </a:p>
          <a:p>
            <a:pPr>
              <a:spcBef>
                <a:spcPct val="50000"/>
              </a:spcBef>
              <a:buClrTx/>
              <a:buFontTx/>
              <a:buNone/>
            </a:pPr>
            <a:r>
              <a:rPr kumimoji="0" lang="en-AU" altLang="tr-TR" sz="2000" dirty="0">
                <a:latin typeface="Arial" panose="020B0604020202020204" pitchFamily="34" charset="0"/>
              </a:rPr>
              <a:t>Addresses are uniquely assigned by IEEE to manufacturers. </a:t>
            </a:r>
          </a:p>
        </p:txBody>
      </p:sp>
    </p:spTree>
    <p:extLst>
      <p:ext uri="{BB962C8B-B14F-4D97-AF65-F5344CB8AC3E}">
        <p14:creationId xmlns:p14="http://schemas.microsoft.com/office/powerpoint/2010/main" val="536802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sp>
        <p:nvSpPr>
          <p:cNvPr id="3" name="Content Placeholder 2"/>
          <p:cNvSpPr>
            <a:spLocks noGrp="1"/>
          </p:cNvSpPr>
          <p:nvPr>
            <p:ph idx="4294967295"/>
          </p:nvPr>
        </p:nvSpPr>
        <p:spPr>
          <a:xfrm>
            <a:off x="0" y="1825625"/>
            <a:ext cx="10515600" cy="4351338"/>
          </a:xfrm>
        </p:spPr>
        <p:txBody>
          <a:bodyPr>
            <a:normAutofit/>
          </a:bodyPr>
          <a:lstStyle/>
          <a:p>
            <a:endParaRPr lang="en-IN" dirty="0"/>
          </a:p>
          <a:p>
            <a:endParaRPr lang="en-IN" dirty="0"/>
          </a:p>
          <a:p>
            <a:endParaRPr lang="en-IN" dirty="0"/>
          </a:p>
          <a:p>
            <a:endParaRPr lang="en-IN" dirty="0"/>
          </a:p>
          <a:p>
            <a:endParaRPr lang="en-IN" dirty="0"/>
          </a:p>
          <a:p>
            <a:endParaRPr lang="en-IN" dirty="0"/>
          </a:p>
          <a:p>
            <a:endParaRPr lang="en-IN" dirty="0"/>
          </a:p>
        </p:txBody>
      </p:sp>
      <p:graphicFrame>
        <p:nvGraphicFramePr>
          <p:cNvPr id="4" name="Object 4"/>
          <p:cNvGraphicFramePr>
            <a:graphicFrameLocks noChangeAspect="1"/>
          </p:cNvGraphicFramePr>
          <p:nvPr>
            <p:extLst>
              <p:ext uri="{D42A27DB-BD31-4B8C-83A1-F6EECF244321}">
                <p14:modId xmlns:p14="http://schemas.microsoft.com/office/powerpoint/2010/main" val="3747893191"/>
              </p:ext>
            </p:extLst>
          </p:nvPr>
        </p:nvGraphicFramePr>
        <p:xfrm>
          <a:off x="4095083" y="2300437"/>
          <a:ext cx="7746520" cy="2277373"/>
        </p:xfrm>
        <a:graphic>
          <a:graphicData uri="http://schemas.openxmlformats.org/presentationml/2006/ole">
            <mc:AlternateContent xmlns:mc="http://schemas.openxmlformats.org/markup-compatibility/2006">
              <mc:Choice xmlns:v="urn:schemas-microsoft-com:vml" Requires="v">
                <p:oleObj spid="_x0000_s3174" name="Photo Editor Photo" r:id="rId3" imgW="4686954" imgH="2276793" progId="MSPhotoEd.3">
                  <p:embed/>
                </p:oleObj>
              </mc:Choice>
              <mc:Fallback>
                <p:oleObj name="Photo Editor Photo" r:id="rId3" imgW="4686954" imgH="2276793" progId="MSPhotoEd.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5083" y="2300437"/>
                        <a:ext cx="7746520" cy="2277373"/>
                      </a:xfrm>
                      <a:prstGeom prst="rect">
                        <a:avLst/>
                      </a:prstGeom>
                      <a:noFill/>
                      <a:ln>
                        <a:noFill/>
                      </a:ln>
                      <a:effectLst/>
                    </p:spPr>
                  </p:pic>
                </p:oleObj>
              </mc:Fallback>
            </mc:AlternateContent>
          </a:graphicData>
        </a:graphic>
      </p:graphicFrame>
      <p:sp>
        <p:nvSpPr>
          <p:cNvPr id="6" name="Rectangle 5"/>
          <p:cNvSpPr/>
          <p:nvPr/>
        </p:nvSpPr>
        <p:spPr>
          <a:xfrm>
            <a:off x="299460" y="2354689"/>
            <a:ext cx="6096000" cy="3539430"/>
          </a:xfrm>
          <a:prstGeom prst="rect">
            <a:avLst/>
          </a:prstGeom>
        </p:spPr>
        <p:txBody>
          <a:bodyPr>
            <a:spAutoFit/>
          </a:bodyPr>
          <a:lstStyle/>
          <a:p>
            <a:r>
              <a:rPr lang="en-US" altLang="en-US" sz="1600" dirty="0"/>
              <a:t>Preamble</a:t>
            </a:r>
          </a:p>
          <a:p>
            <a:r>
              <a:rPr lang="en-US" altLang="en-US" sz="1600" dirty="0"/>
              <a:t>SD: Start of frame Delimiter</a:t>
            </a:r>
          </a:p>
          <a:p>
            <a:r>
              <a:rPr lang="en-US" altLang="en-US" sz="1600" dirty="0"/>
              <a:t>Destination MAC address</a:t>
            </a:r>
          </a:p>
          <a:p>
            <a:pPr lvl="1"/>
            <a:r>
              <a:rPr lang="en-US" altLang="en-US" sz="1600" dirty="0"/>
              <a:t>Unicast</a:t>
            </a:r>
          </a:p>
          <a:p>
            <a:pPr lvl="1"/>
            <a:r>
              <a:rPr lang="en-US" altLang="en-US" sz="1600" dirty="0"/>
              <a:t>Broadcast</a:t>
            </a:r>
          </a:p>
          <a:p>
            <a:pPr lvl="1"/>
            <a:r>
              <a:rPr lang="en-US" altLang="en-US" sz="1600" dirty="0"/>
              <a:t>Multicast</a:t>
            </a:r>
          </a:p>
          <a:p>
            <a:r>
              <a:rPr lang="en-US" altLang="en-US" sz="1600" dirty="0"/>
              <a:t>Source address</a:t>
            </a:r>
          </a:p>
          <a:p>
            <a:r>
              <a:rPr lang="en-US" altLang="en-US" sz="1600" dirty="0"/>
              <a:t>Length – total number of bytes following </a:t>
            </a:r>
          </a:p>
          <a:p>
            <a:r>
              <a:rPr lang="en-US" altLang="en-US" sz="1600" dirty="0"/>
              <a:t>excluding CRC at the end </a:t>
            </a:r>
          </a:p>
          <a:p>
            <a:r>
              <a:rPr lang="en-US" altLang="en-US" sz="1600" dirty="0"/>
              <a:t>DSAP SSAP, </a:t>
            </a:r>
          </a:p>
          <a:p>
            <a:r>
              <a:rPr lang="en-US" altLang="en-US" sz="1600" dirty="0"/>
              <a:t>Control </a:t>
            </a:r>
          </a:p>
          <a:p>
            <a:r>
              <a:rPr lang="en-US" altLang="en-US" sz="1600" dirty="0"/>
              <a:t>SNAP (Subnet Network Access Protocol)</a:t>
            </a:r>
          </a:p>
          <a:p>
            <a:r>
              <a:rPr lang="en-US" altLang="en-US" sz="1600" dirty="0"/>
              <a:t>Data  </a:t>
            </a:r>
          </a:p>
          <a:p>
            <a:r>
              <a:rPr lang="en-US" altLang="en-US" sz="1600" dirty="0"/>
              <a:t>Frame Check Sequence (FCS)</a:t>
            </a:r>
          </a:p>
        </p:txBody>
      </p:sp>
    </p:spTree>
    <p:extLst>
      <p:ext uri="{BB962C8B-B14F-4D97-AF65-F5344CB8AC3E}">
        <p14:creationId xmlns:p14="http://schemas.microsoft.com/office/powerpoint/2010/main" val="4194179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tr-TR" altLang="tr-TR" dirty="0"/>
              <a:t>CSMA/CD Performance</a:t>
            </a:r>
            <a:endParaRPr lang="en-US" altLang="tr-TR" dirty="0"/>
          </a:p>
        </p:txBody>
      </p:sp>
      <p:sp>
        <p:nvSpPr>
          <p:cNvPr id="35843" name="Rectangle 3"/>
          <p:cNvSpPr>
            <a:spLocks noGrp="1" noChangeArrowheads="1"/>
          </p:cNvSpPr>
          <p:nvPr>
            <p:ph idx="1"/>
          </p:nvPr>
        </p:nvSpPr>
        <p:spPr/>
        <p:txBody>
          <a:bodyPr/>
          <a:lstStyle/>
          <a:p>
            <a:r>
              <a:rPr lang="en-US" altLang="tr-TR" dirty="0"/>
              <a:t>Formulation for utilization</a:t>
            </a:r>
          </a:p>
          <a:p>
            <a:pPr lvl="1">
              <a:buFontTx/>
              <a:buNone/>
            </a:pPr>
            <a:r>
              <a:rPr lang="en-US" altLang="tr-TR" dirty="0"/>
              <a:t>utilization = transmission time / (trans. time + all other)</a:t>
            </a:r>
          </a:p>
          <a:p>
            <a:pPr lvl="1">
              <a:buFontTx/>
              <a:buNone/>
            </a:pPr>
            <a:endParaRPr lang="en-US" altLang="tr-TR" dirty="0"/>
          </a:p>
          <a:p>
            <a:pPr lvl="1">
              <a:buFontTx/>
              <a:buNone/>
            </a:pPr>
            <a:r>
              <a:rPr lang="en-US" altLang="tr-TR" dirty="0"/>
              <a:t>If no collisions </a:t>
            </a:r>
            <a:r>
              <a:rPr lang="en-US" altLang="tr-TR" dirty="0">
                <a:sym typeface="Wingdings" panose="05000000000000000000" pitchFamily="2" charset="2"/>
              </a:rPr>
              <a:t> U = </a:t>
            </a:r>
            <a:r>
              <a:rPr lang="en-US" altLang="tr-TR" dirty="0" err="1">
                <a:sym typeface="Wingdings" panose="05000000000000000000" pitchFamily="2" charset="2"/>
              </a:rPr>
              <a:t>T</a:t>
            </a:r>
            <a:r>
              <a:rPr lang="en-US" altLang="tr-TR" baseline="-25000" dirty="0" err="1">
                <a:sym typeface="Wingdings" panose="05000000000000000000" pitchFamily="2" charset="2"/>
              </a:rPr>
              <a:t>trans</a:t>
            </a:r>
            <a:r>
              <a:rPr lang="en-US" altLang="tr-TR" dirty="0">
                <a:sym typeface="Wingdings" panose="05000000000000000000" pitchFamily="2" charset="2"/>
              </a:rPr>
              <a:t> / (</a:t>
            </a:r>
            <a:r>
              <a:rPr lang="en-US" altLang="tr-TR" dirty="0" err="1">
                <a:sym typeface="Wingdings" panose="05000000000000000000" pitchFamily="2" charset="2"/>
              </a:rPr>
              <a:t>T</a:t>
            </a:r>
            <a:r>
              <a:rPr lang="en-US" altLang="tr-TR" baseline="-25000" dirty="0" err="1">
                <a:sym typeface="Wingdings" panose="05000000000000000000" pitchFamily="2" charset="2"/>
              </a:rPr>
              <a:t>trans</a:t>
            </a:r>
            <a:r>
              <a:rPr lang="en-US" altLang="tr-TR" dirty="0">
                <a:sym typeface="Wingdings" panose="05000000000000000000" pitchFamily="2" charset="2"/>
              </a:rPr>
              <a:t> + </a:t>
            </a:r>
            <a:r>
              <a:rPr lang="en-US" altLang="tr-TR" dirty="0" err="1">
                <a:sym typeface="Wingdings" panose="05000000000000000000" pitchFamily="2" charset="2"/>
              </a:rPr>
              <a:t>T</a:t>
            </a:r>
            <a:r>
              <a:rPr lang="en-US" altLang="tr-TR" baseline="-25000" dirty="0" err="1">
                <a:sym typeface="Wingdings" panose="05000000000000000000" pitchFamily="2" charset="2"/>
              </a:rPr>
              <a:t>prop</a:t>
            </a:r>
            <a:r>
              <a:rPr lang="en-US" altLang="tr-TR" dirty="0">
                <a:sym typeface="Wingdings" panose="05000000000000000000" pitchFamily="2" charset="2"/>
              </a:rPr>
              <a:t>)</a:t>
            </a:r>
          </a:p>
          <a:p>
            <a:pPr lvl="1">
              <a:buFontTx/>
              <a:buNone/>
            </a:pPr>
            <a:endParaRPr lang="en-US" altLang="tr-TR" dirty="0">
              <a:sym typeface="Wingdings" panose="05000000000000000000" pitchFamily="2" charset="2"/>
            </a:endParaRPr>
          </a:p>
          <a:p>
            <a:pPr lvl="1">
              <a:buFontTx/>
              <a:buNone/>
            </a:pPr>
            <a:r>
              <a:rPr lang="en-US" altLang="tr-TR" dirty="0">
                <a:sym typeface="Wingdings" panose="05000000000000000000" pitchFamily="2" charset="2"/>
              </a:rPr>
              <a:t>With collisions  U = </a:t>
            </a:r>
            <a:r>
              <a:rPr lang="en-US" altLang="tr-TR" dirty="0" err="1">
                <a:sym typeface="Wingdings" panose="05000000000000000000" pitchFamily="2" charset="2"/>
              </a:rPr>
              <a:t>T</a:t>
            </a:r>
            <a:r>
              <a:rPr lang="en-US" altLang="tr-TR" baseline="-25000" dirty="0" err="1">
                <a:sym typeface="Wingdings" panose="05000000000000000000" pitchFamily="2" charset="2"/>
              </a:rPr>
              <a:t>trans</a:t>
            </a:r>
            <a:r>
              <a:rPr lang="en-US" altLang="tr-TR" dirty="0">
                <a:sym typeface="Wingdings" panose="05000000000000000000" pitchFamily="2" charset="2"/>
              </a:rPr>
              <a:t> / (</a:t>
            </a:r>
            <a:r>
              <a:rPr lang="en-US" altLang="tr-TR" dirty="0" err="1">
                <a:sym typeface="Wingdings" panose="05000000000000000000" pitchFamily="2" charset="2"/>
              </a:rPr>
              <a:t>T</a:t>
            </a:r>
            <a:r>
              <a:rPr lang="en-US" altLang="tr-TR" baseline="-25000" dirty="0" err="1">
                <a:sym typeface="Wingdings" panose="05000000000000000000" pitchFamily="2" charset="2"/>
              </a:rPr>
              <a:t>trans</a:t>
            </a:r>
            <a:r>
              <a:rPr lang="en-US" altLang="tr-TR" dirty="0">
                <a:sym typeface="Wingdings" panose="05000000000000000000" pitchFamily="2" charset="2"/>
              </a:rPr>
              <a:t> + </a:t>
            </a:r>
            <a:r>
              <a:rPr lang="en-US" altLang="tr-TR" dirty="0" err="1">
                <a:sym typeface="Wingdings" panose="05000000000000000000" pitchFamily="2" charset="2"/>
              </a:rPr>
              <a:t>T</a:t>
            </a:r>
            <a:r>
              <a:rPr lang="en-US" altLang="tr-TR" baseline="-25000" dirty="0" err="1">
                <a:sym typeface="Wingdings" panose="05000000000000000000" pitchFamily="2" charset="2"/>
              </a:rPr>
              <a:t>prop</a:t>
            </a:r>
            <a:r>
              <a:rPr lang="en-US" altLang="tr-TR" dirty="0">
                <a:sym typeface="Wingdings" panose="05000000000000000000" pitchFamily="2" charset="2"/>
              </a:rPr>
              <a:t> + </a:t>
            </a:r>
            <a:r>
              <a:rPr lang="en-US" altLang="tr-TR" dirty="0" err="1">
                <a:sym typeface="Wingdings" panose="05000000000000000000" pitchFamily="2" charset="2"/>
              </a:rPr>
              <a:t>T</a:t>
            </a:r>
            <a:r>
              <a:rPr lang="en-US" altLang="tr-TR" baseline="-25000" dirty="0" err="1">
                <a:sym typeface="Wingdings" panose="05000000000000000000" pitchFamily="2" charset="2"/>
              </a:rPr>
              <a:t>contention</a:t>
            </a:r>
            <a:r>
              <a:rPr lang="en-US" altLang="tr-TR" dirty="0">
                <a:sym typeface="Wingdings" panose="05000000000000000000" pitchFamily="2" charset="2"/>
              </a:rPr>
              <a:t>)</a:t>
            </a:r>
          </a:p>
          <a:p>
            <a:pPr lvl="1">
              <a:buFontTx/>
              <a:buNone/>
            </a:pPr>
            <a:r>
              <a:rPr lang="en-US" altLang="tr-TR" dirty="0" err="1">
                <a:sym typeface="Wingdings" panose="05000000000000000000" pitchFamily="2" charset="2"/>
              </a:rPr>
              <a:t>T</a:t>
            </a:r>
            <a:r>
              <a:rPr lang="en-US" altLang="tr-TR" baseline="-25000" dirty="0" err="1">
                <a:sym typeface="Wingdings" panose="05000000000000000000" pitchFamily="2" charset="2"/>
              </a:rPr>
              <a:t>contention</a:t>
            </a:r>
            <a:r>
              <a:rPr lang="en-US" altLang="tr-TR" dirty="0">
                <a:sym typeface="Wingdings" panose="05000000000000000000" pitchFamily="2" charset="2"/>
              </a:rPr>
              <a:t> is the time spent for collisions to send a frame</a:t>
            </a:r>
          </a:p>
          <a:p>
            <a:pPr lvl="1">
              <a:buFontTx/>
              <a:buNone/>
            </a:pPr>
            <a:endParaRPr lang="en-US" altLang="tr-TR" dirty="0"/>
          </a:p>
        </p:txBody>
      </p:sp>
    </p:spTree>
    <p:extLst>
      <p:ext uri="{BB962C8B-B14F-4D97-AF65-F5344CB8AC3E}">
        <p14:creationId xmlns:p14="http://schemas.microsoft.com/office/powerpoint/2010/main" val="2924610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IN"/>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133600"/>
            <a:ext cx="9037608" cy="335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5757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5"/>
          <p:cNvSpPr>
            <a:spLocks noGrp="1"/>
          </p:cNvSpPr>
          <p:nvPr>
            <p:ph type="sldNum" sz="quarter" idx="11"/>
          </p:nvPr>
        </p:nvSpPr>
        <p:spPr/>
        <p:txBody>
          <a:bodyPr/>
          <a:lstStyle/>
          <a:p>
            <a:fld id="{4EEC716D-D29D-4AC7-B80F-2B3BAEC1F24D}" type="slidenum">
              <a:rPr lang="en-US" altLang="en-US"/>
              <a:pPr/>
              <a:t>10</a:t>
            </a:fld>
            <a:endParaRPr lang="en-US" altLang="en-US"/>
          </a:p>
        </p:txBody>
      </p:sp>
      <p:sp>
        <p:nvSpPr>
          <p:cNvPr id="46105" name="Rectangle 25"/>
          <p:cNvSpPr>
            <a:spLocks noGrp="1" noChangeArrowheads="1"/>
          </p:cNvSpPr>
          <p:nvPr>
            <p:ph type="title"/>
          </p:nvPr>
        </p:nvSpPr>
        <p:spPr>
          <a:ln/>
        </p:spPr>
        <p:txBody>
          <a:bodyPr/>
          <a:lstStyle/>
          <a:p>
            <a:r>
              <a:rPr lang="en-US" altLang="en-US" dirty="0"/>
              <a:t>Basic Ethernet Features </a:t>
            </a:r>
          </a:p>
        </p:txBody>
      </p:sp>
      <p:graphicFrame>
        <p:nvGraphicFramePr>
          <p:cNvPr id="46121" name="Group 41"/>
          <p:cNvGraphicFramePr>
            <a:graphicFrameLocks noGrp="1"/>
          </p:cNvGraphicFramePr>
          <p:nvPr>
            <p:ph sz="half" idx="2"/>
          </p:nvPr>
        </p:nvGraphicFramePr>
        <p:xfrm>
          <a:off x="1981200" y="1295400"/>
          <a:ext cx="8305800" cy="5181602"/>
        </p:xfrm>
        <a:graphic>
          <a:graphicData uri="http://schemas.openxmlformats.org/drawingml/2006/table">
            <a:tbl>
              <a:tblPr/>
              <a:tblGrid>
                <a:gridCol w="25908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1036638">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ahoma" panose="020B0604030504040204" pitchFamily="34" charset="0"/>
                        </a:rPr>
                        <a:t>10Base2, 10Base5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ahoma" panose="020B0604030504040204" pitchFamily="34" charset="0"/>
                        </a:rPr>
                        <a:t>Single bus cabled serially between devices using coaxial cable.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36638">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Tahoma" panose="020B0604030504040204" pitchFamily="34" charset="0"/>
                        </a:rPr>
                        <a:t>10BaseT with a Hub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Tahoma" panose="020B0604030504040204" pitchFamily="34" charset="0"/>
                        </a:rPr>
                        <a:t>One electrical bus shared among all devices creating a single collision domain, cabled in a star topology using twisted-pair cabling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35050">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Tahoma" panose="020B0604030504040204" pitchFamily="34" charset="0"/>
                        </a:rPr>
                        <a:t>10BaseT with a Switch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ahoma" panose="020B0604030504040204" pitchFamily="34" charset="0"/>
                        </a:rPr>
                        <a:t>One electrical bus per switch port creating multiple collision domains, cabled in a star topology using twisted-pair cabling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36638">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Tahoma" panose="020B0604030504040204" pitchFamily="34" charset="0"/>
                        </a:rPr>
                        <a:t>Half Duplex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Tahoma" panose="020B0604030504040204" pitchFamily="34" charset="0"/>
                        </a:rPr>
                        <a:t>Logic that requires a card to only send or receive at a single point in time. Used to avoid collisions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36638">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1" i="0" u="none" strike="noStrike" cap="none" normalizeH="0" baseline="0">
                          <a:ln>
                            <a:noFill/>
                          </a:ln>
                          <a:solidFill>
                            <a:schemeClr val="tx1"/>
                          </a:solidFill>
                          <a:effectLst/>
                          <a:latin typeface="Tahoma" panose="020B0604030504040204" pitchFamily="34" charset="0"/>
                        </a:rPr>
                        <a:t>Full Duplex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Tahoma" panose="020B0604030504040204" pitchFamily="34" charset="0"/>
                        </a:defRPr>
                      </a:lvl1pPr>
                      <a:lvl2pPr algn="l">
                        <a:spcBef>
                          <a:spcPct val="20000"/>
                        </a:spcBef>
                        <a:defRPr sz="2400">
                          <a:solidFill>
                            <a:schemeClr val="tx1"/>
                          </a:solidFill>
                          <a:latin typeface="Tahoma" panose="020B0604030504040204" pitchFamily="34" charset="0"/>
                        </a:defRPr>
                      </a:lvl2pPr>
                      <a:lvl3pPr algn="l">
                        <a:spcBef>
                          <a:spcPct val="20000"/>
                        </a:spcBef>
                        <a:defRPr sz="2000">
                          <a:solidFill>
                            <a:schemeClr val="tx1"/>
                          </a:solidFill>
                          <a:latin typeface="Tahoma" panose="020B0604030504040204" pitchFamily="34" charset="0"/>
                        </a:defRPr>
                      </a:lvl3pPr>
                      <a:lvl4pPr algn="l">
                        <a:spcBef>
                          <a:spcPct val="20000"/>
                        </a:spcBef>
                        <a:defRPr>
                          <a:solidFill>
                            <a:schemeClr val="tx1"/>
                          </a:solidFill>
                          <a:latin typeface="Tahoma" panose="020B0604030504040204" pitchFamily="34" charset="0"/>
                        </a:defRPr>
                      </a:lvl4pPr>
                      <a:lvl5pPr algn="l">
                        <a:spcBef>
                          <a:spcPct val="20000"/>
                        </a:spcBef>
                        <a:defRPr>
                          <a:solidFill>
                            <a:schemeClr val="tx1"/>
                          </a:solidFill>
                          <a:latin typeface="Tahoma" panose="020B0604030504040204" pitchFamily="34" charset="0"/>
                        </a:defRPr>
                      </a:lvl5pPr>
                      <a:lvl6pPr fontAlgn="base">
                        <a:spcBef>
                          <a:spcPct val="20000"/>
                        </a:spcBef>
                        <a:spcAft>
                          <a:spcPct val="0"/>
                        </a:spcAft>
                        <a:defRPr>
                          <a:solidFill>
                            <a:schemeClr val="tx1"/>
                          </a:solidFill>
                          <a:latin typeface="Tahoma" panose="020B0604030504040204" pitchFamily="34" charset="0"/>
                        </a:defRPr>
                      </a:lvl6pPr>
                      <a:lvl7pPr fontAlgn="base">
                        <a:spcBef>
                          <a:spcPct val="20000"/>
                        </a:spcBef>
                        <a:spcAft>
                          <a:spcPct val="0"/>
                        </a:spcAft>
                        <a:defRPr>
                          <a:solidFill>
                            <a:schemeClr val="tx1"/>
                          </a:solidFill>
                          <a:latin typeface="Tahoma" panose="020B0604030504040204" pitchFamily="34" charset="0"/>
                        </a:defRPr>
                      </a:lvl7pPr>
                      <a:lvl8pPr fontAlgn="base">
                        <a:spcBef>
                          <a:spcPct val="20000"/>
                        </a:spcBef>
                        <a:spcAft>
                          <a:spcPct val="0"/>
                        </a:spcAft>
                        <a:defRPr>
                          <a:solidFill>
                            <a:schemeClr val="tx1"/>
                          </a:solidFill>
                          <a:latin typeface="Tahoma" panose="020B0604030504040204" pitchFamily="34" charset="0"/>
                        </a:defRPr>
                      </a:lvl8pPr>
                      <a:lvl9pPr fontAlgn="base">
                        <a:spcBef>
                          <a:spcPct val="20000"/>
                        </a:spcBef>
                        <a:spcAft>
                          <a:spcPct val="0"/>
                        </a:spcAft>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ahoma" panose="020B0604030504040204" pitchFamily="34" charset="0"/>
                        </a:rPr>
                        <a:t>Logic that enables concurrent sending and receiving, allowed when one device is attached to a switch port, ensuring that no collisions can occur.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14644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ln/>
        </p:spPr>
        <p:txBody>
          <a:bodyPr/>
          <a:lstStyle/>
          <a:p>
            <a:r>
              <a:rPr lang="en-US" altLang="en-US" dirty="0"/>
              <a:t>Ethernet Addressing</a:t>
            </a:r>
          </a:p>
        </p:txBody>
      </p:sp>
      <p:sp>
        <p:nvSpPr>
          <p:cNvPr id="62467" name="Rectangle 3"/>
          <p:cNvSpPr>
            <a:spLocks noGrp="1" noChangeArrowheads="1"/>
          </p:cNvSpPr>
          <p:nvPr>
            <p:ph idx="1"/>
          </p:nvPr>
        </p:nvSpPr>
        <p:spPr>
          <a:ln/>
        </p:spPr>
        <p:txBody>
          <a:bodyPr>
            <a:normAutofit/>
          </a:bodyPr>
          <a:lstStyle/>
          <a:p>
            <a:r>
              <a:rPr lang="en-US" altLang="en-US" sz="2400" dirty="0"/>
              <a:t>Ethernet uses MAC address burned into each NIC.</a:t>
            </a:r>
          </a:p>
          <a:p>
            <a:r>
              <a:rPr lang="en-US" altLang="en-US" sz="2400" dirty="0"/>
              <a:t>48 bits (6 bytes)</a:t>
            </a:r>
          </a:p>
          <a:p>
            <a:r>
              <a:rPr lang="en-US" altLang="en-US" sz="2400" dirty="0"/>
              <a:t>First 3 bytes assigned by IEEE</a:t>
            </a:r>
          </a:p>
          <a:p>
            <a:r>
              <a:rPr lang="en-US" altLang="en-US" sz="2400" dirty="0"/>
              <a:t>Unicast MAC Address</a:t>
            </a:r>
          </a:p>
          <a:p>
            <a:r>
              <a:rPr lang="en-US" altLang="en-US" sz="2400" dirty="0"/>
              <a:t>Broadcast MAC Address (FFFF.FFFF.FFFF)</a:t>
            </a:r>
          </a:p>
          <a:p>
            <a:r>
              <a:rPr lang="en-US" altLang="en-US" sz="2400" dirty="0"/>
              <a:t>Multicast Address</a:t>
            </a:r>
          </a:p>
          <a:p>
            <a:r>
              <a:rPr lang="en-US" altLang="en-US" sz="2400" dirty="0"/>
              <a:t>The least significant bit of the first byte defines the type of address.</a:t>
            </a:r>
            <a:br>
              <a:rPr lang="en-US" altLang="en-US" sz="2400" dirty="0"/>
            </a:br>
            <a:r>
              <a:rPr lang="en-US" altLang="en-US" sz="2400" dirty="0"/>
              <a:t>If the bit is </a:t>
            </a:r>
            <a:r>
              <a:rPr lang="en-US" altLang="en-US" sz="2400" dirty="0">
                <a:solidFill>
                  <a:schemeClr val="hlink"/>
                </a:solidFill>
              </a:rPr>
              <a:t>0</a:t>
            </a:r>
            <a:r>
              <a:rPr lang="en-US" altLang="en-US" sz="2400" dirty="0"/>
              <a:t>, the address is unicast; otherwise, it is multicast.</a:t>
            </a:r>
          </a:p>
          <a:p>
            <a:r>
              <a:rPr lang="en-US" altLang="en-US" sz="2400" dirty="0"/>
              <a:t>The broadcast destination address is a special case of the multicast address in which all bits are 1s.</a:t>
            </a:r>
          </a:p>
          <a:p>
            <a:endParaRPr lang="en-US" altLang="en-US" sz="2400" dirty="0"/>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2411" y="2504281"/>
            <a:ext cx="5409936" cy="149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8641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a:t>Cable topologies</a:t>
            </a:r>
          </a:p>
        </p:txBody>
      </p:sp>
      <p:pic>
        <p:nvPicPr>
          <p:cNvPr id="4403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628775"/>
            <a:ext cx="9144000" cy="2527300"/>
          </a:xfrm>
          <a:noFill/>
          <a:ln/>
        </p:spPr>
      </p:pic>
      <p:sp>
        <p:nvSpPr>
          <p:cNvPr id="44038" name="Text Box 6"/>
          <p:cNvSpPr txBox="1">
            <a:spLocks noChangeArrowheads="1"/>
          </p:cNvSpPr>
          <p:nvPr/>
        </p:nvSpPr>
        <p:spPr bwMode="auto">
          <a:xfrm>
            <a:off x="2279650" y="4508500"/>
            <a:ext cx="828040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buFontTx/>
              <a:buNone/>
            </a:pPr>
            <a:r>
              <a:rPr lang="en-US" altLang="en-US" dirty="0">
                <a:latin typeface="Arial" panose="020B0604020202020204" pitchFamily="34" charset="0"/>
              </a:rPr>
              <a:t>Linear                    Spine (bus)           Tree                                   Segmented</a:t>
            </a:r>
          </a:p>
        </p:txBody>
      </p:sp>
    </p:spTree>
    <p:extLst>
      <p:ext uri="{BB962C8B-B14F-4D97-AF65-F5344CB8AC3E}">
        <p14:creationId xmlns:p14="http://schemas.microsoft.com/office/powerpoint/2010/main" val="2621045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5"/>
          <p:cNvSpPr>
            <a:spLocks noGrp="1" noChangeArrowheads="1"/>
          </p:cNvSpPr>
          <p:nvPr>
            <p:ph type="title"/>
          </p:nvPr>
        </p:nvSpPr>
        <p:spPr/>
        <p:txBody>
          <a:bodyPr/>
          <a:lstStyle/>
          <a:p>
            <a:r>
              <a:rPr lang="en-US" altLang="en-US"/>
              <a:t>Manchester encoding</a:t>
            </a:r>
          </a:p>
        </p:txBody>
      </p:sp>
      <p:pic>
        <p:nvPicPr>
          <p:cNvPr id="4608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836739"/>
            <a:ext cx="9144000" cy="3621087"/>
          </a:xfrm>
          <a:noFill/>
          <a:ln/>
        </p:spPr>
      </p:pic>
    </p:spTree>
    <p:extLst>
      <p:ext uri="{BB962C8B-B14F-4D97-AF65-F5344CB8AC3E}">
        <p14:creationId xmlns:p14="http://schemas.microsoft.com/office/powerpoint/2010/main" val="2515778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0" name="Text Box 2"/>
          <p:cNvSpPr txBox="1">
            <a:spLocks noChangeArrowheads="1"/>
          </p:cNvSpPr>
          <p:nvPr/>
        </p:nvSpPr>
        <p:spPr bwMode="auto">
          <a:xfrm>
            <a:off x="2362200" y="1981200"/>
            <a:ext cx="5114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dirty="0">
                <a:latin typeface="Times New Roman" panose="02020603050405020304" pitchFamily="18" charset="0"/>
              </a:rPr>
              <a:t>Summary of Standard Ethernet implementations</a:t>
            </a:r>
          </a:p>
        </p:txBody>
      </p:sp>
      <p:pic>
        <p:nvPicPr>
          <p:cNvPr id="8878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0600" y="2559050"/>
            <a:ext cx="7797800" cy="183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3989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A9E0F-DF5B-4AE6-967D-28BBE73C3BFD}"/>
              </a:ext>
            </a:extLst>
          </p:cNvPr>
          <p:cNvSpPr>
            <a:spLocks noGrp="1"/>
          </p:cNvSpPr>
          <p:nvPr>
            <p:ph type="title"/>
          </p:nvPr>
        </p:nvSpPr>
        <p:spPr/>
        <p:txBody>
          <a:bodyPr/>
          <a:lstStyle/>
          <a:p>
            <a:r>
              <a:rPr lang="en-US" sz="4400" b="0" i="0" dirty="0">
                <a:solidFill>
                  <a:srgbClr val="0C3F69"/>
                </a:solidFill>
                <a:effectLst/>
                <a:latin typeface="Times New Roman" panose="02020603050405020304" pitchFamily="18" charset="0"/>
                <a:cs typeface="Times New Roman" panose="02020603050405020304" pitchFamily="18" charset="0"/>
              </a:rPr>
              <a:t>Fast Ethernet</a:t>
            </a:r>
            <a:endParaRPr lang="en-IN" dirty="0"/>
          </a:p>
        </p:txBody>
      </p:sp>
      <p:sp>
        <p:nvSpPr>
          <p:cNvPr id="3" name="Content Placeholder 2">
            <a:extLst>
              <a:ext uri="{FF2B5EF4-FFF2-40B4-BE49-F238E27FC236}">
                <a16:creationId xmlns:a16="http://schemas.microsoft.com/office/drawing/2014/main" id="{A2C32CD4-85D1-49FC-BD4A-F3D280DCA671}"/>
              </a:ext>
            </a:extLst>
          </p:cNvPr>
          <p:cNvSpPr>
            <a:spLocks noGrp="1"/>
          </p:cNvSpPr>
          <p:nvPr>
            <p:ph idx="1"/>
          </p:nvPr>
        </p:nvSpPr>
        <p:spPr/>
        <p:txBody>
          <a:bodyPr>
            <a:normAutofit/>
          </a:bodyPr>
          <a:lstStyle/>
          <a:p>
            <a:pPr algn="l"/>
            <a:r>
              <a:rPr lang="en-US" sz="2600" b="0" i="0" dirty="0">
                <a:solidFill>
                  <a:srgbClr val="333333"/>
                </a:solidFill>
                <a:effectLst/>
                <a:latin typeface="Times New Roman" panose="02020603050405020304" pitchFamily="18" charset="0"/>
                <a:cs typeface="Times New Roman" panose="02020603050405020304" pitchFamily="18" charset="0"/>
              </a:rPr>
              <a:t>The Fast Ethernet standard (IEEE 802.3u) has been established for Ethernet networks that need higher transmission speeds. </a:t>
            </a:r>
          </a:p>
          <a:p>
            <a:pPr algn="l"/>
            <a:r>
              <a:rPr lang="en-US" sz="2600" b="0" i="0" dirty="0">
                <a:solidFill>
                  <a:srgbClr val="333333"/>
                </a:solidFill>
                <a:effectLst/>
                <a:latin typeface="Times New Roman" panose="02020603050405020304" pitchFamily="18" charset="0"/>
                <a:cs typeface="Times New Roman" panose="02020603050405020304" pitchFamily="18" charset="0"/>
              </a:rPr>
              <a:t>This standard raises the Ethernet speed limit from 10 Mbps to 100 Mbps with only minimal changes to the existing cable structure. </a:t>
            </a:r>
          </a:p>
          <a:p>
            <a:pPr algn="l"/>
            <a:r>
              <a:rPr lang="en-US" sz="2600" b="0" i="0" dirty="0">
                <a:solidFill>
                  <a:srgbClr val="333333"/>
                </a:solidFill>
                <a:effectLst/>
                <a:latin typeface="Times New Roman" panose="02020603050405020304" pitchFamily="18" charset="0"/>
                <a:cs typeface="Times New Roman" panose="02020603050405020304" pitchFamily="18" charset="0"/>
              </a:rPr>
              <a:t>Fast Ethernet provides faster throughput for video, multimedia, graphics, Internet surfing and stronger error detection and correction.</a:t>
            </a:r>
          </a:p>
          <a:p>
            <a:pPr marL="0" indent="0">
              <a:buNone/>
            </a:pPr>
            <a:endParaRPr lang="en-IN" dirty="0"/>
          </a:p>
        </p:txBody>
      </p:sp>
    </p:spTree>
    <p:extLst>
      <p:ext uri="{BB962C8B-B14F-4D97-AF65-F5344CB8AC3E}">
        <p14:creationId xmlns:p14="http://schemas.microsoft.com/office/powerpoint/2010/main" val="3463031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FACCF-BA45-462E-9F05-0EECB592ED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7EF9045-0604-497E-84EB-048B23A8530F}"/>
              </a:ext>
            </a:extLst>
          </p:cNvPr>
          <p:cNvSpPr>
            <a:spLocks noGrp="1"/>
          </p:cNvSpPr>
          <p:nvPr>
            <p:ph idx="1"/>
          </p:nvPr>
        </p:nvSpPr>
        <p:spPr/>
        <p:txBody>
          <a:bodyPr/>
          <a:lstStyle/>
          <a:p>
            <a:r>
              <a:rPr lang="en-US" sz="2800" b="0" i="0" dirty="0">
                <a:solidFill>
                  <a:srgbClr val="333333"/>
                </a:solidFill>
                <a:effectLst/>
                <a:latin typeface="Times New Roman" panose="02020603050405020304" pitchFamily="18" charset="0"/>
                <a:cs typeface="Times New Roman" panose="02020603050405020304" pitchFamily="18" charset="0"/>
              </a:rPr>
              <a:t>Three types of Fast Ethernet: </a:t>
            </a:r>
          </a:p>
          <a:p>
            <a:pPr lvl="1"/>
            <a:r>
              <a:rPr lang="en-US" b="0" i="0" dirty="0">
                <a:solidFill>
                  <a:srgbClr val="333333"/>
                </a:solidFill>
                <a:effectLst/>
                <a:latin typeface="Times New Roman" panose="02020603050405020304" pitchFamily="18" charset="0"/>
                <a:cs typeface="Times New Roman" panose="02020603050405020304" pitchFamily="18" charset="0"/>
              </a:rPr>
              <a:t>100BASE-TX for use with level 5 UTP cable; </a:t>
            </a:r>
          </a:p>
          <a:p>
            <a:pPr lvl="1"/>
            <a:r>
              <a:rPr lang="en-US" b="0" i="0" dirty="0">
                <a:solidFill>
                  <a:srgbClr val="333333"/>
                </a:solidFill>
                <a:effectLst/>
                <a:latin typeface="Times New Roman" panose="02020603050405020304" pitchFamily="18" charset="0"/>
                <a:cs typeface="Times New Roman" panose="02020603050405020304" pitchFamily="18" charset="0"/>
              </a:rPr>
              <a:t>100BASE-FX for use with fiber-optic cable; </a:t>
            </a:r>
          </a:p>
          <a:p>
            <a:pPr lvl="1"/>
            <a:r>
              <a:rPr lang="en-US" b="0" i="0" dirty="0">
                <a:solidFill>
                  <a:srgbClr val="333333"/>
                </a:solidFill>
                <a:effectLst/>
                <a:latin typeface="Times New Roman" panose="02020603050405020304" pitchFamily="18" charset="0"/>
                <a:cs typeface="Times New Roman" panose="02020603050405020304" pitchFamily="18" charset="0"/>
              </a:rPr>
              <a:t>100BASE-T4 which utilizes an extra two wires for use with level 3 UTP cable.</a:t>
            </a:r>
          </a:p>
          <a:p>
            <a:pPr lvl="1"/>
            <a:r>
              <a:rPr lang="en-US" b="0" i="0" dirty="0">
                <a:solidFill>
                  <a:srgbClr val="333333"/>
                </a:solidFill>
                <a:effectLst/>
                <a:latin typeface="Times New Roman" panose="02020603050405020304" pitchFamily="18" charset="0"/>
                <a:cs typeface="Times New Roman" panose="02020603050405020304" pitchFamily="18" charset="0"/>
              </a:rPr>
              <a:t> The 100BASE-TX standard has become the most popular due to its close compatibility with the 10BASE-T Ethernet standard.</a:t>
            </a:r>
          </a:p>
          <a:p>
            <a:endParaRPr lang="en-IN" dirty="0"/>
          </a:p>
        </p:txBody>
      </p:sp>
    </p:spTree>
    <p:extLst>
      <p:ext uri="{BB962C8B-B14F-4D97-AF65-F5344CB8AC3E}">
        <p14:creationId xmlns:p14="http://schemas.microsoft.com/office/powerpoint/2010/main" val="1419996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C8C3A-D564-4C5C-A0FF-93488D73C1A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6004FC2-C89B-4030-A4FE-B1681025DD7B}"/>
              </a:ext>
            </a:extLst>
          </p:cNvPr>
          <p:cNvPicPr>
            <a:picLocks noGrp="1" noChangeAspect="1"/>
          </p:cNvPicPr>
          <p:nvPr>
            <p:ph idx="1"/>
          </p:nvPr>
        </p:nvPicPr>
        <p:blipFill>
          <a:blip r:embed="rId2"/>
          <a:stretch>
            <a:fillRect/>
          </a:stretch>
        </p:blipFill>
        <p:spPr>
          <a:xfrm>
            <a:off x="838200" y="2112998"/>
            <a:ext cx="10515600" cy="3776591"/>
          </a:xfrm>
        </p:spPr>
      </p:pic>
    </p:spTree>
    <p:extLst>
      <p:ext uri="{BB962C8B-B14F-4D97-AF65-F5344CB8AC3E}">
        <p14:creationId xmlns:p14="http://schemas.microsoft.com/office/powerpoint/2010/main" val="1780906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3CC7A-ED91-423D-842F-A1E4D6C61434}"/>
              </a:ext>
            </a:extLst>
          </p:cNvPr>
          <p:cNvSpPr>
            <a:spLocks noGrp="1"/>
          </p:cNvSpPr>
          <p:nvPr>
            <p:ph type="title"/>
          </p:nvPr>
        </p:nvSpPr>
        <p:spPr/>
        <p:txBody>
          <a:bodyPr/>
          <a:lstStyle/>
          <a:p>
            <a:r>
              <a:rPr lang="en-US" altLang="en-US" dirty="0">
                <a:latin typeface="Times" panose="02020603050405020304" pitchFamily="18" charset="0"/>
              </a:rPr>
              <a:t>GIGABIT ETHERNET</a:t>
            </a:r>
            <a:endParaRPr lang="en-IN" dirty="0"/>
          </a:p>
        </p:txBody>
      </p:sp>
      <p:sp>
        <p:nvSpPr>
          <p:cNvPr id="3" name="Content Placeholder 2">
            <a:extLst>
              <a:ext uri="{FF2B5EF4-FFF2-40B4-BE49-F238E27FC236}">
                <a16:creationId xmlns:a16="http://schemas.microsoft.com/office/drawing/2014/main" id="{C247806C-CCC1-4EE0-B7FF-22F1DEDE398E}"/>
              </a:ext>
            </a:extLst>
          </p:cNvPr>
          <p:cNvSpPr>
            <a:spLocks noGrp="1"/>
          </p:cNvSpPr>
          <p:nvPr>
            <p:ph idx="1"/>
          </p:nvPr>
        </p:nvSpPr>
        <p:spPr/>
        <p:txBody>
          <a:bodyPr>
            <a:normAutofit/>
          </a:bodyPr>
          <a:lstStyle/>
          <a:p>
            <a:r>
              <a:rPr lang="en-US" sz="2400" b="0" i="0" dirty="0">
                <a:solidFill>
                  <a:srgbClr val="333333"/>
                </a:solidFill>
                <a:effectLst/>
                <a:latin typeface="Times New Roman" panose="02020603050405020304" pitchFamily="18" charset="0"/>
                <a:cs typeface="Times New Roman" panose="02020603050405020304" pitchFamily="18" charset="0"/>
              </a:rPr>
              <a:t>Gigabit Ethernet was developed to meet the need for faster communication networks with applications such as multimedia and Voice over IP (VoIP). </a:t>
            </a:r>
          </a:p>
          <a:p>
            <a:r>
              <a:rPr lang="en-US" sz="2400" b="0" i="0" dirty="0">
                <a:solidFill>
                  <a:srgbClr val="333333"/>
                </a:solidFill>
                <a:effectLst/>
                <a:latin typeface="Times New Roman" panose="02020603050405020304" pitchFamily="18" charset="0"/>
                <a:cs typeface="Times New Roman" panose="02020603050405020304" pitchFamily="18" charset="0"/>
              </a:rPr>
              <a:t>Also known as “gigabit-Ethernet-over-copper” or 1000Base-T, GigE is a version of Ethernet that runs at speeds 10 times faster than 100Base-T. </a:t>
            </a:r>
          </a:p>
          <a:p>
            <a:r>
              <a:rPr lang="en-US" sz="2400" b="0" i="0" dirty="0">
                <a:solidFill>
                  <a:srgbClr val="333333"/>
                </a:solidFill>
                <a:effectLst/>
                <a:latin typeface="Times New Roman" panose="02020603050405020304" pitchFamily="18" charset="0"/>
                <a:cs typeface="Times New Roman" panose="02020603050405020304" pitchFamily="18" charset="0"/>
              </a:rPr>
              <a:t>It is defined in the IEEE 802.3 standard and is currently used as an enterprise backbone. </a:t>
            </a:r>
            <a:r>
              <a:rPr lang="en-US" altLang="en-US" sz="2400" dirty="0">
                <a:latin typeface="Times New Roman" panose="02020603050405020304" pitchFamily="18" charset="0"/>
              </a:rPr>
              <a:t>The IEEE committee calls the standard as 802.3z.</a:t>
            </a:r>
          </a:p>
          <a:p>
            <a:r>
              <a:rPr lang="en-US" sz="2400" b="0" i="0" dirty="0">
                <a:solidFill>
                  <a:srgbClr val="333333"/>
                </a:solidFill>
                <a:effectLst/>
                <a:latin typeface="Times New Roman" panose="02020603050405020304" pitchFamily="18" charset="0"/>
                <a:cs typeface="Times New Roman" panose="02020603050405020304" pitchFamily="18" charset="0"/>
              </a:rPr>
              <a:t>Existing Ethernet LANs with 10 and 100 Mbps cards can feed into a Gigabit Ethernet backbone to interconnect high performance switches, routers and servers.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9900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Text Box 2"/>
          <p:cNvSpPr txBox="1">
            <a:spLocks noChangeArrowheads="1"/>
          </p:cNvSpPr>
          <p:nvPr/>
        </p:nvSpPr>
        <p:spPr bwMode="auto">
          <a:xfrm>
            <a:off x="2286000" y="1676400"/>
            <a:ext cx="49664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dirty="0">
                <a:latin typeface="Times New Roman" panose="02020603050405020304" pitchFamily="18" charset="0"/>
              </a:rPr>
              <a:t>Summary of Gigabit Ethernet implementations</a:t>
            </a:r>
          </a:p>
        </p:txBody>
      </p:sp>
      <p:pic>
        <p:nvPicPr>
          <p:cNvPr id="8898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764" y="2270126"/>
            <a:ext cx="7742237" cy="245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0194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FB415-A467-41C4-8454-9473477133F9}"/>
              </a:ext>
            </a:extLst>
          </p:cNvPr>
          <p:cNvSpPr>
            <a:spLocks noGrp="1"/>
          </p:cNvSpPr>
          <p:nvPr>
            <p:ph type="title"/>
          </p:nvPr>
        </p:nvSpPr>
        <p:spPr/>
        <p:txBody>
          <a:bodyPr/>
          <a:lstStyle/>
          <a:p>
            <a:r>
              <a:rPr lang="en-US" b="0" i="0" dirty="0">
                <a:effectLst/>
                <a:latin typeface="Times New Roman" panose="02020603050405020304" pitchFamily="18" charset="0"/>
                <a:cs typeface="Times New Roman" panose="02020603050405020304" pitchFamily="18" charset="0"/>
              </a:rPr>
              <a:t>10 Gigabit Ethernet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7AD054-99E9-404F-BDD0-1E0EE1245E71}"/>
              </a:ext>
            </a:extLst>
          </p:cNvPr>
          <p:cNvSpPr>
            <a:spLocks noGrp="1"/>
          </p:cNvSpPr>
          <p:nvPr>
            <p:ph idx="1"/>
          </p:nvPr>
        </p:nvSpPr>
        <p:spPr/>
        <p:txBody>
          <a:bodyPr/>
          <a:lstStyle/>
          <a:p>
            <a:pPr algn="l"/>
            <a:r>
              <a:rPr lang="en-US" sz="2400" b="0" i="0" dirty="0">
                <a:solidFill>
                  <a:srgbClr val="333333"/>
                </a:solidFill>
                <a:effectLst/>
                <a:latin typeface="Times New Roman" panose="02020603050405020304" pitchFamily="18" charset="0"/>
                <a:cs typeface="Times New Roman" panose="02020603050405020304" pitchFamily="18" charset="0"/>
              </a:rPr>
              <a:t>10 Gigabit Ethernet is the fastest and most recent of the Ethernet standards. </a:t>
            </a:r>
          </a:p>
          <a:p>
            <a:pPr algn="l"/>
            <a:r>
              <a:rPr lang="en-US" sz="2400" b="0" i="0" dirty="0">
                <a:solidFill>
                  <a:srgbClr val="333333"/>
                </a:solidFill>
                <a:effectLst/>
                <a:latin typeface="Times New Roman" panose="02020603050405020304" pitchFamily="18" charset="0"/>
                <a:cs typeface="Times New Roman" panose="02020603050405020304" pitchFamily="18" charset="0"/>
              </a:rPr>
              <a:t>IEEE 802.3ae defines a version of Ethernet with a nominal rate of 10Gbits/s that makes it 10 times faster than Gigabit Ethernet.</a:t>
            </a:r>
          </a:p>
          <a:p>
            <a:endParaRPr lang="en-IN" dirty="0"/>
          </a:p>
        </p:txBody>
      </p:sp>
    </p:spTree>
    <p:extLst>
      <p:ext uri="{BB962C8B-B14F-4D97-AF65-F5344CB8AC3E}">
        <p14:creationId xmlns:p14="http://schemas.microsoft.com/office/powerpoint/2010/main" val="943257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Text Box 2"/>
          <p:cNvSpPr txBox="1">
            <a:spLocks noChangeArrowheads="1"/>
          </p:cNvSpPr>
          <p:nvPr/>
        </p:nvSpPr>
        <p:spPr bwMode="auto">
          <a:xfrm>
            <a:off x="2133601" y="1981200"/>
            <a:ext cx="54125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dirty="0">
                <a:latin typeface="Times New Roman" panose="02020603050405020304" pitchFamily="18" charset="0"/>
              </a:rPr>
              <a:t>Summary of Ten-Gigabit Ethernet implementations</a:t>
            </a:r>
          </a:p>
        </p:txBody>
      </p:sp>
      <p:pic>
        <p:nvPicPr>
          <p:cNvPr id="8908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2438400"/>
            <a:ext cx="7897813" cy="162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020389" y="4603710"/>
            <a:ext cx="7611291" cy="707886"/>
          </a:xfrm>
          <a:prstGeom prst="rect">
            <a:avLst/>
          </a:prstGeom>
        </p:spPr>
        <p:txBody>
          <a:bodyPr wrap="square">
            <a:spAutoFit/>
          </a:bodyPr>
          <a:lstStyle/>
          <a:p>
            <a:r>
              <a:rPr lang="en-IN" sz="2000" dirty="0"/>
              <a:t>Encoding used </a:t>
            </a:r>
            <a:r>
              <a:rPr lang="en-IN" sz="2000" b="1" dirty="0"/>
              <a:t>64b/66b</a:t>
            </a:r>
            <a:r>
              <a:rPr lang="en-IN" sz="2000" dirty="0"/>
              <a:t> - line code that transforms 64-bit data to 66-bit line code</a:t>
            </a:r>
          </a:p>
        </p:txBody>
      </p:sp>
    </p:spTree>
    <p:extLst>
      <p:ext uri="{BB962C8B-B14F-4D97-AF65-F5344CB8AC3E}">
        <p14:creationId xmlns:p14="http://schemas.microsoft.com/office/powerpoint/2010/main" val="2312814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altLang="en-US" dirty="0"/>
              <a:t>Token Bus – IEEE 802.4</a:t>
            </a:r>
            <a:endParaRPr lang="en-US" altLang="en-US" dirty="0"/>
          </a:p>
        </p:txBody>
      </p:sp>
      <p:sp>
        <p:nvSpPr>
          <p:cNvPr id="63491" name="Rectangle 3"/>
          <p:cNvSpPr>
            <a:spLocks noGrp="1" noChangeArrowheads="1"/>
          </p:cNvSpPr>
          <p:nvPr>
            <p:ph type="body" idx="1"/>
          </p:nvPr>
        </p:nvSpPr>
        <p:spPr>
          <a:xfrm>
            <a:off x="804068" y="1911927"/>
            <a:ext cx="9142413" cy="2117148"/>
          </a:xfrm>
        </p:spPr>
        <p:txBody>
          <a:bodyPr/>
          <a:lstStyle/>
          <a:p>
            <a:r>
              <a:rPr lang="en-US" altLang="en-US" dirty="0"/>
              <a:t>A network which implements the modified </a:t>
            </a:r>
            <a:r>
              <a:rPr lang="en-US" altLang="en-US" b="1" dirty="0"/>
              <a:t>Token Ring</a:t>
            </a:r>
            <a:r>
              <a:rPr lang="en-US" altLang="en-US" dirty="0"/>
              <a:t> protocol over a </a:t>
            </a:r>
            <a:r>
              <a:rPr lang="en-US" altLang="en-US" b="1" dirty="0"/>
              <a:t>"virtual ring"</a:t>
            </a:r>
            <a:r>
              <a:rPr lang="en-US" altLang="en-US" dirty="0"/>
              <a:t> on a coaxial cable with a bus topology. </a:t>
            </a:r>
          </a:p>
          <a:p>
            <a:r>
              <a:rPr lang="en-US" altLang="en-US" dirty="0"/>
              <a:t>It is mainly used for industrial applications.</a:t>
            </a:r>
          </a:p>
        </p:txBody>
      </p:sp>
      <p:grpSp>
        <p:nvGrpSpPr>
          <p:cNvPr id="63506" name="Group 18"/>
          <p:cNvGrpSpPr>
            <a:grpSpLocks/>
          </p:cNvGrpSpPr>
          <p:nvPr/>
        </p:nvGrpSpPr>
        <p:grpSpPr bwMode="auto">
          <a:xfrm>
            <a:off x="2135188" y="4365625"/>
            <a:ext cx="8208962" cy="2146300"/>
            <a:chOff x="249" y="2205"/>
            <a:chExt cx="5171" cy="1352"/>
          </a:xfrm>
        </p:grpSpPr>
        <p:sp>
          <p:nvSpPr>
            <p:cNvPr id="63492" name="Line 4"/>
            <p:cNvSpPr>
              <a:spLocks noChangeShapeType="1"/>
            </p:cNvSpPr>
            <p:nvPr/>
          </p:nvSpPr>
          <p:spPr bwMode="auto">
            <a:xfrm>
              <a:off x="249" y="2886"/>
              <a:ext cx="5171"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63493" name="Line 5"/>
            <p:cNvSpPr>
              <a:spLocks noChangeShapeType="1"/>
            </p:cNvSpPr>
            <p:nvPr/>
          </p:nvSpPr>
          <p:spPr bwMode="auto">
            <a:xfrm flipV="1">
              <a:off x="884" y="2659"/>
              <a:ext cx="0" cy="1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63494" name="computr3"/>
            <p:cNvSpPr>
              <a:spLocks noEditPoints="1" noChangeArrowheads="1"/>
            </p:cNvSpPr>
            <p:nvPr/>
          </p:nvSpPr>
          <p:spPr bwMode="auto">
            <a:xfrm>
              <a:off x="657" y="2205"/>
              <a:ext cx="454" cy="444"/>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r>
                <a:rPr lang="en-GB" altLang="en-US"/>
                <a:t>1</a:t>
              </a:r>
              <a:endParaRPr lang="en-US" altLang="en-US">
                <a:solidFill>
                  <a:srgbClr val="FF3300"/>
                </a:solidFill>
              </a:endParaRPr>
            </a:p>
          </p:txBody>
        </p:sp>
        <p:sp>
          <p:nvSpPr>
            <p:cNvPr id="63495" name="Line 7"/>
            <p:cNvSpPr>
              <a:spLocks noChangeShapeType="1"/>
            </p:cNvSpPr>
            <p:nvPr/>
          </p:nvSpPr>
          <p:spPr bwMode="auto">
            <a:xfrm flipV="1">
              <a:off x="2517" y="2659"/>
              <a:ext cx="0" cy="1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63496" name="computr3"/>
            <p:cNvSpPr>
              <a:spLocks noEditPoints="1" noChangeArrowheads="1"/>
            </p:cNvSpPr>
            <p:nvPr/>
          </p:nvSpPr>
          <p:spPr bwMode="auto">
            <a:xfrm>
              <a:off x="2290" y="2205"/>
              <a:ext cx="454" cy="444"/>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r>
                <a:rPr lang="en-GB" altLang="en-US" dirty="0"/>
                <a:t>1</a:t>
              </a:r>
              <a:endParaRPr lang="en-US" altLang="en-US" dirty="0">
                <a:solidFill>
                  <a:srgbClr val="FF3300"/>
                </a:solidFill>
              </a:endParaRPr>
            </a:p>
          </p:txBody>
        </p:sp>
        <p:sp>
          <p:nvSpPr>
            <p:cNvPr id="63497" name="Line 9"/>
            <p:cNvSpPr>
              <a:spLocks noChangeShapeType="1"/>
            </p:cNvSpPr>
            <p:nvPr/>
          </p:nvSpPr>
          <p:spPr bwMode="auto">
            <a:xfrm flipV="1">
              <a:off x="4014" y="2659"/>
              <a:ext cx="0" cy="1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63498" name="computr3"/>
            <p:cNvSpPr>
              <a:spLocks noEditPoints="1" noChangeArrowheads="1"/>
            </p:cNvSpPr>
            <p:nvPr/>
          </p:nvSpPr>
          <p:spPr bwMode="auto">
            <a:xfrm>
              <a:off x="3787" y="2205"/>
              <a:ext cx="454" cy="444"/>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r>
                <a:rPr lang="en-GB" altLang="en-US"/>
                <a:t>1</a:t>
              </a:r>
              <a:endParaRPr lang="en-US" altLang="en-US">
                <a:solidFill>
                  <a:srgbClr val="FF3300"/>
                </a:solidFill>
              </a:endParaRPr>
            </a:p>
          </p:txBody>
        </p:sp>
        <p:sp>
          <p:nvSpPr>
            <p:cNvPr id="63499" name="Line 11"/>
            <p:cNvSpPr>
              <a:spLocks noChangeShapeType="1"/>
            </p:cNvSpPr>
            <p:nvPr/>
          </p:nvSpPr>
          <p:spPr bwMode="auto">
            <a:xfrm flipV="1">
              <a:off x="1746" y="2931"/>
              <a:ext cx="0" cy="1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63500" name="computr3"/>
            <p:cNvSpPr>
              <a:spLocks noEditPoints="1" noChangeArrowheads="1"/>
            </p:cNvSpPr>
            <p:nvPr/>
          </p:nvSpPr>
          <p:spPr bwMode="auto">
            <a:xfrm>
              <a:off x="1519" y="3113"/>
              <a:ext cx="454" cy="444"/>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r>
                <a:rPr lang="en-GB" altLang="en-US"/>
                <a:t>1</a:t>
              </a:r>
              <a:endParaRPr lang="en-US" altLang="en-US">
                <a:solidFill>
                  <a:srgbClr val="FF3300"/>
                </a:solidFill>
              </a:endParaRPr>
            </a:p>
          </p:txBody>
        </p:sp>
        <p:sp>
          <p:nvSpPr>
            <p:cNvPr id="63501" name="Line 13"/>
            <p:cNvSpPr>
              <a:spLocks noChangeShapeType="1"/>
            </p:cNvSpPr>
            <p:nvPr/>
          </p:nvSpPr>
          <p:spPr bwMode="auto">
            <a:xfrm flipV="1">
              <a:off x="3198" y="2886"/>
              <a:ext cx="0" cy="1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63502" name="computr3"/>
            <p:cNvSpPr>
              <a:spLocks noEditPoints="1" noChangeArrowheads="1"/>
            </p:cNvSpPr>
            <p:nvPr/>
          </p:nvSpPr>
          <p:spPr bwMode="auto">
            <a:xfrm>
              <a:off x="2971" y="3067"/>
              <a:ext cx="454" cy="444"/>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r>
                <a:rPr lang="en-GB" altLang="en-US"/>
                <a:t>1</a:t>
              </a:r>
              <a:endParaRPr lang="en-US" altLang="en-US">
                <a:solidFill>
                  <a:srgbClr val="FF3300"/>
                </a:solidFill>
              </a:endParaRPr>
            </a:p>
          </p:txBody>
        </p:sp>
        <p:sp>
          <p:nvSpPr>
            <p:cNvPr id="63503" name="Oval 15"/>
            <p:cNvSpPr>
              <a:spLocks noChangeArrowheads="1"/>
            </p:cNvSpPr>
            <p:nvPr/>
          </p:nvSpPr>
          <p:spPr bwMode="auto">
            <a:xfrm>
              <a:off x="476" y="2296"/>
              <a:ext cx="4037" cy="1134"/>
            </a:xfrm>
            <a:prstGeom prst="ellipse">
              <a:avLst/>
            </a:prstGeom>
            <a:noFill/>
            <a:ln w="28575">
              <a:solidFill>
                <a:srgbClr val="FFFF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a:p>
          </p:txBody>
        </p:sp>
        <p:sp>
          <p:nvSpPr>
            <p:cNvPr id="63504" name="Line 16"/>
            <p:cNvSpPr>
              <a:spLocks noChangeShapeType="1"/>
            </p:cNvSpPr>
            <p:nvPr/>
          </p:nvSpPr>
          <p:spPr bwMode="auto">
            <a:xfrm flipH="1">
              <a:off x="1565" y="2205"/>
              <a:ext cx="273" cy="46"/>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63505" name="Line 17"/>
            <p:cNvSpPr>
              <a:spLocks noChangeShapeType="1"/>
            </p:cNvSpPr>
            <p:nvPr/>
          </p:nvSpPr>
          <p:spPr bwMode="auto">
            <a:xfrm flipV="1">
              <a:off x="3969" y="3294"/>
              <a:ext cx="272" cy="136"/>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grpSp>
    </p:spTree>
    <p:extLst>
      <p:ext uri="{BB962C8B-B14F-4D97-AF65-F5344CB8AC3E}">
        <p14:creationId xmlns:p14="http://schemas.microsoft.com/office/powerpoint/2010/main" val="1559741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Token Bus – IEEE 802.4</a:t>
            </a:r>
            <a:endParaRPr lang="en-IN" dirty="0"/>
          </a:p>
        </p:txBody>
      </p:sp>
      <p:sp>
        <p:nvSpPr>
          <p:cNvPr id="3" name="Content Placeholder 2"/>
          <p:cNvSpPr>
            <a:spLocks noGrp="1"/>
          </p:cNvSpPr>
          <p:nvPr>
            <p:ph idx="1"/>
          </p:nvPr>
        </p:nvSpPr>
        <p:spPr/>
        <p:txBody>
          <a:bodyPr>
            <a:normAutofit fontScale="92500"/>
          </a:bodyPr>
          <a:lstStyle/>
          <a:p>
            <a:r>
              <a:rPr lang="en-IN" dirty="0"/>
              <a:t>Token Bus (IEEE 802.4) is a standard for implementing token ring over the virtual ring in LANs. </a:t>
            </a:r>
          </a:p>
          <a:p>
            <a:r>
              <a:rPr lang="en-IN" dirty="0"/>
              <a:t>The physical media has a bus or a tree topology and uses coaxial cables. </a:t>
            </a:r>
          </a:p>
          <a:p>
            <a:r>
              <a:rPr lang="en-IN" dirty="0"/>
              <a:t>A virtual ring is created with the nodes/stations and the token is passed from one node to the next in a sequence along this virtual ring - Logical ordering of all stations to form a ring</a:t>
            </a:r>
          </a:p>
          <a:p>
            <a:r>
              <a:rPr lang="en-IN" dirty="0"/>
              <a:t>Each node knows the address of its preceding station and its succeeding station. </a:t>
            </a:r>
          </a:p>
          <a:p>
            <a:r>
              <a:rPr lang="en-IN" dirty="0"/>
              <a:t>All stations are treated equally</a:t>
            </a:r>
          </a:p>
          <a:p>
            <a:r>
              <a:rPr lang="en-IN" dirty="0"/>
              <a:t>A station can only transmit data when it has the token. </a:t>
            </a:r>
          </a:p>
          <a:p>
            <a:endParaRPr lang="en-IN" dirty="0"/>
          </a:p>
        </p:txBody>
      </p:sp>
    </p:spTree>
    <p:extLst>
      <p:ext uri="{BB962C8B-B14F-4D97-AF65-F5344CB8AC3E}">
        <p14:creationId xmlns:p14="http://schemas.microsoft.com/office/powerpoint/2010/main" val="42066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Token Bus - Ring Organisation </a:t>
            </a:r>
          </a:p>
        </p:txBody>
      </p:sp>
      <p:sp>
        <p:nvSpPr>
          <p:cNvPr id="3" name="Content Placeholder 2"/>
          <p:cNvSpPr>
            <a:spLocks noGrp="1"/>
          </p:cNvSpPr>
          <p:nvPr>
            <p:ph idx="1"/>
          </p:nvPr>
        </p:nvSpPr>
        <p:spPr/>
        <p:txBody>
          <a:bodyPr>
            <a:normAutofit/>
          </a:bodyPr>
          <a:lstStyle/>
          <a:p>
            <a:r>
              <a:rPr lang="en-IN" dirty="0"/>
              <a:t>Linear tree shaped cable on to which stations are attached. </a:t>
            </a:r>
          </a:p>
          <a:p>
            <a:r>
              <a:rPr lang="en-IN" dirty="0"/>
              <a:t>Each station knows the address of its left and right neighbours.</a:t>
            </a:r>
          </a:p>
          <a:p>
            <a:pPr marL="342900" indent="-342900">
              <a:spcBef>
                <a:spcPct val="20000"/>
              </a:spcBef>
              <a:buFontTx/>
              <a:buChar char="•"/>
              <a:defRPr/>
            </a:pPr>
            <a:r>
              <a:rPr lang="en-US" altLang="zh-TW" kern="0" dirty="0"/>
              <a:t>Stations are organized as a circular doubly-linked list</a:t>
            </a:r>
          </a:p>
          <a:p>
            <a:r>
              <a:rPr lang="en-IN" dirty="0"/>
              <a:t>Ring is first initialised </a:t>
            </a:r>
          </a:p>
          <a:p>
            <a:pPr lvl="1"/>
            <a:r>
              <a:rPr lang="en-IN" dirty="0"/>
              <a:t> coordinator to initialise ring. </a:t>
            </a:r>
          </a:p>
          <a:p>
            <a:pPr lvl="1"/>
            <a:r>
              <a:rPr lang="en-IN" dirty="0"/>
              <a:t>stations inserted in the order of station address</a:t>
            </a:r>
          </a:p>
          <a:p>
            <a:pPr marL="0" indent="0">
              <a:buNone/>
            </a:pPr>
            <a:endParaRPr lang="en-IN" dirty="0"/>
          </a:p>
        </p:txBody>
      </p:sp>
    </p:spTree>
    <p:extLst>
      <p:ext uri="{BB962C8B-B14F-4D97-AF65-F5344CB8AC3E}">
        <p14:creationId xmlns:p14="http://schemas.microsoft.com/office/powerpoint/2010/main" val="3728408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Token Bus </a:t>
            </a:r>
          </a:p>
        </p:txBody>
      </p:sp>
      <p:sp>
        <p:nvSpPr>
          <p:cNvPr id="3" name="Content Placeholder 2"/>
          <p:cNvSpPr>
            <a:spLocks noGrp="1"/>
          </p:cNvSpPr>
          <p:nvPr>
            <p:ph idx="1"/>
          </p:nvPr>
        </p:nvSpPr>
        <p:spPr/>
        <p:txBody>
          <a:bodyPr>
            <a:normAutofit fontScale="92500" lnSpcReduction="10000"/>
          </a:bodyPr>
          <a:lstStyle/>
          <a:p>
            <a:pPr>
              <a:spcBef>
                <a:spcPct val="20000"/>
              </a:spcBef>
              <a:defRPr/>
            </a:pPr>
            <a:r>
              <a:rPr lang="en-US" altLang="zh-TW" kern="0" dirty="0"/>
              <a:t>A distributed polling algorithm is used to avoid bus contention</a:t>
            </a:r>
          </a:p>
          <a:p>
            <a:pPr>
              <a:spcBef>
                <a:spcPct val="20000"/>
              </a:spcBef>
              <a:defRPr/>
            </a:pPr>
            <a:r>
              <a:rPr lang="en-US" altLang="zh-TW" kern="0" dirty="0"/>
              <a:t>Token: Right of access</a:t>
            </a:r>
          </a:p>
          <a:p>
            <a:pPr lvl="1"/>
            <a:r>
              <a:rPr lang="en-IN" dirty="0"/>
              <a:t>Token passing from higher to lower order station address </a:t>
            </a:r>
          </a:p>
          <a:p>
            <a:pPr lvl="1"/>
            <a:r>
              <a:rPr lang="en-IN" dirty="0"/>
              <a:t>Token acquired station transmits for certain amount of time </a:t>
            </a:r>
          </a:p>
          <a:p>
            <a:pPr lvl="1"/>
            <a:r>
              <a:rPr lang="en-IN" dirty="0"/>
              <a:t>Hand over token either at end of time or no frame to transmit </a:t>
            </a:r>
          </a:p>
          <a:p>
            <a:r>
              <a:rPr lang="en-IN" dirty="0"/>
              <a:t>prioritize tokens</a:t>
            </a:r>
          </a:p>
          <a:p>
            <a:pPr lvl="1"/>
            <a:r>
              <a:rPr lang="en-IN" dirty="0"/>
              <a:t>each node maintains a queue of frames </a:t>
            </a:r>
          </a:p>
          <a:p>
            <a:pPr lvl="1"/>
            <a:r>
              <a:rPr lang="en-IN" dirty="0"/>
              <a:t>each node has timers </a:t>
            </a:r>
          </a:p>
          <a:p>
            <a:pPr lvl="1"/>
            <a:r>
              <a:rPr lang="en-IN" dirty="0"/>
              <a:t>handover token from higher priority to lower priority. </a:t>
            </a:r>
          </a:p>
          <a:p>
            <a:pPr lvl="1"/>
            <a:r>
              <a:rPr lang="en-IN" dirty="0"/>
              <a:t>fraction of token holding time allocated to each priority. </a:t>
            </a:r>
          </a:p>
          <a:p>
            <a:r>
              <a:rPr lang="en-IN" dirty="0"/>
              <a:t>useful for implementing real – time traffic.</a:t>
            </a:r>
          </a:p>
          <a:p>
            <a:endParaRPr lang="en-IN" dirty="0"/>
          </a:p>
          <a:p>
            <a:endParaRPr lang="en-IN" dirty="0"/>
          </a:p>
        </p:txBody>
      </p:sp>
    </p:spTree>
    <p:extLst>
      <p:ext uri="{BB962C8B-B14F-4D97-AF65-F5344CB8AC3E}">
        <p14:creationId xmlns:p14="http://schemas.microsoft.com/office/powerpoint/2010/main" val="288648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marL="342900" indent="-342900">
              <a:spcBef>
                <a:spcPct val="20000"/>
              </a:spcBef>
              <a:buFontTx/>
              <a:buChar char="•"/>
              <a:defRPr/>
            </a:pPr>
            <a:r>
              <a:rPr lang="en-US" altLang="zh-TW" kern="0" dirty="0"/>
              <a:t>Token Holder (The station receiving the token)</a:t>
            </a:r>
          </a:p>
          <a:p>
            <a:pPr lvl="1">
              <a:spcBef>
                <a:spcPct val="20000"/>
              </a:spcBef>
              <a:defRPr/>
            </a:pPr>
            <a:r>
              <a:rPr lang="en-US" altLang="zh-TW" sz="2800" kern="0" dirty="0"/>
              <a:t>Transmit one or more MAC-frame</a:t>
            </a:r>
          </a:p>
          <a:p>
            <a:pPr lvl="1">
              <a:spcBef>
                <a:spcPct val="20000"/>
              </a:spcBef>
              <a:defRPr/>
            </a:pPr>
            <a:r>
              <a:rPr lang="en-US" altLang="zh-TW" sz="2800" kern="0" dirty="0"/>
              <a:t>Poll other stations</a:t>
            </a:r>
          </a:p>
          <a:p>
            <a:pPr lvl="1">
              <a:spcBef>
                <a:spcPct val="20000"/>
              </a:spcBef>
              <a:defRPr/>
            </a:pPr>
            <a:r>
              <a:rPr lang="en-US" altLang="zh-TW" sz="2800" kern="0" dirty="0"/>
              <a:t>Receive responses</a:t>
            </a:r>
          </a:p>
          <a:p>
            <a:r>
              <a:rPr lang="en-US" altLang="zh-TW" dirty="0">
                <a:ea typeface="新細明體" charset="-120"/>
              </a:rPr>
              <a:t>Non-Token Holder</a:t>
            </a:r>
          </a:p>
          <a:p>
            <a:pPr lvl="1"/>
            <a:r>
              <a:rPr lang="en-US" altLang="zh-TW" dirty="0">
                <a:ea typeface="新細明體" charset="-120"/>
              </a:rPr>
              <a:t>Listen to the channel</a:t>
            </a:r>
          </a:p>
          <a:p>
            <a:pPr lvl="1"/>
            <a:r>
              <a:rPr lang="en-US" altLang="zh-TW" dirty="0">
                <a:ea typeface="新細明體" charset="-120"/>
              </a:rPr>
              <a:t>Respond to a poll</a:t>
            </a:r>
          </a:p>
          <a:p>
            <a:pPr lvl="1"/>
            <a:r>
              <a:rPr lang="en-US" altLang="zh-TW" dirty="0">
                <a:ea typeface="新細明體" charset="-120"/>
              </a:rPr>
              <a:t>Send Acknowledgement</a:t>
            </a:r>
          </a:p>
          <a:p>
            <a:r>
              <a:rPr lang="en-US" altLang="zh-TW" dirty="0">
                <a:ea typeface="新細明體" charset="-120"/>
              </a:rPr>
              <a:t>Logical Ring Maintenance</a:t>
            </a:r>
          </a:p>
          <a:p>
            <a:pPr lvl="1"/>
            <a:r>
              <a:rPr lang="en-US" altLang="zh-TW" dirty="0">
                <a:ea typeface="新細明體" charset="-120"/>
              </a:rPr>
              <a:t>Ring Initialization</a:t>
            </a:r>
          </a:p>
          <a:p>
            <a:pPr lvl="1"/>
            <a:r>
              <a:rPr lang="en-US" altLang="zh-TW" dirty="0">
                <a:ea typeface="新細明體" charset="-120"/>
              </a:rPr>
              <a:t>Addition to ring</a:t>
            </a:r>
          </a:p>
          <a:p>
            <a:pPr lvl="1"/>
            <a:r>
              <a:rPr lang="en-US" altLang="zh-TW" dirty="0">
                <a:ea typeface="新細明體" charset="-120"/>
              </a:rPr>
              <a:t>Deletion from ring</a:t>
            </a:r>
          </a:p>
          <a:p>
            <a:pPr lvl="1"/>
            <a:r>
              <a:rPr lang="en-US" altLang="zh-TW" dirty="0">
                <a:ea typeface="新細明體" charset="-120"/>
              </a:rPr>
              <a:t>Error Recovery</a:t>
            </a:r>
          </a:p>
          <a:p>
            <a:endParaRPr lang="en-IN" dirty="0"/>
          </a:p>
        </p:txBody>
      </p:sp>
    </p:spTree>
    <p:extLst>
      <p:ext uri="{BB962C8B-B14F-4D97-AF65-F5344CB8AC3E}">
        <p14:creationId xmlns:p14="http://schemas.microsoft.com/office/powerpoint/2010/main" val="568353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Token Bus Frame Format </a:t>
            </a:r>
          </a:p>
        </p:txBody>
      </p:sp>
      <p:pic>
        <p:nvPicPr>
          <p:cNvPr id="4" name="Content Placeholder 3"/>
          <p:cNvPicPr>
            <a:picLocks noGrp="1" noChangeAspect="1"/>
          </p:cNvPicPr>
          <p:nvPr>
            <p:ph idx="1"/>
          </p:nvPr>
        </p:nvPicPr>
        <p:blipFill>
          <a:blip r:embed="rId2"/>
          <a:stretch>
            <a:fillRect/>
          </a:stretch>
        </p:blipFill>
        <p:spPr>
          <a:xfrm>
            <a:off x="878924" y="1358537"/>
            <a:ext cx="10434151" cy="1898470"/>
          </a:xfrm>
          <a:prstGeom prst="rect">
            <a:avLst/>
          </a:prstGeom>
        </p:spPr>
      </p:pic>
      <p:sp>
        <p:nvSpPr>
          <p:cNvPr id="3" name="Rectangle 2"/>
          <p:cNvSpPr/>
          <p:nvPr/>
        </p:nvSpPr>
        <p:spPr>
          <a:xfrm>
            <a:off x="975359" y="3188272"/>
            <a:ext cx="9544593" cy="3316870"/>
          </a:xfrm>
          <a:prstGeom prst="rect">
            <a:avLst/>
          </a:prstGeom>
        </p:spPr>
        <p:txBody>
          <a:bodyPr wrap="square">
            <a:spAutoFit/>
          </a:bodyPr>
          <a:lstStyle/>
          <a:p>
            <a:pPr marL="342900" lvl="0" indent="-342900" algn="just">
              <a:lnSpc>
                <a:spcPct val="107000"/>
              </a:lnSpc>
              <a:spcBef>
                <a:spcPts val="600"/>
              </a:spcBef>
              <a:spcAft>
                <a:spcPts val="840"/>
              </a:spcAft>
              <a:buSzPts val="1000"/>
              <a:buFont typeface="Symbol" panose="05050102010706020507" pitchFamily="18" charset="2"/>
              <a:buChar char=""/>
              <a:tabLst>
                <a:tab pos="457200" algn="l"/>
              </a:tabLst>
            </a:pPr>
            <a:r>
              <a:rPr lang="en-IN" sz="1600" b="1" dirty="0">
                <a:solidFill>
                  <a:srgbClr val="000000"/>
                </a:solidFill>
                <a:ea typeface="Times New Roman" panose="02020603050405020304" pitchFamily="18" charset="0"/>
                <a:cs typeface="Times New Roman" panose="02020603050405020304" pitchFamily="18" charset="0"/>
              </a:rPr>
              <a:t>Preamble:</a:t>
            </a:r>
            <a:r>
              <a:rPr lang="en-IN" sz="1600" dirty="0">
                <a:solidFill>
                  <a:srgbClr val="000000"/>
                </a:solidFill>
                <a:ea typeface="Times New Roman" panose="02020603050405020304" pitchFamily="18" charset="0"/>
                <a:cs typeface="Times New Roman" panose="02020603050405020304" pitchFamily="18" charset="0"/>
              </a:rPr>
              <a:t> 1 byte for synchronization.</a:t>
            </a:r>
            <a:endParaRPr lang="en-IN" sz="1600" dirty="0">
              <a:solidFill>
                <a:srgbClr val="000000"/>
              </a:solidFill>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840"/>
              </a:spcAft>
              <a:buSzPts val="1000"/>
              <a:buFont typeface="Symbol" panose="05050102010706020507" pitchFamily="18" charset="2"/>
              <a:buChar char=""/>
              <a:tabLst>
                <a:tab pos="457200" algn="l"/>
              </a:tabLst>
            </a:pPr>
            <a:r>
              <a:rPr lang="en-IN" sz="1600" b="1" dirty="0">
                <a:solidFill>
                  <a:srgbClr val="000000"/>
                </a:solidFill>
                <a:ea typeface="Times New Roman" panose="02020603050405020304" pitchFamily="18" charset="0"/>
                <a:cs typeface="Times New Roman" panose="02020603050405020304" pitchFamily="18" charset="0"/>
              </a:rPr>
              <a:t>Start Delimiter:</a:t>
            </a:r>
            <a:r>
              <a:rPr lang="en-IN" sz="1600" dirty="0">
                <a:solidFill>
                  <a:srgbClr val="000000"/>
                </a:solidFill>
                <a:ea typeface="Times New Roman" panose="02020603050405020304" pitchFamily="18" charset="0"/>
                <a:cs typeface="Times New Roman" panose="02020603050405020304" pitchFamily="18" charset="0"/>
              </a:rPr>
              <a:t> 1 byte that marks the beginning of the frame.</a:t>
            </a:r>
            <a:endParaRPr lang="en-IN" sz="1600" dirty="0">
              <a:solidFill>
                <a:srgbClr val="000000"/>
              </a:solidFill>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840"/>
              </a:spcAft>
              <a:buSzPts val="1000"/>
              <a:buFont typeface="Symbol" panose="05050102010706020507" pitchFamily="18" charset="2"/>
              <a:buChar char=""/>
              <a:tabLst>
                <a:tab pos="457200" algn="l"/>
              </a:tabLst>
            </a:pPr>
            <a:r>
              <a:rPr lang="en-IN" sz="1600" b="1" dirty="0">
                <a:solidFill>
                  <a:srgbClr val="000000"/>
                </a:solidFill>
                <a:ea typeface="Times New Roman" panose="02020603050405020304" pitchFamily="18" charset="0"/>
                <a:cs typeface="Times New Roman" panose="02020603050405020304" pitchFamily="18" charset="0"/>
              </a:rPr>
              <a:t>Frame Control:</a:t>
            </a:r>
            <a:r>
              <a:rPr lang="en-IN" sz="1600" dirty="0">
                <a:solidFill>
                  <a:srgbClr val="000000"/>
                </a:solidFill>
                <a:ea typeface="Times New Roman" panose="02020603050405020304" pitchFamily="18" charset="0"/>
                <a:cs typeface="Times New Roman" panose="02020603050405020304" pitchFamily="18" charset="0"/>
              </a:rPr>
              <a:t> 1 byte that specifies whether this is a data frame or control frame.</a:t>
            </a:r>
            <a:endParaRPr lang="en-IN" sz="1600" dirty="0">
              <a:solidFill>
                <a:srgbClr val="000000"/>
              </a:solidFill>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840"/>
              </a:spcAft>
              <a:buSzPts val="1000"/>
              <a:buFont typeface="Symbol" panose="05050102010706020507" pitchFamily="18" charset="2"/>
              <a:buChar char=""/>
              <a:tabLst>
                <a:tab pos="457200" algn="l"/>
              </a:tabLst>
            </a:pPr>
            <a:r>
              <a:rPr lang="en-IN" sz="1600" b="1" dirty="0">
                <a:solidFill>
                  <a:srgbClr val="000000"/>
                </a:solidFill>
                <a:ea typeface="Times New Roman" panose="02020603050405020304" pitchFamily="18" charset="0"/>
                <a:cs typeface="Times New Roman" panose="02020603050405020304" pitchFamily="18" charset="0"/>
              </a:rPr>
              <a:t>Destination Address:</a:t>
            </a:r>
            <a:r>
              <a:rPr lang="en-IN" sz="1600" dirty="0">
                <a:solidFill>
                  <a:srgbClr val="000000"/>
                </a:solidFill>
                <a:ea typeface="Times New Roman" panose="02020603050405020304" pitchFamily="18" charset="0"/>
                <a:cs typeface="Times New Roman" panose="02020603050405020304" pitchFamily="18" charset="0"/>
              </a:rPr>
              <a:t> 2-6 bytes that specifies address of destination station.</a:t>
            </a:r>
            <a:endParaRPr lang="en-IN" sz="1600" dirty="0">
              <a:solidFill>
                <a:srgbClr val="000000"/>
              </a:solidFill>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840"/>
              </a:spcAft>
              <a:buSzPts val="1000"/>
              <a:buFont typeface="Symbol" panose="05050102010706020507" pitchFamily="18" charset="2"/>
              <a:buChar char=""/>
              <a:tabLst>
                <a:tab pos="457200" algn="l"/>
              </a:tabLst>
            </a:pPr>
            <a:r>
              <a:rPr lang="en-IN" sz="1600" b="1" dirty="0">
                <a:solidFill>
                  <a:srgbClr val="000000"/>
                </a:solidFill>
                <a:ea typeface="Times New Roman" panose="02020603050405020304" pitchFamily="18" charset="0"/>
                <a:cs typeface="Times New Roman" panose="02020603050405020304" pitchFamily="18" charset="0"/>
              </a:rPr>
              <a:t>Source Address:</a:t>
            </a:r>
            <a:r>
              <a:rPr lang="en-IN" sz="1600" dirty="0">
                <a:solidFill>
                  <a:srgbClr val="000000"/>
                </a:solidFill>
                <a:ea typeface="Times New Roman" panose="02020603050405020304" pitchFamily="18" charset="0"/>
                <a:cs typeface="Times New Roman" panose="02020603050405020304" pitchFamily="18" charset="0"/>
              </a:rPr>
              <a:t> 2-6 bytes that specifies address of source station.</a:t>
            </a:r>
            <a:endParaRPr lang="en-IN" sz="1600" dirty="0">
              <a:solidFill>
                <a:srgbClr val="000000"/>
              </a:solidFill>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840"/>
              </a:spcAft>
              <a:buSzPts val="1000"/>
              <a:buFont typeface="Symbol" panose="05050102010706020507" pitchFamily="18" charset="2"/>
              <a:buChar char=""/>
              <a:tabLst>
                <a:tab pos="457200" algn="l"/>
              </a:tabLst>
            </a:pPr>
            <a:r>
              <a:rPr lang="en-IN" sz="1600" b="1" dirty="0">
                <a:solidFill>
                  <a:srgbClr val="000000"/>
                </a:solidFill>
                <a:ea typeface="Times New Roman" panose="02020603050405020304" pitchFamily="18" charset="0"/>
                <a:cs typeface="Times New Roman" panose="02020603050405020304" pitchFamily="18" charset="0"/>
              </a:rPr>
              <a:t>Payload:</a:t>
            </a:r>
            <a:r>
              <a:rPr lang="en-IN" sz="1600" dirty="0">
                <a:solidFill>
                  <a:srgbClr val="000000"/>
                </a:solidFill>
                <a:ea typeface="Times New Roman" panose="02020603050405020304" pitchFamily="18" charset="0"/>
                <a:cs typeface="Times New Roman" panose="02020603050405020304" pitchFamily="18" charset="0"/>
              </a:rPr>
              <a:t> A variable length field that carries the data from the network layer.</a:t>
            </a:r>
            <a:endParaRPr lang="en-IN" sz="1600" dirty="0">
              <a:solidFill>
                <a:srgbClr val="000000"/>
              </a:solidFill>
              <a:ea typeface="Calibri" panose="020F0502020204030204" pitchFamily="34" charset="0"/>
              <a:cs typeface="Times New Roman" panose="02020603050405020304" pitchFamily="18" charset="0"/>
            </a:endParaRPr>
          </a:p>
          <a:p>
            <a:pPr marL="342900" lvl="0" indent="-342900">
              <a:lnSpc>
                <a:spcPct val="107000"/>
              </a:lnSpc>
              <a:spcAft>
                <a:spcPts val="375"/>
              </a:spcAft>
              <a:buSzPts val="1000"/>
              <a:buFont typeface="Symbol" panose="05050102010706020507" pitchFamily="18" charset="2"/>
              <a:buChar char=""/>
              <a:tabLst>
                <a:tab pos="457200" algn="l"/>
              </a:tabLst>
            </a:pPr>
            <a:r>
              <a:rPr lang="en-IN" sz="1600" b="1" dirty="0">
                <a:ea typeface="Times New Roman" panose="02020603050405020304" pitchFamily="18" charset="0"/>
                <a:cs typeface="Times New Roman" panose="02020603050405020304" pitchFamily="18" charset="0"/>
              </a:rPr>
              <a:t>Checksum: </a:t>
            </a:r>
            <a:r>
              <a:rPr lang="en-IN" sz="1600" dirty="0">
                <a:ea typeface="Times New Roman" panose="02020603050405020304" pitchFamily="18" charset="0"/>
                <a:cs typeface="Times New Roman" panose="02020603050405020304" pitchFamily="18" charset="0"/>
              </a:rPr>
              <a:t>4 bytes frame check sequence for error detection.</a:t>
            </a:r>
            <a:endParaRPr lang="en-IN" sz="1600" dirty="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840"/>
              </a:spcAft>
              <a:buSzPts val="1000"/>
              <a:buFont typeface="Symbol" panose="05050102010706020507" pitchFamily="18" charset="2"/>
              <a:buChar char=""/>
              <a:tabLst>
                <a:tab pos="457200" algn="l"/>
              </a:tabLst>
            </a:pPr>
            <a:r>
              <a:rPr lang="en-IN" sz="1600" b="1" dirty="0">
                <a:solidFill>
                  <a:srgbClr val="000000"/>
                </a:solidFill>
                <a:ea typeface="Times New Roman" panose="02020603050405020304" pitchFamily="18" charset="0"/>
                <a:cs typeface="Times New Roman" panose="02020603050405020304" pitchFamily="18" charset="0"/>
              </a:rPr>
              <a:t>End Delimiter:</a:t>
            </a:r>
            <a:r>
              <a:rPr lang="en-IN" sz="1600" dirty="0">
                <a:solidFill>
                  <a:srgbClr val="000000"/>
                </a:solidFill>
                <a:ea typeface="Times New Roman" panose="02020603050405020304" pitchFamily="18" charset="0"/>
                <a:cs typeface="Times New Roman" panose="02020603050405020304" pitchFamily="18" charset="0"/>
              </a:rPr>
              <a:t> 1 byte that marks the end of the frame.</a:t>
            </a:r>
            <a:endParaRPr lang="en-IN" sz="1600" dirty="0">
              <a:solidFill>
                <a:srgbClr val="000000"/>
              </a:solidFill>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32643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Exchange in Token Bus</a:t>
            </a:r>
            <a:endParaRPr lang="en-IN" dirty="0"/>
          </a:p>
        </p:txBody>
      </p:sp>
      <p:sp>
        <p:nvSpPr>
          <p:cNvPr id="3" name="Content Placeholder 2"/>
          <p:cNvSpPr>
            <a:spLocks noGrp="1"/>
          </p:cNvSpPr>
          <p:nvPr>
            <p:ph idx="1"/>
          </p:nvPr>
        </p:nvSpPr>
        <p:spPr/>
        <p:txBody>
          <a:bodyPr>
            <a:normAutofit/>
          </a:bodyPr>
          <a:lstStyle/>
          <a:p>
            <a:r>
              <a:rPr lang="en-IN" dirty="0"/>
              <a:t>Two Types of messages are used</a:t>
            </a:r>
          </a:p>
          <a:p>
            <a:r>
              <a:rPr lang="en-IN" dirty="0"/>
              <a:t>Token message T</a:t>
            </a:r>
            <a:r>
              <a:rPr lang="en-IN" baseline="-25000" dirty="0"/>
              <a:t>ID, nextID</a:t>
            </a:r>
            <a:endParaRPr lang="en-IN" dirty="0"/>
          </a:p>
          <a:p>
            <a:r>
              <a:rPr lang="en-IN" dirty="0"/>
              <a:t>Data message M</a:t>
            </a:r>
            <a:r>
              <a:rPr lang="en-IN" baseline="-25000" dirty="0"/>
              <a:t>ID </a:t>
            </a:r>
            <a:r>
              <a:rPr lang="en-IN" dirty="0"/>
              <a:t> </a:t>
            </a:r>
          </a:p>
          <a:p>
            <a:r>
              <a:rPr lang="en-IN" dirty="0"/>
              <a:t>Token messages are used for passing on the sending permission from station ID to Station nextID.</a:t>
            </a:r>
          </a:p>
          <a:p>
            <a:r>
              <a:rPr lang="en-IN" dirty="0"/>
              <a:t>Data messages contain the data to be sent</a:t>
            </a:r>
          </a:p>
          <a:p>
            <a:r>
              <a:rPr lang="en-IN" dirty="0"/>
              <a:t>Having the token, a station is allowed to send a message. After this (or if nothing is to be sent) the token is passed on.</a:t>
            </a:r>
          </a:p>
        </p:txBody>
      </p:sp>
      <p:graphicFrame>
        <p:nvGraphicFramePr>
          <p:cNvPr id="7" name="Table 6"/>
          <p:cNvGraphicFramePr>
            <a:graphicFrameLocks noGrp="1"/>
          </p:cNvGraphicFramePr>
          <p:nvPr>
            <p:extLst>
              <p:ext uri="{D42A27DB-BD31-4B8C-83A1-F6EECF244321}">
                <p14:modId xmlns:p14="http://schemas.microsoft.com/office/powerpoint/2010/main" val="2999566946"/>
              </p:ext>
            </p:extLst>
          </p:nvPr>
        </p:nvGraphicFramePr>
        <p:xfrm>
          <a:off x="5634318" y="2340021"/>
          <a:ext cx="2039471" cy="416859"/>
        </p:xfrm>
        <a:graphic>
          <a:graphicData uri="http://schemas.openxmlformats.org/drawingml/2006/table">
            <a:tbl>
              <a:tblPr firstRow="1" firstCol="1" bandRow="1">
                <a:tableStyleId>{5C22544A-7EE6-4342-B048-85BDC9FD1C3A}</a:tableStyleId>
              </a:tblPr>
              <a:tblGrid>
                <a:gridCol w="511232">
                  <a:extLst>
                    <a:ext uri="{9D8B030D-6E8A-4147-A177-3AD203B41FA5}">
                      <a16:colId xmlns:a16="http://schemas.microsoft.com/office/drawing/2014/main" val="3325166919"/>
                    </a:ext>
                  </a:extLst>
                </a:gridCol>
                <a:gridCol w="1528239">
                  <a:extLst>
                    <a:ext uri="{9D8B030D-6E8A-4147-A177-3AD203B41FA5}">
                      <a16:colId xmlns:a16="http://schemas.microsoft.com/office/drawing/2014/main" val="4126876707"/>
                    </a:ext>
                  </a:extLst>
                </a:gridCol>
              </a:tblGrid>
              <a:tr h="416859">
                <a:tc>
                  <a:txBody>
                    <a:bodyPr/>
                    <a:lstStyle/>
                    <a:p>
                      <a:pPr algn="l">
                        <a:lnSpc>
                          <a:spcPct val="107000"/>
                        </a:lnSpc>
                        <a:spcAft>
                          <a:spcPts val="0"/>
                        </a:spcAft>
                      </a:pPr>
                      <a:r>
                        <a:rPr lang="en-IN" sz="1600" dirty="0">
                          <a:effectLst/>
                        </a:rPr>
                        <a:t>ID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600" dirty="0">
                          <a:effectLst/>
                        </a:rPr>
                        <a:t>nextID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880079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740708141"/>
              </p:ext>
            </p:extLst>
          </p:nvPr>
        </p:nvGraphicFramePr>
        <p:xfrm>
          <a:off x="5634318" y="2824349"/>
          <a:ext cx="4935070" cy="446461"/>
        </p:xfrm>
        <a:graphic>
          <a:graphicData uri="http://schemas.openxmlformats.org/drawingml/2006/table">
            <a:tbl>
              <a:tblPr firstRow="1" firstCol="1" bandRow="1">
                <a:tableStyleId>{5C22544A-7EE6-4342-B048-85BDC9FD1C3A}</a:tableStyleId>
              </a:tblPr>
              <a:tblGrid>
                <a:gridCol w="593517">
                  <a:extLst>
                    <a:ext uri="{9D8B030D-6E8A-4147-A177-3AD203B41FA5}">
                      <a16:colId xmlns:a16="http://schemas.microsoft.com/office/drawing/2014/main" val="2537364938"/>
                    </a:ext>
                  </a:extLst>
                </a:gridCol>
                <a:gridCol w="4341553">
                  <a:extLst>
                    <a:ext uri="{9D8B030D-6E8A-4147-A177-3AD203B41FA5}">
                      <a16:colId xmlns:a16="http://schemas.microsoft.com/office/drawing/2014/main" val="2961508679"/>
                    </a:ext>
                  </a:extLst>
                </a:gridCol>
              </a:tblGrid>
              <a:tr h="446461">
                <a:tc>
                  <a:txBody>
                    <a:bodyPr/>
                    <a:lstStyle/>
                    <a:p>
                      <a:pPr algn="l">
                        <a:lnSpc>
                          <a:spcPct val="107000"/>
                        </a:lnSpc>
                        <a:spcAft>
                          <a:spcPts val="0"/>
                        </a:spcAft>
                      </a:pPr>
                      <a:r>
                        <a:rPr lang="en-IN" sz="1800">
                          <a:effectLst/>
                        </a:rPr>
                        <a:t>ID</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rPr>
                        <a:t>Data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9491649"/>
                  </a:ext>
                </a:extLst>
              </a:tr>
            </a:tbl>
          </a:graphicData>
        </a:graphic>
      </p:graphicFrame>
    </p:spTree>
    <p:extLst>
      <p:ext uri="{BB962C8B-B14F-4D97-AF65-F5344CB8AC3E}">
        <p14:creationId xmlns:p14="http://schemas.microsoft.com/office/powerpoint/2010/main" val="251485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Traffic on the bus e.g. </a:t>
            </a:r>
          </a:p>
          <a:p>
            <a:r>
              <a:rPr lang="en-IN" dirty="0"/>
              <a:t>  T</a:t>
            </a:r>
            <a:r>
              <a:rPr lang="en-IN" baseline="-25000" dirty="0"/>
              <a:t>5,17 </a:t>
            </a:r>
            <a:r>
              <a:rPr lang="en-IN" dirty="0"/>
              <a:t>-&gt; M</a:t>
            </a:r>
            <a:r>
              <a:rPr lang="en-IN" baseline="-25000" dirty="0"/>
              <a:t>17</a:t>
            </a:r>
            <a:r>
              <a:rPr lang="en-IN" dirty="0"/>
              <a:t> -&gt; T</a:t>
            </a:r>
            <a:r>
              <a:rPr lang="en-IN" baseline="-25000" dirty="0"/>
              <a:t>17,21 </a:t>
            </a:r>
            <a:r>
              <a:rPr lang="en-IN" dirty="0"/>
              <a:t>-&gt; M</a:t>
            </a:r>
            <a:r>
              <a:rPr lang="en-IN" baseline="-25000" dirty="0"/>
              <a:t>21 </a:t>
            </a:r>
            <a:r>
              <a:rPr lang="en-IN" dirty="0"/>
              <a:t>-&gt; T</a:t>
            </a:r>
            <a:r>
              <a:rPr lang="en-IN" baseline="-25000" dirty="0"/>
              <a:t>21,22</a:t>
            </a:r>
            <a:r>
              <a:rPr lang="en-IN" dirty="0"/>
              <a:t>-&gt; T</a:t>
            </a:r>
            <a:r>
              <a:rPr lang="en-IN" baseline="-25000" dirty="0"/>
              <a:t>22,42 -&gt; </a:t>
            </a:r>
            <a:r>
              <a:rPr lang="en-IN" dirty="0"/>
              <a:t>T</a:t>
            </a:r>
            <a:r>
              <a:rPr lang="en-IN" baseline="-25000" dirty="0"/>
              <a:t>42, 63 </a:t>
            </a:r>
            <a:r>
              <a:rPr lang="en-IN" dirty="0"/>
              <a:t>-&gt; M</a:t>
            </a:r>
            <a:r>
              <a:rPr lang="en-IN" baseline="-25000" dirty="0"/>
              <a:t>63 </a:t>
            </a:r>
            <a:r>
              <a:rPr lang="en-IN" dirty="0"/>
              <a:t>-&gt; T</a:t>
            </a:r>
            <a:r>
              <a:rPr lang="en-IN" baseline="-25000" dirty="0"/>
              <a:t>63, 149 </a:t>
            </a:r>
            <a:r>
              <a:rPr lang="en-IN" dirty="0"/>
              <a:t>-&gt; T</a:t>
            </a:r>
            <a:r>
              <a:rPr lang="en-IN" baseline="-25000" dirty="0"/>
              <a:t>149, 5 </a:t>
            </a:r>
            <a:r>
              <a:rPr lang="en-IN" dirty="0"/>
              <a:t>-&gt; M</a:t>
            </a:r>
            <a:r>
              <a:rPr lang="en-IN" baseline="-25000" dirty="0"/>
              <a:t>5</a:t>
            </a:r>
            <a:r>
              <a:rPr lang="en-IN" dirty="0"/>
              <a:t> -&gt; T</a:t>
            </a:r>
            <a:r>
              <a:rPr lang="en-IN" baseline="-25000" dirty="0"/>
              <a:t>5,17 </a:t>
            </a:r>
            <a:r>
              <a:rPr lang="en-IN" dirty="0"/>
              <a:t>-&gt; …..</a:t>
            </a:r>
          </a:p>
          <a:p>
            <a:r>
              <a:rPr lang="en-IN" dirty="0"/>
              <a:t>High overhead for token exchange : 512 bit times for each token message ( a full small size Ethernet frame). In contrast to that, in Token Ring networks only one bit is to be switched from 0 to 1, i.e. only one bit time for a token message.</a:t>
            </a:r>
          </a:p>
          <a:p>
            <a:r>
              <a:rPr lang="en-IN" dirty="0"/>
              <a:t>Thus the number of participating stations should be low or the number of masters should be low and many number of slaves can be tolerated.</a:t>
            </a:r>
          </a:p>
          <a:p>
            <a:endParaRPr lang="en-IN" dirty="0"/>
          </a:p>
          <a:p>
            <a:endParaRPr lang="en-IN" dirty="0"/>
          </a:p>
        </p:txBody>
      </p:sp>
    </p:spTree>
    <p:extLst>
      <p:ext uri="{BB962C8B-B14F-4D97-AF65-F5344CB8AC3E}">
        <p14:creationId xmlns:p14="http://schemas.microsoft.com/office/powerpoint/2010/main" val="45954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4"/>
          <p:cNvSpPr txBox="1">
            <a:spLocks noChangeArrowheads="1"/>
          </p:cNvSpPr>
          <p:nvPr/>
        </p:nvSpPr>
        <p:spPr bwMode="auto">
          <a:xfrm>
            <a:off x="4117250" y="357051"/>
            <a:ext cx="34004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Times New Roman" panose="02020603050405020304" pitchFamily="18" charset="0"/>
              </a:defRPr>
            </a:lvl1pPr>
            <a:lvl2pPr marL="742950" indent="-285750" eaLnBrk="0" hangingPunct="0">
              <a:defRPr sz="2400" b="1">
                <a:solidFill>
                  <a:schemeClr val="tx1"/>
                </a:solidFill>
                <a:latin typeface="Times New Roman" panose="02020603050405020304" pitchFamily="18" charset="0"/>
              </a:defRPr>
            </a:lvl2pPr>
            <a:lvl3pPr marL="1143000" indent="-228600" eaLnBrk="0" hangingPunct="0">
              <a:defRPr sz="2400" b="1">
                <a:solidFill>
                  <a:schemeClr val="tx1"/>
                </a:solidFill>
                <a:latin typeface="Times New Roman" panose="02020603050405020304" pitchFamily="18" charset="0"/>
              </a:defRPr>
            </a:lvl3pPr>
            <a:lvl4pPr marL="1600200" indent="-228600" eaLnBrk="0" hangingPunct="0">
              <a:defRPr sz="2400" b="1">
                <a:solidFill>
                  <a:schemeClr val="tx1"/>
                </a:solidFill>
                <a:latin typeface="Times New Roman" panose="02020603050405020304" pitchFamily="18" charset="0"/>
              </a:defRPr>
            </a:lvl4pPr>
            <a:lvl5pPr marL="2057400" indent="-228600" eaLnBrk="0" hangingPunct="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r>
              <a:rPr lang="en-US" altLang="en-US" sz="3200" dirty="0"/>
              <a:t>Ring Management</a:t>
            </a:r>
          </a:p>
        </p:txBody>
      </p:sp>
      <p:pic>
        <p:nvPicPr>
          <p:cNvPr id="1024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1920876"/>
            <a:ext cx="8245475"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1136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Token Bus</a:t>
            </a:r>
          </a:p>
        </p:txBody>
      </p:sp>
      <p:sp>
        <p:nvSpPr>
          <p:cNvPr id="3" name="Content Placeholder 2"/>
          <p:cNvSpPr>
            <a:spLocks noGrp="1"/>
          </p:cNvSpPr>
          <p:nvPr>
            <p:ph idx="1"/>
          </p:nvPr>
        </p:nvSpPr>
        <p:spPr/>
        <p:txBody>
          <a:bodyPr>
            <a:normAutofit fontScale="62500" lnSpcReduction="20000"/>
          </a:bodyPr>
          <a:lstStyle/>
          <a:p>
            <a:r>
              <a:rPr lang="en-IN" sz="2900" dirty="0"/>
              <a:t>First problem:</a:t>
            </a:r>
          </a:p>
          <a:p>
            <a:pPr lvl="1"/>
            <a:r>
              <a:rPr lang="en-IN" sz="2900" dirty="0"/>
              <a:t>A station leaves the logical ring</a:t>
            </a:r>
          </a:p>
          <a:p>
            <a:pPr lvl="1"/>
            <a:r>
              <a:rPr lang="en-IN" sz="2900" dirty="0"/>
              <a:t>Solution: The leaving station sends a message to its predecessor indicating the new successor.</a:t>
            </a:r>
          </a:p>
          <a:p>
            <a:r>
              <a:rPr lang="en-IN" sz="2900" dirty="0"/>
              <a:t>Second Problem: A station joins the logical ring:</a:t>
            </a:r>
          </a:p>
          <a:p>
            <a:pPr lvl="1"/>
            <a:r>
              <a:rPr lang="en-IN" sz="2500" dirty="0"/>
              <a:t>To allow new stations to join, in periodically interval, a window is opened between </a:t>
            </a:r>
            <a:r>
              <a:rPr lang="en-IN" sz="2500" dirty="0" err="1"/>
              <a:t>neighbors</a:t>
            </a:r>
            <a:r>
              <a:rPr lang="en-IN" sz="2500" dirty="0"/>
              <a:t>, e.g. between 5 and 17.</a:t>
            </a:r>
          </a:p>
          <a:p>
            <a:pPr lvl="1"/>
            <a:r>
              <a:rPr lang="en-IN" sz="2500" dirty="0"/>
              <a:t> New stations with IDs from 6 to 16 can apply.</a:t>
            </a:r>
          </a:p>
          <a:p>
            <a:r>
              <a:rPr lang="en-IN" sz="2900" dirty="0"/>
              <a:t>Problem: Conflict risk. More than one station could apply to join in this window.</a:t>
            </a:r>
          </a:p>
          <a:p>
            <a:r>
              <a:rPr lang="en-IN" sz="2900" dirty="0"/>
              <a:t>Conflict Resolution: Survival of the fittest. Consider last 2 bits of the IDs:</a:t>
            </a:r>
          </a:p>
          <a:p>
            <a:pPr lvl="1"/>
            <a:r>
              <a:rPr lang="en-IN" sz="2500" dirty="0"/>
              <a:t>Send a request to join with a duration specified by the last 2 bits of the ID:</a:t>
            </a:r>
          </a:p>
          <a:p>
            <a:pPr lvl="1"/>
            <a:r>
              <a:rPr lang="en-IN" sz="2500" dirty="0"/>
              <a:t>00 send short</a:t>
            </a:r>
          </a:p>
          <a:p>
            <a:pPr lvl="1"/>
            <a:r>
              <a:rPr lang="en-IN" sz="2500" dirty="0"/>
              <a:t>01 send long</a:t>
            </a:r>
          </a:p>
          <a:p>
            <a:pPr lvl="1"/>
            <a:r>
              <a:rPr lang="en-IN" sz="2500" dirty="0"/>
              <a:t>10 send longer</a:t>
            </a:r>
          </a:p>
          <a:p>
            <a:pPr lvl="1"/>
            <a:r>
              <a:rPr lang="en-IN" sz="2500" dirty="0"/>
              <a:t>11 send longest</a:t>
            </a:r>
          </a:p>
          <a:p>
            <a:r>
              <a:rPr lang="en-IN" sz="2900" dirty="0"/>
              <a:t>A station gives up If some station is sending longer than its own. If no conflict occurs, then the station joins. If there is no resolution, then the second last bit pair is considered. </a:t>
            </a:r>
          </a:p>
          <a:p>
            <a:endParaRPr lang="en-IN" dirty="0"/>
          </a:p>
        </p:txBody>
      </p:sp>
    </p:spTree>
    <p:extLst>
      <p:ext uri="{BB962C8B-B14F-4D97-AF65-F5344CB8AC3E}">
        <p14:creationId xmlns:p14="http://schemas.microsoft.com/office/powerpoint/2010/main" val="2712122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GB" altLang="en-US" dirty="0"/>
              <a:t>Token Ring – IEEE 802.5</a:t>
            </a:r>
            <a:endParaRPr lang="en-US" altLang="en-US" dirty="0"/>
          </a:p>
        </p:txBody>
      </p:sp>
      <p:sp>
        <p:nvSpPr>
          <p:cNvPr id="57347" name="Rectangle 3"/>
          <p:cNvSpPr>
            <a:spLocks noGrp="1" noChangeArrowheads="1"/>
          </p:cNvSpPr>
          <p:nvPr>
            <p:ph type="body" idx="1"/>
          </p:nvPr>
        </p:nvSpPr>
        <p:spPr>
          <a:xfrm>
            <a:off x="1524001" y="1196975"/>
            <a:ext cx="9142413" cy="4248150"/>
          </a:xfrm>
        </p:spPr>
        <p:txBody>
          <a:bodyPr/>
          <a:lstStyle/>
          <a:p>
            <a:endParaRPr lang="en-GB" altLang="en-US" dirty="0"/>
          </a:p>
          <a:p>
            <a:r>
              <a:rPr lang="en-GB" altLang="en-US" dirty="0"/>
              <a:t>A </a:t>
            </a:r>
            <a:r>
              <a:rPr lang="en-GB" altLang="en-US" b="1" dirty="0"/>
              <a:t>ring</a:t>
            </a:r>
            <a:r>
              <a:rPr lang="en-GB" altLang="en-US" dirty="0"/>
              <a:t> topology network developed in the late 1960s. Supported mainly by IBM.</a:t>
            </a:r>
            <a:br>
              <a:rPr lang="en-GB" altLang="en-US" dirty="0"/>
            </a:br>
            <a:r>
              <a:rPr lang="en-GB" altLang="en-US" dirty="0" err="1"/>
              <a:t>pu</a:t>
            </a:r>
            <a:r>
              <a:rPr lang="en-US" altLang="en-US" dirty="0"/>
              <a:t>shed into the background by </a:t>
            </a:r>
            <a:r>
              <a:rPr lang="en-US" altLang="en-US" b="1" dirty="0"/>
              <a:t>Ethernet </a:t>
            </a:r>
            <a:r>
              <a:rPr lang="en-US" altLang="en-US" dirty="0"/>
              <a:t>in the 1990s</a:t>
            </a:r>
            <a:r>
              <a:rPr lang="en-US" altLang="en-US" b="1" dirty="0"/>
              <a:t>.</a:t>
            </a:r>
          </a:p>
          <a:p>
            <a:r>
              <a:rPr lang="en-US" altLang="en-US" dirty="0"/>
              <a:t>a LAN protocol which resides at the data link layer (</a:t>
            </a:r>
            <a:r>
              <a:rPr lang="en-US" altLang="en-US" b="1" dirty="0"/>
              <a:t>DLL</a:t>
            </a:r>
            <a:r>
              <a:rPr lang="en-US" altLang="en-US" dirty="0"/>
              <a:t>) of the </a:t>
            </a:r>
            <a:r>
              <a:rPr lang="en-US" altLang="en-US" b="1" dirty="0"/>
              <a:t>OSI</a:t>
            </a:r>
            <a:r>
              <a:rPr lang="en-US" altLang="en-US" dirty="0"/>
              <a:t> model. </a:t>
            </a:r>
          </a:p>
        </p:txBody>
      </p:sp>
      <p:grpSp>
        <p:nvGrpSpPr>
          <p:cNvPr id="57362" name="Group 18"/>
          <p:cNvGrpSpPr>
            <a:grpSpLocks/>
          </p:cNvGrpSpPr>
          <p:nvPr/>
        </p:nvGrpSpPr>
        <p:grpSpPr bwMode="auto">
          <a:xfrm>
            <a:off x="5951538" y="4010026"/>
            <a:ext cx="2735262" cy="2847975"/>
            <a:chOff x="2562" y="2526"/>
            <a:chExt cx="1723" cy="1794"/>
          </a:xfrm>
        </p:grpSpPr>
        <p:sp>
          <p:nvSpPr>
            <p:cNvPr id="57348" name="Oval 4"/>
            <p:cNvSpPr>
              <a:spLocks noChangeArrowheads="1"/>
            </p:cNvSpPr>
            <p:nvPr/>
          </p:nvSpPr>
          <p:spPr bwMode="auto">
            <a:xfrm>
              <a:off x="2864" y="2893"/>
              <a:ext cx="967" cy="981"/>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a:p>
          </p:txBody>
        </p:sp>
        <p:sp>
          <p:nvSpPr>
            <p:cNvPr id="57349" name="Line 5"/>
            <p:cNvSpPr>
              <a:spLocks noChangeShapeType="1"/>
            </p:cNvSpPr>
            <p:nvPr/>
          </p:nvSpPr>
          <p:spPr bwMode="auto">
            <a:xfrm flipV="1">
              <a:off x="3801" y="3170"/>
              <a:ext cx="151" cy="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57350" name="Line 6"/>
            <p:cNvSpPr>
              <a:spLocks noChangeShapeType="1"/>
            </p:cNvSpPr>
            <p:nvPr/>
          </p:nvSpPr>
          <p:spPr bwMode="auto">
            <a:xfrm>
              <a:off x="3801" y="3568"/>
              <a:ext cx="151" cy="3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57351" name="Line 7"/>
            <p:cNvSpPr>
              <a:spLocks noChangeShapeType="1"/>
            </p:cNvSpPr>
            <p:nvPr/>
          </p:nvSpPr>
          <p:spPr bwMode="auto">
            <a:xfrm flipV="1">
              <a:off x="3378" y="3874"/>
              <a:ext cx="1" cy="1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57352" name="Line 8"/>
            <p:cNvSpPr>
              <a:spLocks noChangeShapeType="1"/>
            </p:cNvSpPr>
            <p:nvPr/>
          </p:nvSpPr>
          <p:spPr bwMode="auto">
            <a:xfrm flipV="1">
              <a:off x="2803" y="3599"/>
              <a:ext cx="122" cy="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57353" name="Line 9"/>
            <p:cNvSpPr>
              <a:spLocks noChangeShapeType="1"/>
            </p:cNvSpPr>
            <p:nvPr/>
          </p:nvSpPr>
          <p:spPr bwMode="auto">
            <a:xfrm>
              <a:off x="2834" y="3016"/>
              <a:ext cx="121" cy="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57354" name="Line 10"/>
            <p:cNvSpPr>
              <a:spLocks noChangeShapeType="1"/>
            </p:cNvSpPr>
            <p:nvPr/>
          </p:nvSpPr>
          <p:spPr bwMode="auto">
            <a:xfrm flipV="1">
              <a:off x="3620" y="2833"/>
              <a:ext cx="60" cy="15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en-US"/>
            </a:p>
          </p:txBody>
        </p:sp>
        <p:sp>
          <p:nvSpPr>
            <p:cNvPr id="57355" name="computr4"/>
            <p:cNvSpPr>
              <a:spLocks noEditPoints="1" noChangeArrowheads="1"/>
            </p:cNvSpPr>
            <p:nvPr/>
          </p:nvSpPr>
          <p:spPr bwMode="auto">
            <a:xfrm>
              <a:off x="3952" y="3568"/>
              <a:ext cx="212" cy="245"/>
            </a:xfrm>
            <a:custGeom>
              <a:avLst/>
              <a:gdLst>
                <a:gd name="T0" fmla="*/ 10800 w 21600"/>
                <a:gd name="T1" fmla="*/ 0 h 21600"/>
                <a:gd name="T2" fmla="*/ 21600 w 21600"/>
                <a:gd name="T3" fmla="*/ 10800 h 21600"/>
                <a:gd name="T4" fmla="*/ 10800 w 21600"/>
                <a:gd name="T5" fmla="*/ 21600 h 21600"/>
                <a:gd name="T6" fmla="*/ 0 w 21600"/>
                <a:gd name="T7" fmla="*/ 10800 h 21600"/>
                <a:gd name="T8" fmla="*/ 3509 w 21600"/>
                <a:gd name="T9" fmla="*/ 2414 h 21600"/>
                <a:gd name="T10" fmla="*/ 18090 w 21600"/>
                <a:gd name="T11" fmla="*/ 11028 h 21600"/>
              </a:gdLst>
              <a:ahLst/>
              <a:cxnLst>
                <a:cxn ang="0">
                  <a:pos x="T0" y="T1"/>
                </a:cxn>
                <a:cxn ang="0">
                  <a:pos x="T2" y="T3"/>
                </a:cxn>
                <a:cxn ang="0">
                  <a:pos x="T4" y="T5"/>
                </a:cxn>
                <a:cxn ang="0">
                  <a:pos x="T6" y="T7"/>
                </a:cxn>
              </a:cxnLst>
              <a:rect l="T8" t="T9" r="T10" b="T11"/>
              <a:pathLst>
                <a:path w="21600" h="21600" extrusionOk="0">
                  <a:moveTo>
                    <a:pt x="10800" y="21600"/>
                  </a:moveTo>
                  <a:lnTo>
                    <a:pt x="19872" y="21600"/>
                  </a:lnTo>
                  <a:lnTo>
                    <a:pt x="19872" y="19623"/>
                  </a:lnTo>
                  <a:lnTo>
                    <a:pt x="21600" y="19623"/>
                  </a:lnTo>
                  <a:lnTo>
                    <a:pt x="21600" y="11104"/>
                  </a:lnTo>
                  <a:lnTo>
                    <a:pt x="21600" y="1217"/>
                  </a:lnTo>
                  <a:lnTo>
                    <a:pt x="21600" y="913"/>
                  </a:lnTo>
                  <a:lnTo>
                    <a:pt x="21384" y="761"/>
                  </a:lnTo>
                  <a:lnTo>
                    <a:pt x="21168" y="456"/>
                  </a:lnTo>
                  <a:lnTo>
                    <a:pt x="20952" y="304"/>
                  </a:lnTo>
                  <a:lnTo>
                    <a:pt x="20736" y="152"/>
                  </a:lnTo>
                  <a:lnTo>
                    <a:pt x="20520" y="0"/>
                  </a:lnTo>
                  <a:lnTo>
                    <a:pt x="19872" y="0"/>
                  </a:lnTo>
                  <a:lnTo>
                    <a:pt x="19440" y="0"/>
                  </a:lnTo>
                  <a:lnTo>
                    <a:pt x="10800" y="0"/>
                  </a:lnTo>
                  <a:lnTo>
                    <a:pt x="1944" y="0"/>
                  </a:lnTo>
                  <a:lnTo>
                    <a:pt x="1512" y="0"/>
                  </a:lnTo>
                  <a:lnTo>
                    <a:pt x="1080" y="0"/>
                  </a:lnTo>
                  <a:lnTo>
                    <a:pt x="648" y="152"/>
                  </a:lnTo>
                  <a:lnTo>
                    <a:pt x="432" y="304"/>
                  </a:lnTo>
                  <a:lnTo>
                    <a:pt x="216" y="456"/>
                  </a:lnTo>
                  <a:lnTo>
                    <a:pt x="0" y="761"/>
                  </a:lnTo>
                  <a:lnTo>
                    <a:pt x="0" y="913"/>
                  </a:lnTo>
                  <a:lnTo>
                    <a:pt x="0" y="1217"/>
                  </a:lnTo>
                  <a:lnTo>
                    <a:pt x="0" y="11104"/>
                  </a:lnTo>
                  <a:lnTo>
                    <a:pt x="0" y="19623"/>
                  </a:lnTo>
                  <a:lnTo>
                    <a:pt x="1728" y="19623"/>
                  </a:lnTo>
                  <a:lnTo>
                    <a:pt x="1728" y="21600"/>
                  </a:lnTo>
                  <a:lnTo>
                    <a:pt x="10800" y="21600"/>
                  </a:lnTo>
                  <a:close/>
                </a:path>
                <a:path w="21600" h="21600" extrusionOk="0">
                  <a:moveTo>
                    <a:pt x="17496" y="11256"/>
                  </a:moveTo>
                  <a:lnTo>
                    <a:pt x="17712" y="11256"/>
                  </a:lnTo>
                  <a:lnTo>
                    <a:pt x="17928" y="11256"/>
                  </a:lnTo>
                  <a:lnTo>
                    <a:pt x="17928" y="11104"/>
                  </a:lnTo>
                  <a:lnTo>
                    <a:pt x="18144" y="11104"/>
                  </a:lnTo>
                  <a:lnTo>
                    <a:pt x="18144" y="10952"/>
                  </a:lnTo>
                  <a:lnTo>
                    <a:pt x="18144" y="10800"/>
                  </a:lnTo>
                  <a:lnTo>
                    <a:pt x="18144" y="2586"/>
                  </a:lnTo>
                  <a:lnTo>
                    <a:pt x="18144" y="2434"/>
                  </a:lnTo>
                  <a:lnTo>
                    <a:pt x="18144" y="2282"/>
                  </a:lnTo>
                  <a:lnTo>
                    <a:pt x="17928" y="2130"/>
                  </a:lnTo>
                  <a:lnTo>
                    <a:pt x="17712" y="1977"/>
                  </a:lnTo>
                  <a:lnTo>
                    <a:pt x="17496" y="1977"/>
                  </a:lnTo>
                  <a:lnTo>
                    <a:pt x="3888" y="1977"/>
                  </a:lnTo>
                  <a:lnTo>
                    <a:pt x="3672" y="1977"/>
                  </a:lnTo>
                  <a:lnTo>
                    <a:pt x="3456" y="1977"/>
                  </a:lnTo>
                  <a:lnTo>
                    <a:pt x="3456" y="2130"/>
                  </a:lnTo>
                  <a:lnTo>
                    <a:pt x="3240" y="2130"/>
                  </a:lnTo>
                  <a:lnTo>
                    <a:pt x="3240" y="2282"/>
                  </a:lnTo>
                  <a:lnTo>
                    <a:pt x="3024" y="2282"/>
                  </a:lnTo>
                  <a:lnTo>
                    <a:pt x="3024" y="2434"/>
                  </a:lnTo>
                  <a:lnTo>
                    <a:pt x="3024" y="2586"/>
                  </a:lnTo>
                  <a:lnTo>
                    <a:pt x="3024" y="10800"/>
                  </a:lnTo>
                  <a:lnTo>
                    <a:pt x="3024" y="10952"/>
                  </a:lnTo>
                  <a:lnTo>
                    <a:pt x="3240" y="11104"/>
                  </a:lnTo>
                  <a:lnTo>
                    <a:pt x="3456" y="11256"/>
                  </a:lnTo>
                  <a:lnTo>
                    <a:pt x="3672" y="11256"/>
                  </a:lnTo>
                  <a:lnTo>
                    <a:pt x="3888" y="11256"/>
                  </a:lnTo>
                  <a:lnTo>
                    <a:pt x="17496" y="11256"/>
                  </a:lnTo>
                  <a:moveTo>
                    <a:pt x="2808" y="19623"/>
                  </a:moveTo>
                  <a:lnTo>
                    <a:pt x="2808" y="19927"/>
                  </a:lnTo>
                  <a:lnTo>
                    <a:pt x="2808" y="21144"/>
                  </a:lnTo>
                  <a:lnTo>
                    <a:pt x="2808" y="21600"/>
                  </a:lnTo>
                  <a:lnTo>
                    <a:pt x="2808" y="19623"/>
                  </a:lnTo>
                  <a:moveTo>
                    <a:pt x="4104" y="19623"/>
                  </a:moveTo>
                  <a:lnTo>
                    <a:pt x="4104" y="19927"/>
                  </a:lnTo>
                  <a:lnTo>
                    <a:pt x="4104" y="21144"/>
                  </a:lnTo>
                  <a:lnTo>
                    <a:pt x="4104" y="21600"/>
                  </a:lnTo>
                  <a:lnTo>
                    <a:pt x="4104" y="19623"/>
                  </a:lnTo>
                  <a:moveTo>
                    <a:pt x="5184" y="19623"/>
                  </a:moveTo>
                  <a:lnTo>
                    <a:pt x="5184" y="19927"/>
                  </a:lnTo>
                  <a:lnTo>
                    <a:pt x="5184" y="21144"/>
                  </a:lnTo>
                  <a:lnTo>
                    <a:pt x="5184" y="21600"/>
                  </a:lnTo>
                  <a:lnTo>
                    <a:pt x="5184" y="19623"/>
                  </a:lnTo>
                  <a:moveTo>
                    <a:pt x="6480" y="19623"/>
                  </a:moveTo>
                  <a:lnTo>
                    <a:pt x="6480" y="19927"/>
                  </a:lnTo>
                  <a:lnTo>
                    <a:pt x="6480" y="21144"/>
                  </a:lnTo>
                  <a:lnTo>
                    <a:pt x="6480" y="21600"/>
                  </a:lnTo>
                  <a:lnTo>
                    <a:pt x="6480" y="19623"/>
                  </a:lnTo>
                  <a:moveTo>
                    <a:pt x="7560" y="19623"/>
                  </a:moveTo>
                  <a:lnTo>
                    <a:pt x="7560" y="19927"/>
                  </a:lnTo>
                  <a:lnTo>
                    <a:pt x="7560" y="21144"/>
                  </a:lnTo>
                  <a:lnTo>
                    <a:pt x="7560" y="21600"/>
                  </a:lnTo>
                  <a:lnTo>
                    <a:pt x="7560" y="19623"/>
                  </a:lnTo>
                  <a:moveTo>
                    <a:pt x="8856" y="19623"/>
                  </a:moveTo>
                  <a:lnTo>
                    <a:pt x="8856" y="19927"/>
                  </a:lnTo>
                  <a:lnTo>
                    <a:pt x="8856" y="21144"/>
                  </a:lnTo>
                  <a:lnTo>
                    <a:pt x="8856" y="21600"/>
                  </a:lnTo>
                  <a:lnTo>
                    <a:pt x="8856" y="19623"/>
                  </a:lnTo>
                  <a:moveTo>
                    <a:pt x="10152" y="19623"/>
                  </a:moveTo>
                  <a:lnTo>
                    <a:pt x="10152" y="19927"/>
                  </a:lnTo>
                  <a:lnTo>
                    <a:pt x="10152" y="21144"/>
                  </a:lnTo>
                  <a:lnTo>
                    <a:pt x="10152" y="21600"/>
                  </a:lnTo>
                  <a:lnTo>
                    <a:pt x="10152" y="19623"/>
                  </a:lnTo>
                  <a:moveTo>
                    <a:pt x="11232" y="19623"/>
                  </a:moveTo>
                  <a:lnTo>
                    <a:pt x="11232" y="19927"/>
                  </a:lnTo>
                  <a:lnTo>
                    <a:pt x="11232" y="21144"/>
                  </a:lnTo>
                  <a:lnTo>
                    <a:pt x="11232" y="21600"/>
                  </a:lnTo>
                  <a:lnTo>
                    <a:pt x="11232" y="19623"/>
                  </a:lnTo>
                  <a:moveTo>
                    <a:pt x="12528" y="19623"/>
                  </a:moveTo>
                  <a:lnTo>
                    <a:pt x="12528" y="19927"/>
                  </a:lnTo>
                  <a:lnTo>
                    <a:pt x="12528" y="21144"/>
                  </a:lnTo>
                  <a:lnTo>
                    <a:pt x="12528" y="21600"/>
                  </a:lnTo>
                  <a:lnTo>
                    <a:pt x="12528" y="19623"/>
                  </a:lnTo>
                  <a:moveTo>
                    <a:pt x="13608" y="19623"/>
                  </a:moveTo>
                  <a:lnTo>
                    <a:pt x="13608" y="19927"/>
                  </a:lnTo>
                  <a:lnTo>
                    <a:pt x="13608" y="21144"/>
                  </a:lnTo>
                  <a:lnTo>
                    <a:pt x="13608" y="21600"/>
                  </a:lnTo>
                  <a:lnTo>
                    <a:pt x="13608" y="19623"/>
                  </a:lnTo>
                  <a:moveTo>
                    <a:pt x="14904" y="19623"/>
                  </a:moveTo>
                  <a:lnTo>
                    <a:pt x="14904" y="19927"/>
                  </a:lnTo>
                  <a:lnTo>
                    <a:pt x="14904" y="21144"/>
                  </a:lnTo>
                  <a:lnTo>
                    <a:pt x="14904" y="21600"/>
                  </a:lnTo>
                  <a:lnTo>
                    <a:pt x="14904" y="19623"/>
                  </a:lnTo>
                  <a:moveTo>
                    <a:pt x="16200" y="19623"/>
                  </a:moveTo>
                  <a:lnTo>
                    <a:pt x="16200" y="19927"/>
                  </a:lnTo>
                  <a:lnTo>
                    <a:pt x="16200" y="21144"/>
                  </a:lnTo>
                  <a:lnTo>
                    <a:pt x="16200" y="21600"/>
                  </a:lnTo>
                  <a:lnTo>
                    <a:pt x="16200" y="19623"/>
                  </a:lnTo>
                  <a:moveTo>
                    <a:pt x="17280" y="19623"/>
                  </a:moveTo>
                  <a:lnTo>
                    <a:pt x="17280" y="19927"/>
                  </a:lnTo>
                  <a:lnTo>
                    <a:pt x="17280" y="21144"/>
                  </a:lnTo>
                  <a:lnTo>
                    <a:pt x="17280" y="21600"/>
                  </a:lnTo>
                  <a:lnTo>
                    <a:pt x="17280" y="19623"/>
                  </a:lnTo>
                  <a:moveTo>
                    <a:pt x="18576" y="19623"/>
                  </a:moveTo>
                  <a:lnTo>
                    <a:pt x="18576" y="19927"/>
                  </a:lnTo>
                  <a:lnTo>
                    <a:pt x="18576" y="21144"/>
                  </a:lnTo>
                  <a:lnTo>
                    <a:pt x="18576" y="21600"/>
                  </a:lnTo>
                  <a:lnTo>
                    <a:pt x="18576" y="19623"/>
                  </a:lnTo>
                  <a:moveTo>
                    <a:pt x="19872" y="19623"/>
                  </a:moveTo>
                  <a:lnTo>
                    <a:pt x="16848" y="19623"/>
                  </a:lnTo>
                  <a:lnTo>
                    <a:pt x="5400" y="19623"/>
                  </a:lnTo>
                  <a:lnTo>
                    <a:pt x="1728" y="19623"/>
                  </a:lnTo>
                  <a:lnTo>
                    <a:pt x="19872" y="19623"/>
                  </a:lnTo>
                  <a:moveTo>
                    <a:pt x="12096" y="14146"/>
                  </a:moveTo>
                  <a:lnTo>
                    <a:pt x="12096" y="13386"/>
                  </a:lnTo>
                  <a:lnTo>
                    <a:pt x="19224" y="13386"/>
                  </a:lnTo>
                  <a:lnTo>
                    <a:pt x="19224" y="14146"/>
                  </a:lnTo>
                  <a:lnTo>
                    <a:pt x="12096" y="14146"/>
                  </a:lnTo>
                </a:path>
              </a:pathLst>
            </a:custGeom>
            <a:solidFill>
              <a:srgbClr val="FFFFCC"/>
            </a:solidFill>
            <a:ln w="9525">
              <a:solidFill>
                <a:srgbClr val="000000"/>
              </a:solidFill>
              <a:miter lim="800000"/>
              <a:headEnd/>
              <a:tailEnd/>
            </a:ln>
          </p:spPr>
          <p:txBody>
            <a:bodyPr/>
            <a:lstStyle/>
            <a:p>
              <a:endParaRPr lang="en-US"/>
            </a:p>
          </p:txBody>
        </p:sp>
        <p:sp>
          <p:nvSpPr>
            <p:cNvPr id="57356" name="computr3"/>
            <p:cNvSpPr>
              <a:spLocks noEditPoints="1" noChangeArrowheads="1"/>
            </p:cNvSpPr>
            <p:nvPr/>
          </p:nvSpPr>
          <p:spPr bwMode="auto">
            <a:xfrm>
              <a:off x="3952" y="2955"/>
              <a:ext cx="333" cy="262"/>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57357" name="computr3"/>
            <p:cNvSpPr>
              <a:spLocks noEditPoints="1" noChangeArrowheads="1"/>
            </p:cNvSpPr>
            <p:nvPr/>
          </p:nvSpPr>
          <p:spPr bwMode="auto">
            <a:xfrm>
              <a:off x="3227" y="4058"/>
              <a:ext cx="332" cy="262"/>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57358" name="computr3"/>
            <p:cNvSpPr>
              <a:spLocks noEditPoints="1" noChangeArrowheads="1"/>
            </p:cNvSpPr>
            <p:nvPr/>
          </p:nvSpPr>
          <p:spPr bwMode="auto">
            <a:xfrm>
              <a:off x="2562" y="3690"/>
              <a:ext cx="333" cy="263"/>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57359" name="computr1"/>
            <p:cNvSpPr>
              <a:spLocks noEditPoints="1" noChangeArrowheads="1"/>
            </p:cNvSpPr>
            <p:nvPr/>
          </p:nvSpPr>
          <p:spPr bwMode="auto">
            <a:xfrm>
              <a:off x="2592" y="2740"/>
              <a:ext cx="242" cy="324"/>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a:lstStyle/>
            <a:p>
              <a:endParaRPr lang="en-US"/>
            </a:p>
          </p:txBody>
        </p:sp>
        <p:sp>
          <p:nvSpPr>
            <p:cNvPr id="57360" name="computr1"/>
            <p:cNvSpPr>
              <a:spLocks noEditPoints="1" noChangeArrowheads="1"/>
            </p:cNvSpPr>
            <p:nvPr/>
          </p:nvSpPr>
          <p:spPr bwMode="auto">
            <a:xfrm>
              <a:off x="3680" y="2526"/>
              <a:ext cx="242" cy="324"/>
            </a:xfrm>
            <a:custGeom>
              <a:avLst/>
              <a:gdLst>
                <a:gd name="T0" fmla="*/ 19535 w 21600"/>
                <a:gd name="T1" fmla="*/ 0 h 21600"/>
                <a:gd name="T2" fmla="*/ 10800 w 21600"/>
                <a:gd name="T3" fmla="*/ 0 h 21600"/>
                <a:gd name="T4" fmla="*/ 2065 w 21600"/>
                <a:gd name="T5" fmla="*/ 0 h 21600"/>
                <a:gd name="T6" fmla="*/ 0 w 21600"/>
                <a:gd name="T7" fmla="*/ 15388 h 21600"/>
                <a:gd name="T8" fmla="*/ 0 w 21600"/>
                <a:gd name="T9" fmla="*/ 21600 h 21600"/>
                <a:gd name="T10" fmla="*/ 10800 w 21600"/>
                <a:gd name="T11" fmla="*/ 21600 h 21600"/>
                <a:gd name="T12" fmla="*/ 21600 w 21600"/>
                <a:gd name="T13" fmla="*/ 21600 h 21600"/>
                <a:gd name="T14" fmla="*/ 21600 w 21600"/>
                <a:gd name="T15" fmla="*/ 15388 h 21600"/>
                <a:gd name="T16" fmla="*/ 19535 w 21600"/>
                <a:gd name="T17" fmla="*/ 13553 h 21600"/>
                <a:gd name="T18" fmla="*/ 2065 w 21600"/>
                <a:gd name="T19" fmla="*/ 13553 h 21600"/>
                <a:gd name="T20" fmla="*/ 2065 w 21600"/>
                <a:gd name="T21" fmla="*/ 6776 h 21600"/>
                <a:gd name="T22" fmla="*/ 19535 w 21600"/>
                <a:gd name="T23" fmla="*/ 6776 h 21600"/>
                <a:gd name="T24" fmla="*/ 0 w 21600"/>
                <a:gd name="T25" fmla="*/ 18494 h 21600"/>
                <a:gd name="T26" fmla="*/ 21600 w 21600"/>
                <a:gd name="T27" fmla="*/ 18494 h 21600"/>
                <a:gd name="T28" fmla="*/ 4923 w 21600"/>
                <a:gd name="T29" fmla="*/ 2541 h 21600"/>
                <a:gd name="T30" fmla="*/ 16756 w 21600"/>
                <a:gd name="T31" fmla="*/ 111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T28" t="T29" r="T30" b="T31"/>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a:lstStyle/>
            <a:p>
              <a:endParaRPr lang="en-US"/>
            </a:p>
          </p:txBody>
        </p:sp>
      </p:grpSp>
    </p:spTree>
    <p:extLst>
      <p:ext uri="{BB962C8B-B14F-4D97-AF65-F5344CB8AC3E}">
        <p14:creationId xmlns:p14="http://schemas.microsoft.com/office/powerpoint/2010/main" val="1593681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lvl="0" fontAlgn="base"/>
            <a:r>
              <a:rPr lang="en-IN" b="1" dirty="0"/>
              <a:t>Topology –</a:t>
            </a:r>
            <a:r>
              <a:rPr lang="en-IN" dirty="0"/>
              <a:t> Ring topology</a:t>
            </a:r>
          </a:p>
          <a:p>
            <a:pPr lvl="0" fontAlgn="base"/>
            <a:r>
              <a:rPr lang="en-IN" b="1" dirty="0"/>
              <a:t>Transmission –</a:t>
            </a:r>
            <a:r>
              <a:rPr lang="en-IN" dirty="0"/>
              <a:t> Unidirectional</a:t>
            </a:r>
          </a:p>
          <a:p>
            <a:pPr lvl="0" fontAlgn="base"/>
            <a:r>
              <a:rPr lang="en-IN" b="1" dirty="0"/>
              <a:t>Encoding –</a:t>
            </a:r>
            <a:r>
              <a:rPr lang="en-IN" dirty="0"/>
              <a:t> Differential Manchester encoding</a:t>
            </a:r>
          </a:p>
          <a:p>
            <a:pPr lvl="0" fontAlgn="base"/>
            <a:r>
              <a:rPr lang="en-IN" b="1" dirty="0"/>
              <a:t>Access control –</a:t>
            </a:r>
            <a:r>
              <a:rPr lang="en-IN" dirty="0"/>
              <a:t> Token passing</a:t>
            </a:r>
          </a:p>
          <a:p>
            <a:pPr lvl="0" fontAlgn="base"/>
            <a:r>
              <a:rPr lang="en-IN" b="1" dirty="0"/>
              <a:t>Data rates –</a:t>
            </a:r>
            <a:r>
              <a:rPr lang="en-IN" dirty="0"/>
              <a:t> 4 Mbps, 16 Mbps</a:t>
            </a:r>
          </a:p>
          <a:p>
            <a:pPr lvl="0" fontAlgn="base"/>
            <a:r>
              <a:rPr lang="en-IN" dirty="0"/>
              <a:t>Token ring imposes no lower bound on size of data</a:t>
            </a:r>
          </a:p>
          <a:p>
            <a:endParaRPr lang="en-IN" dirty="0"/>
          </a:p>
        </p:txBody>
      </p:sp>
    </p:spTree>
    <p:extLst>
      <p:ext uri="{BB962C8B-B14F-4D97-AF65-F5344CB8AC3E}">
        <p14:creationId xmlns:p14="http://schemas.microsoft.com/office/powerpoint/2010/main" val="1868892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Sending </a:t>
            </a:r>
            <a:r>
              <a:rPr lang="en-US"/>
              <a:t>and receiving</a:t>
            </a:r>
          </a:p>
        </p:txBody>
      </p:sp>
      <p:pic>
        <p:nvPicPr>
          <p:cNvPr id="4" name="Content Placeholder 3"/>
          <p:cNvPicPr>
            <a:picLocks noGrp="1" noChangeAspect="1"/>
          </p:cNvPicPr>
          <p:nvPr>
            <p:ph idx="1"/>
          </p:nvPr>
        </p:nvPicPr>
        <p:blipFill>
          <a:blip r:embed="rId2"/>
          <a:stretch>
            <a:fillRect/>
          </a:stretch>
        </p:blipFill>
        <p:spPr>
          <a:xfrm>
            <a:off x="1953491" y="2061556"/>
            <a:ext cx="6910347" cy="3732415"/>
          </a:xfrm>
          <a:prstGeom prst="rect">
            <a:avLst/>
          </a:prstGeom>
        </p:spPr>
      </p:pic>
    </p:spTree>
    <p:extLst>
      <p:ext uri="{BB962C8B-B14F-4D97-AF65-F5344CB8AC3E}">
        <p14:creationId xmlns:p14="http://schemas.microsoft.com/office/powerpoint/2010/main" val="1983410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GB" altLang="en-US" dirty="0"/>
              <a:t>Token Ring frame formats</a:t>
            </a:r>
            <a:endParaRPr lang="en-US" altLang="en-US" dirty="0"/>
          </a:p>
        </p:txBody>
      </p:sp>
      <p:graphicFrame>
        <p:nvGraphicFramePr>
          <p:cNvPr id="59555" name="Group 163"/>
          <p:cNvGraphicFramePr>
            <a:graphicFrameLocks noGrp="1"/>
          </p:cNvGraphicFramePr>
          <p:nvPr>
            <p:extLst>
              <p:ext uri="{D42A27DB-BD31-4B8C-83A1-F6EECF244321}">
                <p14:modId xmlns:p14="http://schemas.microsoft.com/office/powerpoint/2010/main" val="1289865175"/>
              </p:ext>
            </p:extLst>
          </p:nvPr>
        </p:nvGraphicFramePr>
        <p:xfrm>
          <a:off x="1582189" y="1696762"/>
          <a:ext cx="9144000" cy="824232"/>
        </p:xfrm>
        <a:graphic>
          <a:graphicData uri="http://schemas.openxmlformats.org/drawingml/2006/table">
            <a:tbl>
              <a:tblPr/>
              <a:tblGrid>
                <a:gridCol w="733425">
                  <a:extLst>
                    <a:ext uri="{9D8B030D-6E8A-4147-A177-3AD203B41FA5}">
                      <a16:colId xmlns:a16="http://schemas.microsoft.com/office/drawing/2014/main" val="2972011124"/>
                    </a:ext>
                  </a:extLst>
                </a:gridCol>
                <a:gridCol w="733425">
                  <a:extLst>
                    <a:ext uri="{9D8B030D-6E8A-4147-A177-3AD203B41FA5}">
                      <a16:colId xmlns:a16="http://schemas.microsoft.com/office/drawing/2014/main" val="2425061001"/>
                    </a:ext>
                  </a:extLst>
                </a:gridCol>
                <a:gridCol w="733425">
                  <a:extLst>
                    <a:ext uri="{9D8B030D-6E8A-4147-A177-3AD203B41FA5}">
                      <a16:colId xmlns:a16="http://schemas.microsoft.com/office/drawing/2014/main" val="2795687683"/>
                    </a:ext>
                  </a:extLst>
                </a:gridCol>
                <a:gridCol w="839788">
                  <a:extLst>
                    <a:ext uri="{9D8B030D-6E8A-4147-A177-3AD203B41FA5}">
                      <a16:colId xmlns:a16="http://schemas.microsoft.com/office/drawing/2014/main" val="1522659871"/>
                    </a:ext>
                  </a:extLst>
                </a:gridCol>
                <a:gridCol w="841375">
                  <a:extLst>
                    <a:ext uri="{9D8B030D-6E8A-4147-A177-3AD203B41FA5}">
                      <a16:colId xmlns:a16="http://schemas.microsoft.com/office/drawing/2014/main" val="105080295"/>
                    </a:ext>
                  </a:extLst>
                </a:gridCol>
                <a:gridCol w="2954337">
                  <a:extLst>
                    <a:ext uri="{9D8B030D-6E8A-4147-A177-3AD203B41FA5}">
                      <a16:colId xmlns:a16="http://schemas.microsoft.com/office/drawing/2014/main" val="4190495257"/>
                    </a:ext>
                  </a:extLst>
                </a:gridCol>
                <a:gridCol w="841375">
                  <a:extLst>
                    <a:ext uri="{9D8B030D-6E8A-4147-A177-3AD203B41FA5}">
                      <a16:colId xmlns:a16="http://schemas.microsoft.com/office/drawing/2014/main" val="2647078275"/>
                    </a:ext>
                  </a:extLst>
                </a:gridCol>
                <a:gridCol w="733425">
                  <a:extLst>
                    <a:ext uri="{9D8B030D-6E8A-4147-A177-3AD203B41FA5}">
                      <a16:colId xmlns:a16="http://schemas.microsoft.com/office/drawing/2014/main" val="669449058"/>
                    </a:ext>
                  </a:extLst>
                </a:gridCol>
                <a:gridCol w="733425">
                  <a:extLst>
                    <a:ext uri="{9D8B030D-6E8A-4147-A177-3AD203B41FA5}">
                      <a16:colId xmlns:a16="http://schemas.microsoft.com/office/drawing/2014/main" val="3942359655"/>
                    </a:ext>
                  </a:extLst>
                </a:gridCol>
              </a:tblGrid>
              <a:tr h="274638">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SD</a:t>
                      </a:r>
                      <a:endPar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AC</a:t>
                      </a:r>
                      <a:endPar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FC</a:t>
                      </a:r>
                      <a:endPar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DA</a:t>
                      </a:r>
                      <a:endPar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SA</a:t>
                      </a:r>
                      <a:endPar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PDU from LLC (IEEE 802.2)</a:t>
                      </a:r>
                      <a:endPar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CRC</a:t>
                      </a:r>
                      <a:endParaRPr kumimoji="0" lang="en-US" altLang="en-US" sz="1400" b="1"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ED</a:t>
                      </a:r>
                      <a:endPar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FS</a:t>
                      </a:r>
                      <a:endPar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349745535"/>
                  </a:ext>
                </a:extLst>
              </a:tr>
              <a:tr h="274638">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8 bits</a:t>
                      </a:r>
                      <a:endPar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8 bits</a:t>
                      </a:r>
                      <a:endPar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8 bits</a:t>
                      </a:r>
                      <a:endPar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48 bits</a:t>
                      </a:r>
                      <a:endPar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48 bits</a:t>
                      </a:r>
                      <a:endParaRPr kumimoji="0" lang="en-US" altLang="en-US" sz="14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up to </a:t>
                      </a:r>
                      <a:r>
                        <a:rPr kumimoji="0" lang="en-US" altLang="en-US" sz="14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18200</a:t>
                      </a:r>
                      <a:r>
                        <a:rPr kumimoji="0" lang="en-US" altLang="en-US" sz="14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x8 bits</a:t>
                      </a:r>
                      <a:endParaRPr kumimoji="0" lang="en-US" altLang="en-US" sz="14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32 bits</a:t>
                      </a:r>
                      <a:endParaRPr kumimoji="0" lang="en-US" altLang="en-US" sz="14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8 bits</a:t>
                      </a:r>
                      <a:endParaRPr kumimoji="0" lang="en-US" altLang="en-US" sz="14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8 bits</a:t>
                      </a:r>
                      <a:endParaRPr kumimoji="0" lang="en-US" altLang="en-US" sz="14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630356199"/>
                  </a:ext>
                </a:extLst>
              </a:tr>
            </a:tbl>
          </a:graphicData>
        </a:graphic>
      </p:graphicFrame>
      <p:graphicFrame>
        <p:nvGraphicFramePr>
          <p:cNvPr id="59631" name="Group 239"/>
          <p:cNvGraphicFramePr>
            <a:graphicFrameLocks noGrp="1"/>
          </p:cNvGraphicFramePr>
          <p:nvPr>
            <p:extLst>
              <p:ext uri="{D42A27DB-BD31-4B8C-83A1-F6EECF244321}">
                <p14:modId xmlns:p14="http://schemas.microsoft.com/office/powerpoint/2010/main" val="641931111"/>
              </p:ext>
            </p:extLst>
          </p:nvPr>
        </p:nvGraphicFramePr>
        <p:xfrm>
          <a:off x="1164590" y="3192436"/>
          <a:ext cx="2484438" cy="549912"/>
        </p:xfrm>
        <a:graphic>
          <a:graphicData uri="http://schemas.openxmlformats.org/drawingml/2006/table">
            <a:tbl>
              <a:tblPr/>
              <a:tblGrid>
                <a:gridCol w="774700">
                  <a:extLst>
                    <a:ext uri="{9D8B030D-6E8A-4147-A177-3AD203B41FA5}">
                      <a16:colId xmlns:a16="http://schemas.microsoft.com/office/drawing/2014/main" val="1968492157"/>
                    </a:ext>
                  </a:extLst>
                </a:gridCol>
                <a:gridCol w="812800">
                  <a:extLst>
                    <a:ext uri="{9D8B030D-6E8A-4147-A177-3AD203B41FA5}">
                      <a16:colId xmlns:a16="http://schemas.microsoft.com/office/drawing/2014/main" val="1157925250"/>
                    </a:ext>
                  </a:extLst>
                </a:gridCol>
                <a:gridCol w="896938">
                  <a:extLst>
                    <a:ext uri="{9D8B030D-6E8A-4147-A177-3AD203B41FA5}">
                      <a16:colId xmlns:a16="http://schemas.microsoft.com/office/drawing/2014/main" val="368299209"/>
                    </a:ext>
                  </a:extLst>
                </a:gridCol>
              </a:tblGrid>
              <a:tr h="274638">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SD</a:t>
                      </a:r>
                      <a:endParaRPr kumimoji="0" lang="en-US" altLang="en-US" sz="18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AC</a:t>
                      </a:r>
                      <a:endParaRPr kumimoji="0" lang="en-US" altLang="en-US" sz="18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ED</a:t>
                      </a:r>
                      <a:endParaRPr kumimoji="0" lang="en-US" altLang="en-US" sz="18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60382196"/>
                  </a:ext>
                </a:extLst>
              </a:tr>
              <a:tr h="274638">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8 bits</a:t>
                      </a:r>
                      <a:endParaRPr kumimoji="0" lang="en-US" altLang="en-US" sz="18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8 bits</a:t>
                      </a:r>
                      <a:endParaRPr kumimoji="0" lang="en-US" altLang="en-US" sz="1800" b="0" i="0" u="none" strike="noStrike" cap="none" normalizeH="0" baseline="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cs typeface="Times New Roman" panose="02020603050405020304" pitchFamily="18" charset="0"/>
                        </a:rPr>
                        <a:t>8 bits</a:t>
                      </a:r>
                      <a:endParaRPr kumimoji="0" lang="en-US" altLang="en-US" sz="1800" b="0" i="0" u="none" strike="noStrike" cap="none" normalizeH="0" baseline="0" dirty="0">
                        <a:ln>
                          <a:noFill/>
                        </a:ln>
                        <a:solidFill>
                          <a:schemeClr val="tx1"/>
                        </a:solidFill>
                        <a:effectLst>
                          <a:outerShdw blurRad="38100" dist="38100" dir="2700000" algn="tl">
                            <a:srgbClr val="000000"/>
                          </a:outerShdw>
                        </a:effectLst>
                        <a:latin typeface="Courier New" panose="02070309020205020404" pitchFamily="49"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47304868"/>
                  </a:ext>
                </a:extLst>
              </a:tr>
            </a:tbl>
          </a:graphicData>
        </a:graphic>
      </p:graphicFrame>
      <p:graphicFrame>
        <p:nvGraphicFramePr>
          <p:cNvPr id="59627" name="Group 235"/>
          <p:cNvGraphicFramePr>
            <a:graphicFrameLocks noGrp="1"/>
          </p:cNvGraphicFramePr>
          <p:nvPr>
            <p:extLst>
              <p:ext uri="{D42A27DB-BD31-4B8C-83A1-F6EECF244321}">
                <p14:modId xmlns:p14="http://schemas.microsoft.com/office/powerpoint/2010/main" val="2653870388"/>
              </p:ext>
            </p:extLst>
          </p:nvPr>
        </p:nvGraphicFramePr>
        <p:xfrm>
          <a:off x="6851651" y="3213100"/>
          <a:ext cx="1038225" cy="732792"/>
        </p:xfrm>
        <a:graphic>
          <a:graphicData uri="http://schemas.openxmlformats.org/drawingml/2006/table">
            <a:tbl>
              <a:tblPr/>
              <a:tblGrid>
                <a:gridCol w="519113">
                  <a:extLst>
                    <a:ext uri="{9D8B030D-6E8A-4147-A177-3AD203B41FA5}">
                      <a16:colId xmlns:a16="http://schemas.microsoft.com/office/drawing/2014/main" val="2127836821"/>
                    </a:ext>
                  </a:extLst>
                </a:gridCol>
                <a:gridCol w="519112">
                  <a:extLst>
                    <a:ext uri="{9D8B030D-6E8A-4147-A177-3AD203B41FA5}">
                      <a16:colId xmlns:a16="http://schemas.microsoft.com/office/drawing/2014/main" val="2580721947"/>
                    </a:ext>
                  </a:extLst>
                </a:gridCol>
              </a:tblGrid>
              <a:tr h="274638">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SD</a:t>
                      </a:r>
                      <a:endParaRPr kumimoji="0" lang="en-US" altLang="en-US" sz="1800" b="0" i="0" u="none" strike="noStrike" cap="none" normalizeH="0" baseline="0" dirty="0">
                        <a:ln>
                          <a:noFill/>
                        </a:ln>
                        <a:solidFill>
                          <a:schemeClr val="tx1"/>
                        </a:solidFill>
                        <a:effectLst>
                          <a:outerShdw blurRad="38100" dist="38100" dir="2700000" algn="tl">
                            <a:srgbClr val="000000"/>
                          </a:outerShdw>
                        </a:effectLst>
                        <a:latin typeface="Tahoma" panose="020B0604030504040204" pitchFamily="34"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ED</a:t>
                      </a:r>
                      <a:endParaRPr kumimoji="0" lang="en-US" altLang="en-US" sz="1800" b="0" i="0" u="none" strike="noStrike" cap="none" normalizeH="0" baseline="0" dirty="0">
                        <a:ln>
                          <a:noFill/>
                        </a:ln>
                        <a:solidFill>
                          <a:schemeClr val="tx1"/>
                        </a:solidFill>
                        <a:effectLst>
                          <a:outerShdw blurRad="38100" dist="38100" dir="2700000" algn="tl">
                            <a:srgbClr val="000000"/>
                          </a:outerShdw>
                        </a:effectLst>
                        <a:latin typeface="Tahoma" panose="020B0604030504040204" pitchFamily="34"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32906896"/>
                  </a:ext>
                </a:extLst>
              </a:tr>
              <a:tr h="228600">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8 bits</a:t>
                      </a:r>
                      <a:endParaRPr kumimoji="0" lang="en-US" altLang="en-US" sz="1800" b="0" i="0" u="none" strike="noStrike" cap="none" normalizeH="0" baseline="0">
                        <a:ln>
                          <a:noFill/>
                        </a:ln>
                        <a:solidFill>
                          <a:schemeClr val="tx1"/>
                        </a:solidFill>
                        <a:effectLst>
                          <a:outerShdw blurRad="38100" dist="38100" dir="2700000" algn="tl">
                            <a:srgbClr val="000000"/>
                          </a:outerShdw>
                        </a:effectLst>
                        <a:latin typeface="Tahoma" panose="020B0604030504040204" pitchFamily="34"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tc>
                  <a:txBody>
                    <a:bodyPr/>
                    <a:lstStyle>
                      <a:lvl1pPr algn="l">
                        <a:buClr>
                          <a:schemeClr val="accent2"/>
                        </a:buClr>
                        <a:buSzPct val="55000"/>
                        <a:buFont typeface="Monotype Sorts" pitchFamily="2" charset="2"/>
                        <a:defRPr sz="2800">
                          <a:solidFill>
                            <a:schemeClr val="tx1"/>
                          </a:solidFill>
                          <a:effectLst>
                            <a:outerShdw blurRad="38100" dist="38100" dir="2700000" algn="tl">
                              <a:srgbClr val="000000"/>
                            </a:outerShdw>
                          </a:effectLst>
                          <a:latin typeface="Tahoma" panose="020B0604030504040204" pitchFamily="34" charset="0"/>
                        </a:defRPr>
                      </a:lvl1pPr>
                      <a:lvl2pPr algn="l">
                        <a:defRPr sz="2400">
                          <a:solidFill>
                            <a:schemeClr val="tx1"/>
                          </a:solidFill>
                          <a:effectLst>
                            <a:outerShdw blurRad="38100" dist="38100" dir="2700000" algn="tl">
                              <a:srgbClr val="000000"/>
                            </a:outerShdw>
                          </a:effectLst>
                          <a:latin typeface="Tahoma" panose="020B0604030504040204" pitchFamily="34" charset="0"/>
                        </a:defRPr>
                      </a:lvl2pPr>
                      <a:lvl3pPr algn="l">
                        <a:buClr>
                          <a:schemeClr val="accent2"/>
                        </a:buClr>
                        <a:buSzPct val="100000"/>
                        <a:defRPr sz="2000">
                          <a:solidFill>
                            <a:schemeClr val="tx1"/>
                          </a:solidFill>
                          <a:effectLst>
                            <a:outerShdw blurRad="38100" dist="38100" dir="2700000" algn="tl">
                              <a:srgbClr val="000000"/>
                            </a:outerShdw>
                          </a:effectLst>
                          <a:latin typeface="Tahoma" panose="020B0604030504040204" pitchFamily="34" charset="0"/>
                        </a:defRPr>
                      </a:lvl3pPr>
                      <a:lvl4pPr algn="l">
                        <a:defRPr>
                          <a:solidFill>
                            <a:schemeClr val="tx1"/>
                          </a:solidFill>
                          <a:effectLst>
                            <a:outerShdw blurRad="38100" dist="38100" dir="2700000" algn="tl">
                              <a:srgbClr val="000000"/>
                            </a:outerShdw>
                          </a:effectLst>
                          <a:latin typeface="Tahoma" panose="020B0604030504040204" pitchFamily="34" charset="0"/>
                        </a:defRPr>
                      </a:lvl4pPr>
                      <a:lvl5pPr algn="l">
                        <a:buClr>
                          <a:schemeClr val="accent2"/>
                        </a:buClr>
                        <a:defRPr>
                          <a:solidFill>
                            <a:schemeClr val="tx1"/>
                          </a:solidFill>
                          <a:effectLst>
                            <a:outerShdw blurRad="38100" dist="38100" dir="2700000" algn="tl">
                              <a:srgbClr val="000000"/>
                            </a:outerShdw>
                          </a:effectLst>
                          <a:latin typeface="Tahoma" panose="020B0604030504040204" pitchFamily="34" charset="0"/>
                        </a:defRPr>
                      </a:lvl5pPr>
                      <a:lvl6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6pPr>
                      <a:lvl7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7pPr>
                      <a:lvl8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8pPr>
                      <a:lvl9pPr eaLnBrk="0" fontAlgn="base" hangingPunct="0">
                        <a:spcBef>
                          <a:spcPct val="20000"/>
                        </a:spcBef>
                        <a:spcAft>
                          <a:spcPct val="0"/>
                        </a:spcAft>
                        <a:buClr>
                          <a:schemeClr val="accent2"/>
                        </a:buClr>
                        <a:defRPr>
                          <a:solidFill>
                            <a:schemeClr val="tx1"/>
                          </a:solidFill>
                          <a:effectLst>
                            <a:outerShdw blurRad="38100" dist="38100" dir="2700000" algn="tl">
                              <a:srgbClr val="000000"/>
                            </a:outerShdw>
                          </a:effectLst>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8 bits</a:t>
                      </a:r>
                      <a:endParaRPr kumimoji="0" lang="en-US" altLang="en-US" sz="1800" b="0" i="0" u="none" strike="noStrike" cap="none" normalizeH="0" baseline="0" dirty="0">
                        <a:ln>
                          <a:noFill/>
                        </a:ln>
                        <a:solidFill>
                          <a:schemeClr val="tx1"/>
                        </a:solidFill>
                        <a:effectLst>
                          <a:outerShdw blurRad="38100" dist="38100" dir="2700000" algn="tl">
                            <a:srgbClr val="000000"/>
                          </a:outerShdw>
                        </a:effectLst>
                        <a:latin typeface="Tahoma" panose="020B0604030504040204" pitchFamily="34" charset="0"/>
                      </a:endParaRPr>
                    </a:p>
                  </a:txBody>
                  <a:tcPr marL="92075" marR="92075" marT="46038" marB="46038"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39035042"/>
                  </a:ext>
                </a:extLst>
              </a:tr>
            </a:tbl>
          </a:graphicData>
        </a:graphic>
      </p:graphicFrame>
      <p:sp>
        <p:nvSpPr>
          <p:cNvPr id="59624" name="Text Box 232"/>
          <p:cNvSpPr txBox="1">
            <a:spLocks noChangeArrowheads="1"/>
          </p:cNvSpPr>
          <p:nvPr/>
        </p:nvSpPr>
        <p:spPr bwMode="auto">
          <a:xfrm>
            <a:off x="3534020" y="1295081"/>
            <a:ext cx="5240338"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spcBef>
                <a:spcPct val="50000"/>
              </a:spcBef>
              <a:buFontTx/>
              <a:buNone/>
            </a:pPr>
            <a:r>
              <a:rPr lang="en-GB" altLang="en-US" b="1" dirty="0">
                <a:latin typeface="Arial" panose="020B0604020202020204" pitchFamily="34" charset="0"/>
              </a:rPr>
              <a:t>Data or command frame</a:t>
            </a:r>
            <a:endParaRPr lang="en-US" altLang="en-US" b="1" dirty="0">
              <a:latin typeface="Arial" panose="020B0604020202020204" pitchFamily="34" charset="0"/>
            </a:endParaRPr>
          </a:p>
        </p:txBody>
      </p:sp>
      <p:sp>
        <p:nvSpPr>
          <p:cNvPr id="59625" name="Text Box 233"/>
          <p:cNvSpPr txBox="1">
            <a:spLocks noChangeArrowheads="1"/>
          </p:cNvSpPr>
          <p:nvPr/>
        </p:nvSpPr>
        <p:spPr bwMode="auto">
          <a:xfrm>
            <a:off x="1740852" y="2765368"/>
            <a:ext cx="1331913"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spcBef>
                <a:spcPct val="50000"/>
              </a:spcBef>
              <a:buFontTx/>
              <a:buNone/>
            </a:pPr>
            <a:r>
              <a:rPr lang="en-GB" altLang="en-US" b="1" dirty="0">
                <a:latin typeface="Arial" panose="020B0604020202020204" pitchFamily="34" charset="0"/>
              </a:rPr>
              <a:t>Token</a:t>
            </a:r>
            <a:endParaRPr lang="en-US" altLang="en-US" b="1" dirty="0">
              <a:latin typeface="Arial" panose="020B0604020202020204" pitchFamily="34" charset="0"/>
            </a:endParaRPr>
          </a:p>
        </p:txBody>
      </p:sp>
      <p:sp>
        <p:nvSpPr>
          <p:cNvPr id="59626" name="Text Box 234"/>
          <p:cNvSpPr txBox="1">
            <a:spLocks noChangeArrowheads="1"/>
          </p:cNvSpPr>
          <p:nvPr/>
        </p:nvSpPr>
        <p:spPr bwMode="auto">
          <a:xfrm>
            <a:off x="6562726" y="2708275"/>
            <a:ext cx="244792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spcBef>
                <a:spcPct val="50000"/>
              </a:spcBef>
              <a:buFontTx/>
              <a:buNone/>
            </a:pPr>
            <a:r>
              <a:rPr lang="en-GB" altLang="en-US" b="1">
                <a:latin typeface="Arial" panose="020B0604020202020204" pitchFamily="34" charset="0"/>
              </a:rPr>
              <a:t>Abort frame</a:t>
            </a:r>
            <a:endParaRPr lang="en-US" altLang="en-US" b="1">
              <a:latin typeface="Arial" panose="020B0604020202020204" pitchFamily="34" charset="0"/>
            </a:endParaRPr>
          </a:p>
        </p:txBody>
      </p:sp>
      <p:sp>
        <p:nvSpPr>
          <p:cNvPr id="59632" name="Text Box 240"/>
          <p:cNvSpPr txBox="1">
            <a:spLocks noChangeArrowheads="1"/>
          </p:cNvSpPr>
          <p:nvPr/>
        </p:nvSpPr>
        <p:spPr bwMode="auto">
          <a:xfrm>
            <a:off x="731838" y="3856536"/>
            <a:ext cx="5111750" cy="327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spcBef>
                <a:spcPct val="50000"/>
              </a:spcBef>
              <a:buFontTx/>
              <a:buNone/>
            </a:pPr>
            <a:r>
              <a:rPr lang="en-US" altLang="en-US" b="1" dirty="0"/>
              <a:t>SD</a:t>
            </a:r>
            <a:r>
              <a:rPr lang="en-US" altLang="en-US" dirty="0"/>
              <a:t>: Starting delimiter   J K 0J K 0 0  J, K are non data symbols, Line codes</a:t>
            </a:r>
          </a:p>
          <a:p>
            <a:pPr algn="l">
              <a:spcBef>
                <a:spcPct val="50000"/>
              </a:spcBef>
              <a:buFontTx/>
              <a:buNone/>
            </a:pPr>
            <a:r>
              <a:rPr lang="en-GB" altLang="en-US" b="1" dirty="0"/>
              <a:t>AC</a:t>
            </a:r>
            <a:r>
              <a:rPr lang="en-GB" altLang="en-US" dirty="0"/>
              <a:t>: Access control  PPPTMRRR  P- Priority, T- Token bit, M- Monitor bit, R – Reservation bit</a:t>
            </a:r>
          </a:p>
          <a:p>
            <a:pPr algn="l">
              <a:spcBef>
                <a:spcPct val="50000"/>
              </a:spcBef>
              <a:buFontTx/>
              <a:buNone/>
            </a:pPr>
            <a:r>
              <a:rPr lang="en-GB" altLang="en-US" b="1" dirty="0"/>
              <a:t>FC</a:t>
            </a:r>
            <a:r>
              <a:rPr lang="en-GB" altLang="en-US" dirty="0"/>
              <a:t>: Frame control  FF ZZZ </a:t>
            </a:r>
            <a:r>
              <a:rPr lang="en-GB" altLang="en-US" dirty="0" err="1"/>
              <a:t>ZZZ</a:t>
            </a:r>
            <a:r>
              <a:rPr lang="en-GB" altLang="en-US" dirty="0"/>
              <a:t>   FF – frame Type , Z – control bits</a:t>
            </a:r>
          </a:p>
          <a:p>
            <a:pPr algn="l">
              <a:spcBef>
                <a:spcPct val="50000"/>
              </a:spcBef>
              <a:buFontTx/>
              <a:buNone/>
            </a:pPr>
            <a:r>
              <a:rPr lang="en-GB" altLang="en-US" b="1" dirty="0"/>
              <a:t>DA</a:t>
            </a:r>
            <a:r>
              <a:rPr lang="en-GB" altLang="en-US" dirty="0"/>
              <a:t>: Destination address</a:t>
            </a:r>
          </a:p>
          <a:p>
            <a:pPr algn="l">
              <a:spcBef>
                <a:spcPct val="50000"/>
              </a:spcBef>
              <a:buFontTx/>
              <a:buNone/>
            </a:pPr>
            <a:r>
              <a:rPr lang="en-GB" altLang="en-US" b="1" dirty="0"/>
              <a:t>SA</a:t>
            </a:r>
            <a:r>
              <a:rPr lang="en-GB" altLang="en-US" dirty="0"/>
              <a:t>: Source address</a:t>
            </a:r>
          </a:p>
          <a:p>
            <a:pPr algn="l">
              <a:spcBef>
                <a:spcPct val="50000"/>
              </a:spcBef>
              <a:buFontTx/>
              <a:buNone/>
            </a:pPr>
            <a:endParaRPr lang="en-US" altLang="en-US" dirty="0"/>
          </a:p>
        </p:txBody>
      </p:sp>
      <p:sp>
        <p:nvSpPr>
          <p:cNvPr id="59633" name="Text Box 241"/>
          <p:cNvSpPr txBox="1">
            <a:spLocks noChangeArrowheads="1"/>
          </p:cNvSpPr>
          <p:nvPr/>
        </p:nvSpPr>
        <p:spPr bwMode="auto">
          <a:xfrm>
            <a:off x="6806212" y="4272034"/>
            <a:ext cx="4408878" cy="2447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l">
              <a:buFontTx/>
              <a:buNone/>
            </a:pPr>
            <a:r>
              <a:rPr lang="en-GB" altLang="en-US" b="1" dirty="0"/>
              <a:t>PDU</a:t>
            </a:r>
            <a:r>
              <a:rPr lang="en-GB" altLang="en-US" dirty="0"/>
              <a:t>: data </a:t>
            </a:r>
          </a:p>
          <a:p>
            <a:pPr algn="l">
              <a:buFontTx/>
              <a:buNone/>
            </a:pPr>
            <a:r>
              <a:rPr lang="en-GB" altLang="en-US" b="1" dirty="0"/>
              <a:t>CRC</a:t>
            </a:r>
            <a:r>
              <a:rPr lang="en-GB" altLang="en-US" dirty="0"/>
              <a:t>: check sum</a:t>
            </a:r>
          </a:p>
          <a:p>
            <a:pPr algn="l">
              <a:buFontTx/>
              <a:buNone/>
            </a:pPr>
            <a:r>
              <a:rPr lang="en-GB" altLang="en-US" b="1" dirty="0"/>
              <a:t>ED</a:t>
            </a:r>
            <a:r>
              <a:rPr lang="en-GB" altLang="en-US" dirty="0"/>
              <a:t>: End delimiter   JK1JK1 IE I Intermediate frame bit, E – Error detection bit</a:t>
            </a:r>
          </a:p>
          <a:p>
            <a:pPr algn="l">
              <a:buFontTx/>
              <a:buNone/>
            </a:pPr>
            <a:r>
              <a:rPr lang="en-GB" altLang="en-US" b="1" dirty="0"/>
              <a:t>FS</a:t>
            </a:r>
            <a:r>
              <a:rPr lang="en-GB" altLang="en-US" dirty="0"/>
              <a:t>: Frame status   A C xx AC xx , A Address recognized bit, C frame copied, xx undefined bit</a:t>
            </a:r>
          </a:p>
          <a:p>
            <a:pPr>
              <a:spcBef>
                <a:spcPct val="50000"/>
              </a:spcBef>
              <a:buFontTx/>
              <a:buNone/>
            </a:pPr>
            <a:endParaRPr lang="en-US" altLang="en-US" dirty="0"/>
          </a:p>
        </p:txBody>
      </p:sp>
    </p:spTree>
    <p:extLst>
      <p:ext uri="{BB962C8B-B14F-4D97-AF65-F5344CB8AC3E}">
        <p14:creationId xmlns:p14="http://schemas.microsoft.com/office/powerpoint/2010/main" val="20773728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Frame Status contains confirmation bits A and C.</a:t>
            </a:r>
          </a:p>
          <a:p>
            <a:r>
              <a:rPr lang="en-IN" dirty="0"/>
              <a:t>If a frame arrives at the station with the destination address, bit A is set.</a:t>
            </a:r>
          </a:p>
          <a:p>
            <a:r>
              <a:rPr lang="en-IN" dirty="0"/>
              <a:t>If the station processes the frame, then bit C also is set. When the sending station gets the frame back, it can see whether the receiving station is not working ( A=0, C=0). If the frame was not accepted (A=1, C=0) or whether the frame was received correctly (A=1, C =1).</a:t>
            </a:r>
          </a:p>
          <a:p>
            <a:r>
              <a:rPr lang="en-IN" dirty="0"/>
              <a:t>To protect against bit errors, both bits are doubly present.</a:t>
            </a:r>
          </a:p>
          <a:p>
            <a:r>
              <a:rPr lang="en-IN" dirty="0"/>
              <a:t>The addresses and the checksum are identical to Ethernet.</a:t>
            </a:r>
          </a:p>
          <a:p>
            <a:endParaRPr lang="en-IN" dirty="0"/>
          </a:p>
        </p:txBody>
      </p:sp>
    </p:spTree>
    <p:extLst>
      <p:ext uri="{BB962C8B-B14F-4D97-AF65-F5344CB8AC3E}">
        <p14:creationId xmlns:p14="http://schemas.microsoft.com/office/powerpoint/2010/main" val="381416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56"/>
            <a:ext cx="10515600" cy="1325563"/>
          </a:xfrm>
        </p:spPr>
        <p:txBody>
          <a:bodyPr/>
          <a:lstStyle/>
          <a:p>
            <a:endParaRPr lang="en-IN" dirty="0"/>
          </a:p>
        </p:txBody>
      </p:sp>
      <p:sp>
        <p:nvSpPr>
          <p:cNvPr id="3" name="Content Placeholder 2"/>
          <p:cNvSpPr>
            <a:spLocks noGrp="1"/>
          </p:cNvSpPr>
          <p:nvPr>
            <p:ph idx="1"/>
          </p:nvPr>
        </p:nvSpPr>
        <p:spPr>
          <a:xfrm>
            <a:off x="938868" y="1540399"/>
            <a:ext cx="5910943" cy="4351338"/>
          </a:xfrm>
        </p:spPr>
        <p:txBody>
          <a:bodyPr>
            <a:noAutofit/>
          </a:bodyPr>
          <a:lstStyle/>
          <a:p>
            <a:pPr marL="0" indent="0">
              <a:buNone/>
            </a:pPr>
            <a:r>
              <a:rPr lang="en-IN" sz="1800" dirty="0"/>
              <a:t>Bits of access control:</a:t>
            </a:r>
          </a:p>
          <a:p>
            <a:r>
              <a:rPr lang="en-IN" sz="1800" dirty="0"/>
              <a:t>The priority bits make possible several priorities. They indicate the priority of the token. If a station wants to send with priority n, it must wait for a token of priority n or higher.</a:t>
            </a:r>
          </a:p>
          <a:p>
            <a:r>
              <a:rPr lang="en-IN" sz="1800" dirty="0">
                <a:ea typeface="Times New Roman" panose="02020603050405020304" pitchFamily="18" charset="0"/>
                <a:cs typeface="Times New Roman" panose="02020603050405020304" pitchFamily="18" charset="0"/>
              </a:rPr>
              <a:t>Token bit is used to indicate presence of token frame. If token bit = 1 –&gt; token frame and if token bit = 0 –&gt; not a token frame.</a:t>
            </a:r>
            <a:endParaRPr lang="en-IN" sz="1800" dirty="0">
              <a:ea typeface="Calibri" panose="020F0502020204030204" pitchFamily="34" charset="0"/>
              <a:cs typeface="Times New Roman" panose="02020603050405020304" pitchFamily="18" charset="0"/>
            </a:endParaRPr>
          </a:p>
          <a:p>
            <a:r>
              <a:rPr lang="en-IN" sz="1800" dirty="0"/>
              <a:t>The monitor bit serves for recognition of a second frame circulation</a:t>
            </a:r>
            <a:r>
              <a:rPr lang="en-IN" sz="1800" dirty="0">
                <a:latin typeface="Arial" panose="020B0604020202020204" pitchFamily="34" charset="0"/>
                <a:ea typeface="Times New Roman" panose="02020603050405020304" pitchFamily="18" charset="0"/>
                <a:cs typeface="Times New Roman" panose="02020603050405020304" pitchFamily="18" charset="0"/>
              </a:rPr>
              <a:t> i.e. helps in solving orphan packet problem. </a:t>
            </a:r>
            <a:endParaRPr lang="en-IN" sz="1800" dirty="0"/>
          </a:p>
          <a:p>
            <a:r>
              <a:rPr lang="en-IN" sz="1800" dirty="0"/>
              <a:t>The reservation bits permit a station to reserve the next frame for itself. If a station wants to do this, it registers its priority into reservation bits. This is only possible if not already a higher priority is registered. During the next token generation, the priority is copied into the priority bits</a:t>
            </a:r>
          </a:p>
          <a:p>
            <a:endParaRPr lang="en-IN" sz="1600" dirty="0"/>
          </a:p>
        </p:txBody>
      </p:sp>
      <p:pic>
        <p:nvPicPr>
          <p:cNvPr id="4" name="Picture 3" descr="https://media.geeksforgeeks.org/wp-content/uploads/tok.png"/>
          <p:cNvPicPr/>
          <p:nvPr/>
        </p:nvPicPr>
        <p:blipFill>
          <a:blip r:embed="rId2">
            <a:extLst>
              <a:ext uri="{28A0092B-C50C-407E-A947-70E740481C1C}">
                <a14:useLocalDpi xmlns:a14="http://schemas.microsoft.com/office/drawing/2010/main" val="0"/>
              </a:ext>
            </a:extLst>
          </a:blip>
          <a:srcRect/>
          <a:stretch>
            <a:fillRect/>
          </a:stretch>
        </p:blipFill>
        <p:spPr bwMode="auto">
          <a:xfrm>
            <a:off x="7394665" y="2535633"/>
            <a:ext cx="3063240" cy="2103120"/>
          </a:xfrm>
          <a:prstGeom prst="rect">
            <a:avLst/>
          </a:prstGeom>
          <a:noFill/>
          <a:ln>
            <a:noFill/>
          </a:ln>
        </p:spPr>
      </p:pic>
    </p:spTree>
    <p:extLst>
      <p:ext uri="{BB962C8B-B14F-4D97-AF65-F5344CB8AC3E}">
        <p14:creationId xmlns:p14="http://schemas.microsoft.com/office/powerpoint/2010/main" val="33855011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GB" altLang="en-US" dirty="0"/>
              <a:t>Token Ring operation</a:t>
            </a:r>
            <a:endParaRPr lang="en-US" altLang="en-US" dirty="0"/>
          </a:p>
        </p:txBody>
      </p:sp>
      <p:sp>
        <p:nvSpPr>
          <p:cNvPr id="61443" name="Rectangle 3"/>
          <p:cNvSpPr>
            <a:spLocks noGrp="1" noChangeArrowheads="1"/>
          </p:cNvSpPr>
          <p:nvPr>
            <p:ph idx="1"/>
          </p:nvPr>
        </p:nvSpPr>
        <p:spPr/>
        <p:txBody>
          <a:bodyPr/>
          <a:lstStyle/>
          <a:p>
            <a:pPr>
              <a:lnSpc>
                <a:spcPct val="90000"/>
              </a:lnSpc>
            </a:pPr>
            <a:r>
              <a:rPr lang="en-US" altLang="en-US" dirty="0"/>
              <a:t>When nobody is transmitting a token circles.</a:t>
            </a:r>
          </a:p>
          <a:p>
            <a:pPr>
              <a:lnSpc>
                <a:spcPct val="90000"/>
              </a:lnSpc>
            </a:pPr>
            <a:r>
              <a:rPr lang="en-US" altLang="en-US" dirty="0"/>
              <a:t>When a station needs to transmit data, it converts the token into a data frame.</a:t>
            </a:r>
          </a:p>
          <a:p>
            <a:pPr>
              <a:lnSpc>
                <a:spcPct val="90000"/>
              </a:lnSpc>
            </a:pPr>
            <a:r>
              <a:rPr lang="en-US" altLang="en-US" dirty="0"/>
              <a:t>When the sender receives its own data frame, it converts the frame back into a token.</a:t>
            </a:r>
          </a:p>
          <a:p>
            <a:pPr>
              <a:lnSpc>
                <a:spcPct val="90000"/>
              </a:lnSpc>
            </a:pPr>
            <a:r>
              <a:rPr lang="en-US" altLang="en-US" dirty="0"/>
              <a:t>If an error occurs and no token frame, or more than one, is present, a special station (“Active Monitor”) detects the problem and removes and/or reinserts tokens as necessary.</a:t>
            </a:r>
          </a:p>
          <a:p>
            <a:pPr>
              <a:lnSpc>
                <a:spcPct val="90000"/>
              </a:lnSpc>
            </a:pPr>
            <a:r>
              <a:rPr lang="en-US" altLang="en-US" dirty="0"/>
              <a:t>The Abort frame: used to abort transmission by the sending station.</a:t>
            </a:r>
          </a:p>
          <a:p>
            <a:pPr>
              <a:lnSpc>
                <a:spcPct val="90000"/>
              </a:lnSpc>
            </a:pPr>
            <a:endParaRPr lang="en-US" altLang="en-US" dirty="0"/>
          </a:p>
        </p:txBody>
      </p:sp>
    </p:spTree>
    <p:extLst>
      <p:ext uri="{BB962C8B-B14F-4D97-AF65-F5344CB8AC3E}">
        <p14:creationId xmlns:p14="http://schemas.microsoft.com/office/powerpoint/2010/main" val="27704108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GB" altLang="en-US" dirty="0"/>
              <a:t>Active and Standby monitors</a:t>
            </a:r>
            <a:endParaRPr lang="en-US" altLang="en-US" dirty="0"/>
          </a:p>
        </p:txBody>
      </p:sp>
      <p:sp>
        <p:nvSpPr>
          <p:cNvPr id="62467" name="Rectangle 3"/>
          <p:cNvSpPr>
            <a:spLocks noGrp="1" noChangeArrowheads="1"/>
          </p:cNvSpPr>
          <p:nvPr>
            <p:ph idx="1"/>
          </p:nvPr>
        </p:nvSpPr>
        <p:spPr/>
        <p:txBody>
          <a:bodyPr>
            <a:normAutofit/>
          </a:bodyPr>
          <a:lstStyle/>
          <a:p>
            <a:pPr>
              <a:lnSpc>
                <a:spcPct val="80000"/>
              </a:lnSpc>
            </a:pPr>
            <a:r>
              <a:rPr lang="en-US" altLang="en-US" sz="2000" dirty="0"/>
              <a:t>Every station in a token ring network is either an </a:t>
            </a:r>
            <a:r>
              <a:rPr lang="en-US" altLang="en-US" sz="2000" b="1" dirty="0"/>
              <a:t>Active monitor</a:t>
            </a:r>
            <a:r>
              <a:rPr lang="en-US" altLang="en-US" sz="2000" dirty="0"/>
              <a:t> (AM) or </a:t>
            </a:r>
            <a:r>
              <a:rPr lang="en-US" altLang="en-US" sz="2000" b="1" dirty="0"/>
              <a:t>Standby monitor</a:t>
            </a:r>
            <a:r>
              <a:rPr lang="en-US" altLang="en-US" sz="2000" dirty="0"/>
              <a:t> (SM) station. There can be only one active monitor on a ring at a time. The active monitor is chosen through an election or monitor contention process. </a:t>
            </a:r>
          </a:p>
          <a:p>
            <a:pPr>
              <a:lnSpc>
                <a:spcPct val="80000"/>
              </a:lnSpc>
            </a:pPr>
            <a:r>
              <a:rPr lang="en-US" altLang="en-US" sz="2000" dirty="0"/>
              <a:t>The monitor contention process is initiated when</a:t>
            </a:r>
          </a:p>
          <a:p>
            <a:pPr marL="457200" lvl="1" indent="0">
              <a:lnSpc>
                <a:spcPct val="80000"/>
              </a:lnSpc>
              <a:buClr>
                <a:srgbClr val="FFFF00"/>
              </a:buClr>
              <a:buSzPct val="60000"/>
              <a:buNone/>
            </a:pPr>
            <a:r>
              <a:rPr lang="en-US" altLang="en-US" sz="1800" dirty="0"/>
              <a:t>A loss of signal on the ring is detected, </a:t>
            </a:r>
          </a:p>
          <a:p>
            <a:pPr marL="457200" lvl="1" indent="0">
              <a:lnSpc>
                <a:spcPct val="80000"/>
              </a:lnSpc>
              <a:buClr>
                <a:srgbClr val="FFFF00"/>
              </a:buClr>
              <a:buSzPct val="60000"/>
              <a:buNone/>
            </a:pPr>
            <a:r>
              <a:rPr lang="en-US" altLang="en-US" sz="1800" dirty="0"/>
              <a:t>An </a:t>
            </a:r>
            <a:r>
              <a:rPr lang="en-US" altLang="en-US" sz="1800" b="1" dirty="0"/>
              <a:t>AM</a:t>
            </a:r>
            <a:r>
              <a:rPr lang="en-US" altLang="en-US" sz="1800" dirty="0"/>
              <a:t> station is not detected by other stations, or </a:t>
            </a:r>
          </a:p>
          <a:p>
            <a:pPr marL="457200" lvl="1" indent="0">
              <a:lnSpc>
                <a:spcPct val="80000"/>
              </a:lnSpc>
              <a:buClr>
                <a:srgbClr val="FFFF00"/>
              </a:buClr>
              <a:buSzPct val="60000"/>
              <a:buNone/>
            </a:pPr>
            <a:r>
              <a:rPr lang="en-US" altLang="en-US" sz="1800" dirty="0"/>
              <a:t>When a timer on an end station expires (the station hasn't seen a token in the past 7 seconds). </a:t>
            </a:r>
          </a:p>
          <a:p>
            <a:pPr>
              <a:lnSpc>
                <a:spcPct val="80000"/>
              </a:lnSpc>
            </a:pPr>
            <a:r>
              <a:rPr lang="en-US" altLang="en-US" sz="2000" dirty="0"/>
              <a:t>When any of the above conditions take place and a station decides that a new </a:t>
            </a:r>
            <a:r>
              <a:rPr lang="en-US" altLang="en-US" sz="2000" b="1" dirty="0"/>
              <a:t>AM</a:t>
            </a:r>
            <a:r>
              <a:rPr lang="en-US" altLang="en-US" sz="2000" dirty="0"/>
              <a:t> is needed.</a:t>
            </a:r>
          </a:p>
          <a:p>
            <a:pPr>
              <a:lnSpc>
                <a:spcPct val="80000"/>
              </a:lnSpc>
            </a:pPr>
            <a:r>
              <a:rPr lang="en-US" altLang="en-US" sz="2000" dirty="0"/>
              <a:t>The </a:t>
            </a:r>
            <a:r>
              <a:rPr lang="en-US" altLang="en-US" sz="2000" b="1" dirty="0"/>
              <a:t>AM</a:t>
            </a:r>
            <a:r>
              <a:rPr lang="en-US" altLang="en-US" sz="2000" dirty="0"/>
              <a:t> performs a number of ring management functions and roles:</a:t>
            </a:r>
          </a:p>
          <a:p>
            <a:pPr marL="457200" lvl="1" indent="0">
              <a:lnSpc>
                <a:spcPct val="80000"/>
              </a:lnSpc>
              <a:buClr>
                <a:srgbClr val="FFFF00"/>
              </a:buClr>
              <a:buSzPct val="80000"/>
              <a:buNone/>
            </a:pPr>
            <a:r>
              <a:rPr lang="en-US" altLang="en-US" sz="1800" dirty="0"/>
              <a:t>Master clock for the ring, synchronization. </a:t>
            </a:r>
          </a:p>
          <a:p>
            <a:pPr marL="457200" lvl="1" indent="0">
              <a:lnSpc>
                <a:spcPct val="80000"/>
              </a:lnSpc>
              <a:buClr>
                <a:srgbClr val="FFFF00"/>
              </a:buClr>
              <a:buSzPct val="80000"/>
              <a:buNone/>
            </a:pPr>
            <a:r>
              <a:rPr lang="en-US" altLang="en-US" sz="1800" dirty="0"/>
              <a:t>Inserts a 24-bit delay into the ring for sufficient buffering.</a:t>
            </a:r>
          </a:p>
          <a:p>
            <a:pPr marL="457200" lvl="1" indent="0">
              <a:lnSpc>
                <a:spcPct val="80000"/>
              </a:lnSpc>
              <a:buClr>
                <a:srgbClr val="FFFF00"/>
              </a:buClr>
              <a:buSzPct val="80000"/>
              <a:buNone/>
            </a:pPr>
            <a:r>
              <a:rPr lang="en-US" altLang="en-US" sz="1800" dirty="0"/>
              <a:t>To support exactly one token and there is no frame being transmitted.</a:t>
            </a:r>
          </a:p>
          <a:p>
            <a:pPr marL="457200" lvl="1" indent="0">
              <a:lnSpc>
                <a:spcPct val="80000"/>
              </a:lnSpc>
              <a:buClr>
                <a:srgbClr val="FFFF00"/>
              </a:buClr>
              <a:buSzPct val="80000"/>
              <a:buNone/>
            </a:pPr>
            <a:r>
              <a:rPr lang="en-US" altLang="en-US" sz="1800" dirty="0"/>
              <a:t>Detects a broken ring.</a:t>
            </a:r>
          </a:p>
          <a:p>
            <a:pPr marL="457200" lvl="1" indent="0">
              <a:lnSpc>
                <a:spcPct val="80000"/>
              </a:lnSpc>
              <a:buClr>
                <a:srgbClr val="FFFF00"/>
              </a:buClr>
              <a:buSzPct val="80000"/>
              <a:buNone/>
            </a:pPr>
            <a:r>
              <a:rPr lang="en-US" altLang="en-US" sz="1800" dirty="0"/>
              <a:t>Removes circulating frames from the ring.</a:t>
            </a:r>
          </a:p>
          <a:p>
            <a:pPr marL="0" indent="0">
              <a:lnSpc>
                <a:spcPct val="80000"/>
              </a:lnSpc>
              <a:buNone/>
            </a:pPr>
            <a:endParaRPr lang="en-US" altLang="en-US" sz="2000" dirty="0"/>
          </a:p>
          <a:p>
            <a:pPr>
              <a:lnSpc>
                <a:spcPct val="80000"/>
              </a:lnSpc>
            </a:pPr>
            <a:endParaRPr lang="en-US" altLang="en-US" sz="2000" dirty="0"/>
          </a:p>
        </p:txBody>
      </p:sp>
    </p:spTree>
    <p:extLst>
      <p:ext uri="{BB962C8B-B14F-4D97-AF65-F5344CB8AC3E}">
        <p14:creationId xmlns:p14="http://schemas.microsoft.com/office/powerpoint/2010/main" val="20267820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Ring Maintenance</a:t>
            </a:r>
            <a:endParaRPr lang="en-IN" dirty="0"/>
          </a:p>
        </p:txBody>
      </p:sp>
      <p:sp>
        <p:nvSpPr>
          <p:cNvPr id="3" name="Content Placeholder 2"/>
          <p:cNvSpPr>
            <a:spLocks noGrp="1"/>
          </p:cNvSpPr>
          <p:nvPr>
            <p:ph idx="1"/>
          </p:nvPr>
        </p:nvSpPr>
        <p:spPr/>
        <p:txBody>
          <a:bodyPr>
            <a:normAutofit fontScale="85000" lnSpcReduction="20000"/>
          </a:bodyPr>
          <a:lstStyle/>
          <a:p>
            <a:r>
              <a:rPr lang="en-IN" dirty="0"/>
              <a:t>To check the correct function of the ring, a monitor station is introduced. </a:t>
            </a:r>
          </a:p>
          <a:p>
            <a:r>
              <a:rPr lang="en-IN" dirty="0"/>
              <a:t>If this station crashes, another station is raised as another station is raised as monitor station.</a:t>
            </a:r>
          </a:p>
          <a:p>
            <a:r>
              <a:rPr lang="en-IN" dirty="0"/>
              <a:t>If a station recognizes that the monitor is inactive, this station sends a CLAIM_TOKEN. This can be done by several stations simultaneously.</a:t>
            </a:r>
          </a:p>
          <a:p>
            <a:pPr lvl="1"/>
            <a:r>
              <a:rPr lang="en-IN" dirty="0"/>
              <a:t>If such a message arrives with a smaller ID then suppress it.</a:t>
            </a:r>
          </a:p>
          <a:p>
            <a:pPr lvl="1"/>
            <a:r>
              <a:rPr lang="en-IN" dirty="0"/>
              <a:t>If a message arrives with a Larger ID then pass it on.</a:t>
            </a:r>
          </a:p>
          <a:p>
            <a:pPr lvl="1"/>
            <a:r>
              <a:rPr lang="en-IN" dirty="0"/>
              <a:t>If a CLAIM_TOKEN message arrives with own ID: then that station is the new monitor.</a:t>
            </a:r>
          </a:p>
          <a:p>
            <a:r>
              <a:rPr lang="en-IN" dirty="0"/>
              <a:t>Tasks of the monitor station:</a:t>
            </a:r>
          </a:p>
          <a:p>
            <a:pPr lvl="1"/>
            <a:r>
              <a:rPr lang="en-IN" dirty="0"/>
              <a:t>New generation of the token after a token loss.</a:t>
            </a:r>
          </a:p>
          <a:p>
            <a:pPr lvl="1"/>
            <a:r>
              <a:rPr lang="en-IN" dirty="0"/>
              <a:t>Reaction to ring collapse</a:t>
            </a:r>
          </a:p>
          <a:p>
            <a:pPr lvl="1"/>
            <a:r>
              <a:rPr lang="en-IN" dirty="0"/>
              <a:t>Removal of frame fragments</a:t>
            </a:r>
          </a:p>
          <a:p>
            <a:pPr lvl="1"/>
            <a:r>
              <a:rPr lang="en-IN" dirty="0"/>
              <a:t>Deletion of old, circulating frames.</a:t>
            </a:r>
          </a:p>
          <a:p>
            <a:r>
              <a:rPr lang="en-IN" dirty="0"/>
              <a:t>For each problem an own token is defined. If necessary timers are also used.</a:t>
            </a:r>
          </a:p>
          <a:p>
            <a:endParaRPr lang="en-IN" dirty="0"/>
          </a:p>
        </p:txBody>
      </p:sp>
    </p:spTree>
    <p:extLst>
      <p:ext uri="{BB962C8B-B14F-4D97-AF65-F5344CB8AC3E}">
        <p14:creationId xmlns:p14="http://schemas.microsoft.com/office/powerpoint/2010/main" val="2290432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