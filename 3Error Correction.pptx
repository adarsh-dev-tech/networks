
<file path=[Content_Types].xml><?xml version="1.0" encoding="utf-8"?>
<Types xmlns="http://schemas.openxmlformats.org/package/2006/content-types">
  <Default ContentType="image/x-wmf" Extension="wmf"/>
  <Default ContentType="application/xml" Extension="xml"/>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349AFA-77E7-47FC-9423-03763D02254A}"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04B80-69DC-4BEC-BB92-B72182D5D490}" type="slidenum">
              <a:rPr lang="en-IN" smtClean="0"/>
              <a:t>‹#›</a:t>
            </a:fld>
            <a:endParaRPr lang="en-IN"/>
          </a:p>
        </p:txBody>
      </p:sp>
    </p:spTree>
    <p:extLst>
      <p:ext uri="{BB962C8B-B14F-4D97-AF65-F5344CB8AC3E}">
        <p14:creationId xmlns:p14="http://schemas.microsoft.com/office/powerpoint/2010/main" val="2245608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905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672094-F782-480E-A71D-760C7F1E7AB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65594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6672094-F782-480E-A71D-760C7F1E7AB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3334245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6672094-F782-480E-A71D-760C7F1E7AB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2288664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6672094-F782-480E-A71D-760C7F1E7AB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2328867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6672094-F782-480E-A71D-760C7F1E7ABC}" type="datetimeFigureOut">
              <a:rPr lang="en-IN" smtClean="0"/>
              <a:t>08-09-2026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1040191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6672094-F782-480E-A71D-760C7F1E7ABC}" type="datetimeFigureOut">
              <a:rPr lang="en-IN" smtClean="0"/>
              <a:t>08-09-2026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1074090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672094-F782-480E-A71D-760C7F1E7ABC}" type="datetimeFigureOut">
              <a:rPr lang="en-IN" smtClean="0"/>
              <a:t>08-09-2026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140894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672094-F782-480E-A71D-760C7F1E7AB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3073429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672094-F782-480E-A71D-760C7F1E7AB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3947762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6672094-F782-480E-A71D-760C7F1E7AB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1441271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6672094-F782-480E-A71D-760C7F1E7AB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A6F978-7FDD-4B67-99B7-31A1A434E50E}" type="slidenum">
              <a:rPr lang="en-IN" smtClean="0"/>
              <a:t>‹#›</a:t>
            </a:fld>
            <a:endParaRPr lang="en-IN"/>
          </a:p>
        </p:txBody>
      </p:sp>
    </p:spTree>
    <p:extLst>
      <p:ext uri="{BB962C8B-B14F-4D97-AF65-F5344CB8AC3E}">
        <p14:creationId xmlns:p14="http://schemas.microsoft.com/office/powerpoint/2010/main" val="320847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672094-F782-480E-A71D-760C7F1E7ABC}" type="datetimeFigureOut">
              <a:rPr lang="en-IN" smtClean="0"/>
              <a:t>08-09-2026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A6F978-7FDD-4B67-99B7-31A1A434E50E}" type="slidenum">
              <a:rPr lang="en-IN" smtClean="0"/>
              <a:t>‹#›</a:t>
            </a:fld>
            <a:endParaRPr lang="en-IN"/>
          </a:p>
        </p:txBody>
      </p:sp>
    </p:spTree>
    <p:extLst>
      <p:ext uri="{BB962C8B-B14F-4D97-AF65-F5344CB8AC3E}">
        <p14:creationId xmlns:p14="http://schemas.microsoft.com/office/powerpoint/2010/main" val="2858652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Error Correction</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2576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en-US" dirty="0">
                <a:latin typeface="Calibri" panose="020F0502020204030204" pitchFamily="34" charset="0"/>
                <a:cs typeface="Calibri" panose="020F0502020204030204" pitchFamily="34" charset="0"/>
              </a:rPr>
              <a:t>Error Correction</a:t>
            </a:r>
          </a:p>
        </p:txBody>
      </p:sp>
      <p:sp>
        <p:nvSpPr>
          <p:cNvPr id="29699" name="Rectangle 3"/>
          <p:cNvSpPr>
            <a:spLocks noGrp="1" noChangeArrowheads="1"/>
          </p:cNvSpPr>
          <p:nvPr>
            <p:ph type="body" idx="1"/>
          </p:nvPr>
        </p:nvSpPr>
        <p:spPr/>
        <p:txBody>
          <a:bodyPr/>
          <a:lstStyle/>
          <a:p>
            <a:pPr marL="603263" indent="-603263">
              <a:buNone/>
            </a:pPr>
            <a:r>
              <a:rPr lang="en-US" altLang="en-US" dirty="0"/>
              <a:t>It can be handled in two ways:</a:t>
            </a:r>
          </a:p>
          <a:p>
            <a:r>
              <a:rPr lang="en-US" altLang="en-US" dirty="0"/>
              <a:t>receiver can have the sender retransmit the entire data unit.</a:t>
            </a:r>
          </a:p>
          <a:p>
            <a:r>
              <a:rPr lang="en-US" altLang="en-US" dirty="0"/>
              <a:t>The receiver can use an error-correcting code, which automatically corrects certain errors.</a:t>
            </a:r>
          </a:p>
          <a:p>
            <a:endParaRPr lang="en-US" altLang="en-US" dirty="0"/>
          </a:p>
        </p:txBody>
      </p:sp>
    </p:spTree>
    <p:extLst>
      <p:ext uri="{BB962C8B-B14F-4D97-AF65-F5344CB8AC3E}">
        <p14:creationId xmlns:p14="http://schemas.microsoft.com/office/powerpoint/2010/main" val="37359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A frame consists of </a:t>
            </a:r>
            <a:r>
              <a:rPr lang="en-US" i="1" dirty="0"/>
              <a:t>m </a:t>
            </a:r>
            <a:r>
              <a:rPr lang="en-US" dirty="0"/>
              <a:t>data (i.e., message) bits and </a:t>
            </a:r>
            <a:r>
              <a:rPr lang="en-US" i="1" dirty="0"/>
              <a:t>r </a:t>
            </a:r>
            <a:r>
              <a:rPr lang="en-US" dirty="0"/>
              <a:t>redundant (i.e. check) bits. </a:t>
            </a:r>
          </a:p>
          <a:p>
            <a:pPr marL="0" indent="0">
              <a:buNone/>
            </a:pPr>
            <a:r>
              <a:rPr lang="en-IN" dirty="0"/>
              <a:t>Three different codes. They are all linear, systematic and block codes:</a:t>
            </a:r>
          </a:p>
          <a:p>
            <a:pPr marL="0" indent="0">
              <a:buNone/>
            </a:pPr>
            <a:r>
              <a:rPr lang="en-US" dirty="0"/>
              <a:t>In a </a:t>
            </a:r>
            <a:r>
              <a:rPr lang="en-US" b="1" dirty="0"/>
              <a:t>linear code</a:t>
            </a:r>
            <a:r>
              <a:rPr lang="en-US" dirty="0"/>
              <a:t>, the </a:t>
            </a:r>
            <a:r>
              <a:rPr lang="en-US" i="1" dirty="0"/>
              <a:t>r </a:t>
            </a:r>
            <a:r>
              <a:rPr lang="en-US" dirty="0"/>
              <a:t>check bits are computed as a linear function of the </a:t>
            </a:r>
            <a:r>
              <a:rPr lang="en-US" i="1" dirty="0"/>
              <a:t>m </a:t>
            </a:r>
            <a:r>
              <a:rPr lang="en-US" dirty="0"/>
              <a:t>data bits. Exclusive OR (XOR) or modulo 2 addition is a popular choice. This means that encoding can be done with operations such as matrix </a:t>
            </a:r>
            <a:r>
              <a:rPr lang="fr-FR" dirty="0"/>
              <a:t>multiplications or simple logic circuits.</a:t>
            </a:r>
          </a:p>
          <a:p>
            <a:pPr marL="0" indent="0">
              <a:buNone/>
            </a:pPr>
            <a:r>
              <a:rPr lang="en-US" dirty="0"/>
              <a:t>In a </a:t>
            </a:r>
            <a:r>
              <a:rPr lang="en-US" b="1" dirty="0"/>
              <a:t>systematic code</a:t>
            </a:r>
            <a:r>
              <a:rPr lang="en-US" dirty="0"/>
              <a:t>, the </a:t>
            </a:r>
            <a:r>
              <a:rPr lang="en-US" i="1" dirty="0"/>
              <a:t>m </a:t>
            </a:r>
            <a:r>
              <a:rPr lang="en-US" dirty="0"/>
              <a:t>data bits are sent directly, along with the check bits, rather than being encoded themselves before they are sent. </a:t>
            </a:r>
          </a:p>
          <a:p>
            <a:pPr marL="0" indent="0">
              <a:buNone/>
            </a:pPr>
            <a:r>
              <a:rPr lang="en-US" dirty="0"/>
              <a:t>In a </a:t>
            </a:r>
            <a:r>
              <a:rPr lang="en-US" b="1" dirty="0"/>
              <a:t>block code</a:t>
            </a:r>
            <a:r>
              <a:rPr lang="en-US" dirty="0"/>
              <a:t>, the </a:t>
            </a:r>
            <a:r>
              <a:rPr lang="en-US" i="1" dirty="0"/>
              <a:t>r </a:t>
            </a:r>
            <a:r>
              <a:rPr lang="en-US" dirty="0"/>
              <a:t>check bits are computed solely as a function of the </a:t>
            </a:r>
            <a:r>
              <a:rPr lang="en-US" i="1" dirty="0"/>
              <a:t>m </a:t>
            </a:r>
            <a:r>
              <a:rPr lang="en-US" dirty="0"/>
              <a:t>data bits with which they are associated, as though the </a:t>
            </a:r>
            <a:r>
              <a:rPr lang="en-US" i="1" dirty="0"/>
              <a:t>m </a:t>
            </a:r>
            <a:r>
              <a:rPr lang="en-US" dirty="0"/>
              <a:t>bits were looked up in a large table to find their corresponding </a:t>
            </a:r>
            <a:r>
              <a:rPr lang="en-US" i="1" dirty="0"/>
              <a:t>r </a:t>
            </a:r>
            <a:r>
              <a:rPr lang="en-US" dirty="0"/>
              <a:t>check bits. </a:t>
            </a:r>
          </a:p>
        </p:txBody>
      </p:sp>
    </p:spTree>
    <p:extLst>
      <p:ext uri="{BB962C8B-B14F-4D97-AF65-F5344CB8AC3E}">
        <p14:creationId xmlns:p14="http://schemas.microsoft.com/office/powerpoint/2010/main" val="3055393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Error-Correcting Codes</a:t>
            </a:r>
            <a:endParaRPr lang="en-US" dirty="0"/>
          </a:p>
        </p:txBody>
      </p:sp>
      <p:sp>
        <p:nvSpPr>
          <p:cNvPr id="3" name="Content Placeholder 2"/>
          <p:cNvSpPr>
            <a:spLocks noGrp="1"/>
          </p:cNvSpPr>
          <p:nvPr>
            <p:ph idx="1"/>
          </p:nvPr>
        </p:nvSpPr>
        <p:spPr/>
        <p:txBody>
          <a:bodyPr/>
          <a:lstStyle/>
          <a:p>
            <a:pPr marL="0" indent="0">
              <a:buNone/>
            </a:pPr>
            <a:r>
              <a:rPr lang="en-US" dirty="0"/>
              <a:t>Four different error-correcting codes:</a:t>
            </a:r>
          </a:p>
          <a:p>
            <a:pPr marL="0" indent="0">
              <a:buNone/>
            </a:pPr>
            <a:r>
              <a:rPr lang="en-US" dirty="0"/>
              <a:t>1. Hamming codes.</a:t>
            </a:r>
          </a:p>
          <a:p>
            <a:pPr marL="0" indent="0">
              <a:buNone/>
            </a:pPr>
            <a:r>
              <a:rPr lang="en-US" dirty="0"/>
              <a:t>2. Binary convolutional codes.</a:t>
            </a:r>
          </a:p>
          <a:p>
            <a:pPr marL="0" indent="0">
              <a:buNone/>
            </a:pPr>
            <a:r>
              <a:rPr lang="en-US" dirty="0"/>
              <a:t>3. Reed-Solomon codes.</a:t>
            </a:r>
          </a:p>
          <a:p>
            <a:pPr marL="0" indent="0">
              <a:buNone/>
            </a:pPr>
            <a:r>
              <a:rPr lang="en-US" dirty="0"/>
              <a:t>4. Low-Density Parity Check codes.</a:t>
            </a:r>
          </a:p>
          <a:p>
            <a:pPr marL="0" indent="0">
              <a:buNone/>
            </a:pPr>
            <a:r>
              <a:rPr lang="en-US" dirty="0"/>
              <a:t>All of these codes add redundancy to the information that is sent.</a:t>
            </a:r>
          </a:p>
        </p:txBody>
      </p:sp>
    </p:spTree>
    <p:extLst>
      <p:ext uri="{BB962C8B-B14F-4D97-AF65-F5344CB8AC3E}">
        <p14:creationId xmlns:p14="http://schemas.microsoft.com/office/powerpoint/2010/main" val="3028480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defRPr/>
            </a:pPr>
            <a:r>
              <a:rPr lang="en-US" dirty="0">
                <a:latin typeface="Calibri" panose="020F0502020204030204" pitchFamily="34" charset="0"/>
                <a:cs typeface="Calibri" panose="020F0502020204030204" pitchFamily="34" charset="0"/>
              </a:rPr>
              <a:t>Single-bit error correction</a:t>
            </a:r>
          </a:p>
        </p:txBody>
      </p:sp>
      <p:sp>
        <p:nvSpPr>
          <p:cNvPr id="49155" name="Rectangle 3"/>
          <p:cNvSpPr>
            <a:spLocks noGrp="1" noChangeArrowheads="1"/>
          </p:cNvSpPr>
          <p:nvPr>
            <p:ph idx="1"/>
          </p:nvPr>
        </p:nvSpPr>
        <p:spPr/>
        <p:txBody>
          <a:bodyPr/>
          <a:lstStyle/>
          <a:p>
            <a:pPr marL="339445" indent="-339445">
              <a:buNone/>
              <a:defRPr/>
            </a:pPr>
            <a:r>
              <a:rPr lang="en-US" sz="2762" dirty="0"/>
              <a:t>To correct an error, the receiver reverses the value of the altered bit. </a:t>
            </a:r>
          </a:p>
          <a:p>
            <a:pPr marL="339445" indent="-339445">
              <a:buNone/>
              <a:defRPr/>
            </a:pPr>
            <a:r>
              <a:rPr lang="en-US" sz="2762" dirty="0"/>
              <a:t>To do so, it must know which bit is in error.</a:t>
            </a:r>
          </a:p>
          <a:p>
            <a:pPr marL="339445" indent="-339445">
              <a:buNone/>
              <a:defRPr/>
            </a:pPr>
            <a:r>
              <a:rPr lang="en-US" sz="2762" dirty="0"/>
              <a:t>Number of redundancy bits needed</a:t>
            </a:r>
          </a:p>
          <a:p>
            <a:pPr marL="339445" indent="-339445">
              <a:defRPr/>
            </a:pPr>
            <a:r>
              <a:rPr lang="en-US" sz="2762" dirty="0"/>
              <a:t>Let data bits = </a:t>
            </a:r>
            <a:r>
              <a:rPr lang="en-US" sz="2762" i="1" dirty="0"/>
              <a:t>m</a:t>
            </a:r>
          </a:p>
          <a:p>
            <a:pPr marL="339445" indent="-339445">
              <a:defRPr/>
            </a:pPr>
            <a:r>
              <a:rPr lang="en-US" sz="2762" dirty="0"/>
              <a:t>Redundancy bits =</a:t>
            </a:r>
            <a:r>
              <a:rPr lang="en-US" sz="2762" i="1" dirty="0"/>
              <a:t> r</a:t>
            </a:r>
          </a:p>
          <a:p>
            <a:pPr marL="339445" indent="-339445">
              <a:buNone/>
              <a:defRPr/>
            </a:pPr>
            <a:r>
              <a:rPr lang="en-US" sz="2762" dirty="0">
                <a:sym typeface="Symbol" pitchFamily="18" charset="2"/>
              </a:rPr>
              <a:t></a:t>
            </a:r>
            <a:r>
              <a:rPr lang="en-US" sz="2762" dirty="0"/>
              <a:t>Total message sent =</a:t>
            </a:r>
            <a:r>
              <a:rPr lang="en-US" sz="2762" i="1" dirty="0"/>
              <a:t> m + r</a:t>
            </a:r>
          </a:p>
          <a:p>
            <a:pPr marL="339445" indent="-339445">
              <a:buNone/>
              <a:defRPr/>
            </a:pPr>
            <a:r>
              <a:rPr lang="en-US" sz="2762" dirty="0"/>
              <a:t>The value of r must satisfy the following relation:</a:t>
            </a:r>
          </a:p>
          <a:p>
            <a:pPr marL="339445" indent="-339445" algn="ctr">
              <a:buNone/>
              <a:defRPr/>
            </a:pPr>
            <a:r>
              <a:rPr lang="en-US" dirty="0"/>
              <a:t>2</a:t>
            </a:r>
            <a:r>
              <a:rPr lang="en-US" baseline="30000" dirty="0"/>
              <a:t>r</a:t>
            </a:r>
            <a:r>
              <a:rPr lang="en-US" dirty="0"/>
              <a:t> </a:t>
            </a:r>
            <a:r>
              <a:rPr lang="en-US" dirty="0">
                <a:ea typeface="SimSun" pitchFamily="2" charset="-122"/>
              </a:rPr>
              <a:t>≥ m+r+1</a:t>
            </a:r>
          </a:p>
          <a:p>
            <a:pPr marL="339445" indent="-339445">
              <a:defRPr/>
            </a:pPr>
            <a:endParaRPr lang="en-US" b="1" dirty="0">
              <a:solidFill>
                <a:srgbClr val="063DE8"/>
              </a:solidFill>
              <a:effectLst>
                <a:outerShdw blurRad="38100" dist="38100" dir="2700000" algn="tl">
                  <a:srgbClr val="C0C0C0"/>
                </a:outerShdw>
              </a:effectLst>
            </a:endParaRPr>
          </a:p>
        </p:txBody>
      </p:sp>
    </p:spTree>
    <p:extLst>
      <p:ext uri="{BB962C8B-B14F-4D97-AF65-F5344CB8AC3E}">
        <p14:creationId xmlns:p14="http://schemas.microsoft.com/office/powerpoint/2010/main" val="1987194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1" y="2320775"/>
            <a:ext cx="8177893" cy="3026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7" name="Rectangle 3"/>
          <p:cNvSpPr>
            <a:spLocks noChangeArrowheads="1"/>
          </p:cNvSpPr>
          <p:nvPr/>
        </p:nvSpPr>
        <p:spPr bwMode="auto">
          <a:xfrm>
            <a:off x="4278692" y="193524"/>
            <a:ext cx="3154981"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Error Correction</a:t>
            </a:r>
          </a:p>
        </p:txBody>
      </p:sp>
    </p:spTree>
    <p:extLst>
      <p:ext uri="{BB962C8B-B14F-4D97-AF65-F5344CB8AC3E}">
        <p14:creationId xmlns:p14="http://schemas.microsoft.com/office/powerpoint/2010/main" val="309673842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Hamming codes</a:t>
            </a:r>
            <a:endParaRPr lang="en-US" dirty="0"/>
          </a:p>
        </p:txBody>
      </p:sp>
      <p:sp>
        <p:nvSpPr>
          <p:cNvPr id="3" name="Content Placeholder 2"/>
          <p:cNvSpPr>
            <a:spLocks noGrp="1"/>
          </p:cNvSpPr>
          <p:nvPr>
            <p:ph idx="1"/>
          </p:nvPr>
        </p:nvSpPr>
        <p:spPr/>
        <p:txBody>
          <a:bodyPr>
            <a:normAutofit lnSpcReduction="10000"/>
          </a:bodyPr>
          <a:lstStyle/>
          <a:p>
            <a:r>
              <a:rPr lang="en-US" dirty="0"/>
              <a:t>In </a:t>
            </a:r>
            <a:r>
              <a:rPr lang="en-US" b="1" dirty="0"/>
              <a:t>Hamming codes </a:t>
            </a:r>
            <a:r>
              <a:rPr lang="en-US" dirty="0"/>
              <a:t>the bits of the codeword are numbered consecutively, starting with bit 1 at the left end, bit 2 to its immediate right, and so on. </a:t>
            </a:r>
          </a:p>
          <a:p>
            <a:r>
              <a:rPr lang="en-US" dirty="0"/>
              <a:t>The bits that are powers of 2 (1, 2, 4, 8, 16, etc.) are check bits. </a:t>
            </a:r>
          </a:p>
          <a:p>
            <a:r>
              <a:rPr lang="en-US" dirty="0"/>
              <a:t>The rest (3, 5, 6, 7, 9, etc.) are filled up with the </a:t>
            </a:r>
            <a:r>
              <a:rPr lang="en-US" i="1" dirty="0"/>
              <a:t>m </a:t>
            </a:r>
            <a:r>
              <a:rPr lang="en-US" dirty="0"/>
              <a:t>data bits.</a:t>
            </a:r>
          </a:p>
          <a:p>
            <a:r>
              <a:rPr lang="en-US" dirty="0"/>
              <a:t>Each check bit forces the modulo 2 sum, or parity, of some collection of bits, including itself, to be even (or odd). </a:t>
            </a:r>
          </a:p>
          <a:p>
            <a:r>
              <a:rPr lang="en-US" dirty="0"/>
              <a:t>A bit may be included in several check bit computations. </a:t>
            </a:r>
          </a:p>
          <a:p>
            <a:r>
              <a:rPr lang="en-US" dirty="0"/>
              <a:t>To see which check bits the data bit in position </a:t>
            </a:r>
            <a:r>
              <a:rPr lang="en-US" i="1" dirty="0"/>
              <a:t>k </a:t>
            </a:r>
            <a:r>
              <a:rPr lang="en-US" dirty="0"/>
              <a:t>contributes to, rewrite </a:t>
            </a:r>
            <a:r>
              <a:rPr lang="en-US" i="1" dirty="0"/>
              <a:t>k </a:t>
            </a:r>
            <a:r>
              <a:rPr lang="en-US" dirty="0"/>
              <a:t>as a sum of powers of 2.</a:t>
            </a:r>
          </a:p>
        </p:txBody>
      </p:sp>
    </p:spTree>
    <p:extLst>
      <p:ext uri="{BB962C8B-B14F-4D97-AF65-F5344CB8AC3E}">
        <p14:creationId xmlns:p14="http://schemas.microsoft.com/office/powerpoint/2010/main" val="3767800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example, 11 = 1 + 2 + 8 and 29 = 1 + 4 + 8 + 16. </a:t>
            </a:r>
          </a:p>
          <a:p>
            <a:r>
              <a:rPr lang="en-US" dirty="0"/>
              <a:t>A bit is checked by just those check bits occurring in its expansion (e.g., bit 11 is checked by bits 1, 2, and 8). I</a:t>
            </a:r>
          </a:p>
          <a:p>
            <a:r>
              <a:rPr lang="en-US" dirty="0"/>
              <a:t>In the example, the check bits are computed for even parity sums for a message that is the ASCII letter ‘‘A.’’</a:t>
            </a:r>
          </a:p>
        </p:txBody>
      </p:sp>
    </p:spTree>
    <p:extLst>
      <p:ext uri="{BB962C8B-B14F-4D97-AF65-F5344CB8AC3E}">
        <p14:creationId xmlns:p14="http://schemas.microsoft.com/office/powerpoint/2010/main" val="3027805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(11,7) Hamming code with 7 data bits and 4 check bits</a:t>
            </a:r>
          </a:p>
        </p:txBody>
      </p:sp>
      <p:pic>
        <p:nvPicPr>
          <p:cNvPr id="4" name="Content Placeholder 3"/>
          <p:cNvPicPr>
            <a:picLocks noGrp="1" noChangeAspect="1"/>
          </p:cNvPicPr>
          <p:nvPr>
            <p:ph idx="1"/>
          </p:nvPr>
        </p:nvPicPr>
        <p:blipFill>
          <a:blip r:embed="rId2"/>
          <a:stretch>
            <a:fillRect/>
          </a:stretch>
        </p:blipFill>
        <p:spPr>
          <a:xfrm>
            <a:off x="2119746" y="2402378"/>
            <a:ext cx="7600330" cy="2630466"/>
          </a:xfrm>
          <a:prstGeom prst="rect">
            <a:avLst/>
          </a:prstGeom>
        </p:spPr>
      </p:pic>
    </p:spTree>
    <p:extLst>
      <p:ext uri="{BB962C8B-B14F-4D97-AF65-F5344CB8AC3E}">
        <p14:creationId xmlns:p14="http://schemas.microsoft.com/office/powerpoint/2010/main" val="363922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the check results are not all zero, however, an error has been detected. The set of check results forms the </a:t>
            </a:r>
            <a:r>
              <a:rPr lang="en-US" b="1" dirty="0"/>
              <a:t>error syndrome </a:t>
            </a:r>
            <a:r>
              <a:rPr lang="en-US" dirty="0"/>
              <a:t>that is used to pinpoint and correct the error.</a:t>
            </a:r>
          </a:p>
          <a:p>
            <a:r>
              <a:rPr lang="en-US" dirty="0"/>
              <a:t> In Fig, a single-bit error occurred on the channel so the check results are 0, 1, 0, and 1 for </a:t>
            </a:r>
            <a:r>
              <a:rPr lang="en-US" i="1" dirty="0"/>
              <a:t>k </a:t>
            </a:r>
            <a:r>
              <a:rPr lang="en-US" dirty="0"/>
              <a:t>= 8, 4, 2, and 1, respectively. This gives a syndrome of 0101 or 4 + 1=5.</a:t>
            </a:r>
          </a:p>
        </p:txBody>
      </p:sp>
    </p:spTree>
    <p:extLst>
      <p:ext uri="{BB962C8B-B14F-4D97-AF65-F5344CB8AC3E}">
        <p14:creationId xmlns:p14="http://schemas.microsoft.com/office/powerpoint/2010/main" val="175758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9584" y="2801561"/>
            <a:ext cx="7976810" cy="251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1" name="Rectangle 3"/>
          <p:cNvSpPr>
            <a:spLocks noChangeArrowheads="1"/>
          </p:cNvSpPr>
          <p:nvPr/>
        </p:nvSpPr>
        <p:spPr bwMode="auto">
          <a:xfrm>
            <a:off x="4354287" y="270632"/>
            <a:ext cx="2904400"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Hamming Code</a:t>
            </a:r>
          </a:p>
        </p:txBody>
      </p:sp>
    </p:spTree>
    <p:extLst>
      <p:ext uri="{BB962C8B-B14F-4D97-AF65-F5344CB8AC3E}">
        <p14:creationId xmlns:p14="http://schemas.microsoft.com/office/powerpoint/2010/main" val="388597813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1454" y="1328965"/>
            <a:ext cx="6623654" cy="4720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5" name="Rectangle 6"/>
          <p:cNvSpPr>
            <a:spLocks noChangeArrowheads="1"/>
          </p:cNvSpPr>
          <p:nvPr/>
        </p:nvSpPr>
        <p:spPr bwMode="auto">
          <a:xfrm>
            <a:off x="4578049" y="40822"/>
            <a:ext cx="2904400"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Hamming Code</a:t>
            </a:r>
          </a:p>
        </p:txBody>
      </p:sp>
    </p:spTree>
    <p:extLst>
      <p:ext uri="{BB962C8B-B14F-4D97-AF65-F5344CB8AC3E}">
        <p14:creationId xmlns:p14="http://schemas.microsoft.com/office/powerpoint/2010/main" val="109050529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192" y="1241275"/>
            <a:ext cx="6623654" cy="4720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19" name="Rectangle 6"/>
          <p:cNvSpPr>
            <a:spLocks noChangeArrowheads="1"/>
          </p:cNvSpPr>
          <p:nvPr/>
        </p:nvSpPr>
        <p:spPr bwMode="auto">
          <a:xfrm>
            <a:off x="4578049" y="40822"/>
            <a:ext cx="2904400"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Hamming Code</a:t>
            </a:r>
          </a:p>
        </p:txBody>
      </p:sp>
    </p:spTree>
    <p:extLst>
      <p:ext uri="{BB962C8B-B14F-4D97-AF65-F5344CB8AC3E}">
        <p14:creationId xmlns:p14="http://schemas.microsoft.com/office/powerpoint/2010/main" val="8909079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0298" y="765742"/>
            <a:ext cx="6330345" cy="5445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3" name="Rectangle 6"/>
          <p:cNvSpPr>
            <a:spLocks noChangeArrowheads="1"/>
          </p:cNvSpPr>
          <p:nvPr/>
        </p:nvSpPr>
        <p:spPr bwMode="auto">
          <a:xfrm>
            <a:off x="1073791" y="2221961"/>
            <a:ext cx="3582099" cy="2674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sz="1400" dirty="0"/>
              <a:t>R1</a:t>
            </a:r>
            <a:endParaRPr lang="en-IN" sz="1400" dirty="0"/>
          </a:p>
          <a:p>
            <a:r>
              <a:rPr lang="en-US" sz="1400" dirty="0"/>
              <a:t>Data values at 3, 5, 7, 9, 11 ---   No. of ones – 3 To have even parity R1 should be 1</a:t>
            </a:r>
            <a:endParaRPr lang="en-IN" sz="1400" dirty="0"/>
          </a:p>
          <a:p>
            <a:r>
              <a:rPr lang="en-US" sz="1400" dirty="0"/>
              <a:t>R2</a:t>
            </a:r>
            <a:endParaRPr lang="en-IN" sz="1400" dirty="0"/>
          </a:p>
          <a:p>
            <a:r>
              <a:rPr lang="en-US" sz="1400" dirty="0"/>
              <a:t>Data values 3,6,7,10,11 ---- No. of ones – 4 To have even parity R2 should be 0</a:t>
            </a:r>
            <a:endParaRPr lang="en-IN" sz="1400" dirty="0"/>
          </a:p>
          <a:p>
            <a:r>
              <a:rPr lang="en-US" sz="1400" dirty="0"/>
              <a:t>R4</a:t>
            </a:r>
            <a:endParaRPr lang="en-IN" sz="1400" dirty="0"/>
          </a:p>
          <a:p>
            <a:r>
              <a:rPr lang="en-US" sz="1400" dirty="0"/>
              <a:t>Data Values 5, 6, 7 ----  No. of ones – 2 To have even parity R4 should be 0</a:t>
            </a:r>
            <a:endParaRPr lang="en-IN" sz="1400" dirty="0"/>
          </a:p>
          <a:p>
            <a:r>
              <a:rPr lang="en-US" sz="1400" dirty="0"/>
              <a:t>R8</a:t>
            </a:r>
            <a:endParaRPr lang="en-IN" sz="1400" dirty="0"/>
          </a:p>
          <a:p>
            <a:r>
              <a:rPr lang="en-US" sz="1400" dirty="0"/>
              <a:t>Data Values 9, 10 ,11 --- No. of ones – 1 To have even parity R8 = 1</a:t>
            </a:r>
            <a:endParaRPr lang="en-IN" sz="1400" dirty="0"/>
          </a:p>
        </p:txBody>
      </p:sp>
      <p:sp>
        <p:nvSpPr>
          <p:cNvPr id="6" name="Rectangle 6">
            <a:extLst>
              <a:ext uri="{FF2B5EF4-FFF2-40B4-BE49-F238E27FC236}">
                <a16:creationId xmlns:a16="http://schemas.microsoft.com/office/drawing/2014/main" id="{5BD0AC25-2FDF-4893-9480-14C702578711}"/>
              </a:ext>
            </a:extLst>
          </p:cNvPr>
          <p:cNvSpPr>
            <a:spLocks noChangeArrowheads="1"/>
          </p:cNvSpPr>
          <p:nvPr/>
        </p:nvSpPr>
        <p:spPr bwMode="auto">
          <a:xfrm>
            <a:off x="3907973" y="193222"/>
            <a:ext cx="4967464"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dirty="0">
                <a:solidFill>
                  <a:srgbClr val="00279F"/>
                </a:solidFill>
              </a:rPr>
              <a:t>Example of Hamming Code</a:t>
            </a:r>
          </a:p>
        </p:txBody>
      </p:sp>
    </p:spTree>
    <p:extLst>
      <p:ext uri="{BB962C8B-B14F-4D97-AF65-F5344CB8AC3E}">
        <p14:creationId xmlns:p14="http://schemas.microsoft.com/office/powerpoint/2010/main" val="27860849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954" y="3052536"/>
            <a:ext cx="8117416" cy="1564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7" name="Rectangle 3"/>
          <p:cNvSpPr>
            <a:spLocks noChangeArrowheads="1"/>
          </p:cNvSpPr>
          <p:nvPr/>
        </p:nvSpPr>
        <p:spPr bwMode="auto">
          <a:xfrm>
            <a:off x="4653644" y="955524"/>
            <a:ext cx="2855412" cy="57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63DE8"/>
                </a:solidFill>
              </a:rPr>
              <a:t>Single-bit error</a:t>
            </a:r>
          </a:p>
        </p:txBody>
      </p:sp>
    </p:spTree>
    <p:extLst>
      <p:ext uri="{BB962C8B-B14F-4D97-AF65-F5344CB8AC3E}">
        <p14:creationId xmlns:p14="http://schemas.microsoft.com/office/powerpoint/2010/main" val="753971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156" y="418798"/>
            <a:ext cx="4878917" cy="5804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1" name="Rectangle 6"/>
          <p:cNvSpPr>
            <a:spLocks noChangeArrowheads="1"/>
          </p:cNvSpPr>
          <p:nvPr/>
        </p:nvSpPr>
        <p:spPr bwMode="auto">
          <a:xfrm>
            <a:off x="2183192" y="2326822"/>
            <a:ext cx="1819166" cy="105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574" tIns="44001" rIns="89574" bIns="44001">
            <a:spAutoFit/>
          </a:bodyPr>
          <a:lstStyle>
            <a:lvl1pPr>
              <a:defRPr sz="2500">
                <a:solidFill>
                  <a:schemeClr val="tx1"/>
                </a:solidFill>
                <a:latin typeface="Times New Roman" panose="02020603050405020304" pitchFamily="18" charset="0"/>
              </a:defRPr>
            </a:lvl1pPr>
            <a:lvl2pPr marL="742950" indent="-285750">
              <a:defRPr sz="2500">
                <a:solidFill>
                  <a:schemeClr val="tx1"/>
                </a:solidFill>
                <a:latin typeface="Times New Roman" panose="02020603050405020304" pitchFamily="18" charset="0"/>
              </a:defRPr>
            </a:lvl2pPr>
            <a:lvl3pPr marL="1143000" indent="-228600">
              <a:defRPr sz="2500">
                <a:solidFill>
                  <a:schemeClr val="tx1"/>
                </a:solidFill>
                <a:latin typeface="Times New Roman" panose="02020603050405020304" pitchFamily="18" charset="0"/>
              </a:defRPr>
            </a:lvl3pPr>
            <a:lvl4pPr marL="1600200" indent="-228600">
              <a:defRPr sz="2500">
                <a:solidFill>
                  <a:schemeClr val="tx1"/>
                </a:solidFill>
                <a:latin typeface="Times New Roman" panose="02020603050405020304" pitchFamily="18" charset="0"/>
              </a:defRPr>
            </a:lvl4pPr>
            <a:lvl5pPr marL="2057400" indent="-228600">
              <a:defRPr sz="2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500">
                <a:solidFill>
                  <a:schemeClr val="tx1"/>
                </a:solidFill>
                <a:latin typeface="Times New Roman" panose="02020603050405020304" pitchFamily="18" charset="0"/>
              </a:defRPr>
            </a:lvl9pPr>
          </a:lstStyle>
          <a:p>
            <a:r>
              <a:rPr lang="en-US" altLang="en-US" sz="3143" b="1">
                <a:solidFill>
                  <a:srgbClr val="00279F"/>
                </a:solidFill>
              </a:rPr>
              <a:t>Error </a:t>
            </a:r>
          </a:p>
          <a:p>
            <a:r>
              <a:rPr lang="en-US" altLang="en-US" sz="3143" b="1">
                <a:solidFill>
                  <a:srgbClr val="00279F"/>
                </a:solidFill>
              </a:rPr>
              <a:t>Detection</a:t>
            </a:r>
          </a:p>
        </p:txBody>
      </p:sp>
    </p:spTree>
    <p:extLst>
      <p:ext uri="{BB962C8B-B14F-4D97-AF65-F5344CB8AC3E}">
        <p14:creationId xmlns:p14="http://schemas.microsoft.com/office/powerpoint/2010/main" val="366948861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t>Use of HD for error correction</a:t>
            </a:r>
          </a:p>
        </p:txBody>
      </p:sp>
      <p:sp>
        <p:nvSpPr>
          <p:cNvPr id="23555" name="Rectangle 3"/>
          <p:cNvSpPr>
            <a:spLocks noGrp="1" noChangeArrowheads="1"/>
          </p:cNvSpPr>
          <p:nvPr>
            <p:ph type="body" idx="1"/>
          </p:nvPr>
        </p:nvSpPr>
        <p:spPr/>
        <p:txBody>
          <a:bodyPr/>
          <a:lstStyle/>
          <a:p>
            <a:pPr>
              <a:lnSpc>
                <a:spcPct val="90000"/>
              </a:lnSpc>
            </a:pPr>
            <a:r>
              <a:rPr lang="en-US" altLang="en-US" dirty="0"/>
              <a:t>To correct d single bit errors , we need an algorithm that creates a code list with HD at least 2d + 1.</a:t>
            </a:r>
          </a:p>
          <a:p>
            <a:pPr>
              <a:lnSpc>
                <a:spcPct val="90000"/>
              </a:lnSpc>
            </a:pPr>
            <a:endParaRPr lang="en-US" altLang="en-US" dirty="0"/>
          </a:p>
          <a:p>
            <a:pPr>
              <a:lnSpc>
                <a:spcPct val="90000"/>
              </a:lnSpc>
            </a:pPr>
            <a:r>
              <a:rPr lang="en-US" altLang="en-US" dirty="0"/>
              <a:t>For </a:t>
            </a:r>
            <a:r>
              <a:rPr lang="en-US" altLang="en-US" dirty="0" err="1"/>
              <a:t>eg</a:t>
            </a:r>
            <a:r>
              <a:rPr lang="en-US" altLang="en-US" dirty="0"/>
              <a:t>. Consider the following legal CWs:</a:t>
            </a:r>
          </a:p>
          <a:p>
            <a:pPr>
              <a:lnSpc>
                <a:spcPct val="90000"/>
              </a:lnSpc>
              <a:buFont typeface="Wingdings" panose="05000000000000000000" pitchFamily="2" charset="2"/>
              <a:buNone/>
            </a:pPr>
            <a:r>
              <a:rPr lang="en-US" altLang="en-US" dirty="0"/>
              <a:t> 0000000000, 0000011111,1111100000,1111111111</a:t>
            </a:r>
          </a:p>
          <a:p>
            <a:pPr>
              <a:lnSpc>
                <a:spcPct val="90000"/>
              </a:lnSpc>
              <a:buFont typeface="Wingdings" panose="05000000000000000000" pitchFamily="2" charset="2"/>
              <a:buNone/>
            </a:pPr>
            <a:r>
              <a:rPr lang="en-US" altLang="en-US" dirty="0"/>
              <a:t>HD is 5 .. It can be used to correct 2 single bit errors</a:t>
            </a:r>
          </a:p>
          <a:p>
            <a:pPr>
              <a:lnSpc>
                <a:spcPct val="90000"/>
              </a:lnSpc>
              <a:buFont typeface="Wingdings" panose="05000000000000000000" pitchFamily="2" charset="2"/>
              <a:buNone/>
            </a:pPr>
            <a:endParaRPr lang="en-US" altLang="en-US" dirty="0"/>
          </a:p>
          <a:p>
            <a:pPr>
              <a:lnSpc>
                <a:spcPct val="90000"/>
              </a:lnSpc>
            </a:pPr>
            <a:endParaRPr lang="en-US" altLang="en-US" dirty="0"/>
          </a:p>
        </p:txBody>
      </p:sp>
    </p:spTree>
    <p:extLst>
      <p:ext uri="{BB962C8B-B14F-4D97-AF65-F5344CB8AC3E}">
        <p14:creationId xmlns:p14="http://schemas.microsoft.com/office/powerpoint/2010/main" val="1637682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841500" y="52389"/>
            <a:ext cx="8637588" cy="1431925"/>
          </a:xfrm>
        </p:spPr>
        <p:txBody>
          <a:bodyPr/>
          <a:lstStyle/>
          <a:p>
            <a:r>
              <a:rPr lang="en-US" altLang="en-US"/>
              <a:t>Hamming Code to correct burst errors</a:t>
            </a:r>
          </a:p>
        </p:txBody>
      </p:sp>
      <p:pic>
        <p:nvPicPr>
          <p:cNvPr id="46084" name="Picture 4" descr="3-07"/>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581400" y="1890713"/>
            <a:ext cx="4800600" cy="42592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25216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Convolutional code</a:t>
            </a:r>
          </a:p>
        </p:txBody>
      </p:sp>
      <p:sp>
        <p:nvSpPr>
          <p:cNvPr id="3" name="Content Placeholder 2"/>
          <p:cNvSpPr>
            <a:spLocks noGrp="1"/>
          </p:cNvSpPr>
          <p:nvPr>
            <p:ph idx="1"/>
          </p:nvPr>
        </p:nvSpPr>
        <p:spPr/>
        <p:txBody>
          <a:bodyPr>
            <a:normAutofit fontScale="92500"/>
          </a:bodyPr>
          <a:lstStyle/>
          <a:p>
            <a:r>
              <a:rPr lang="en-US" dirty="0"/>
              <a:t>This code is not a block code. In a convolutional code, an encoder processes a sequence of input bits and generates a sequence of output bits. </a:t>
            </a:r>
          </a:p>
          <a:p>
            <a:r>
              <a:rPr lang="en-US" dirty="0"/>
              <a:t>There is no natural message size or encoding boundary as in a block code. </a:t>
            </a:r>
          </a:p>
          <a:p>
            <a:r>
              <a:rPr lang="en-US" dirty="0"/>
              <a:t>The output depends on the current and previous input bits. That is, the encoder has memory. </a:t>
            </a:r>
          </a:p>
          <a:p>
            <a:r>
              <a:rPr lang="en-US" dirty="0"/>
              <a:t>The number of previous bits on which the output depends is called the </a:t>
            </a:r>
            <a:r>
              <a:rPr lang="en-US" b="1" dirty="0"/>
              <a:t>constraint length </a:t>
            </a:r>
            <a:r>
              <a:rPr lang="en-US" dirty="0"/>
              <a:t>of the code. </a:t>
            </a:r>
          </a:p>
          <a:p>
            <a:r>
              <a:rPr lang="en-US" dirty="0"/>
              <a:t>Convolutional codes are specified in terms of their rate and constraint length.</a:t>
            </a:r>
          </a:p>
        </p:txBody>
      </p:sp>
    </p:spTree>
    <p:extLst>
      <p:ext uri="{BB962C8B-B14F-4D97-AF65-F5344CB8AC3E}">
        <p14:creationId xmlns:p14="http://schemas.microsoft.com/office/powerpoint/2010/main" val="368679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Convolutional codes are widely used in deployed networks, for example, as part of the GSM mobile phone system, in satellite communications, and in 802.11.</a:t>
            </a:r>
          </a:p>
        </p:txBody>
      </p:sp>
      <p:pic>
        <p:nvPicPr>
          <p:cNvPr id="4" name="Picture 3"/>
          <p:cNvPicPr>
            <a:picLocks noChangeAspect="1"/>
          </p:cNvPicPr>
          <p:nvPr/>
        </p:nvPicPr>
        <p:blipFill>
          <a:blip r:embed="rId2"/>
          <a:stretch>
            <a:fillRect/>
          </a:stretch>
        </p:blipFill>
        <p:spPr>
          <a:xfrm>
            <a:off x="3158239" y="3374967"/>
            <a:ext cx="5595063" cy="2236123"/>
          </a:xfrm>
          <a:prstGeom prst="rect">
            <a:avLst/>
          </a:prstGeom>
        </p:spPr>
      </p:pic>
      <p:sp>
        <p:nvSpPr>
          <p:cNvPr id="5" name="Rectangle 4"/>
          <p:cNvSpPr/>
          <p:nvPr/>
        </p:nvSpPr>
        <p:spPr>
          <a:xfrm>
            <a:off x="3158239" y="5709360"/>
            <a:ext cx="5553700" cy="369332"/>
          </a:xfrm>
          <a:prstGeom prst="rect">
            <a:avLst/>
          </a:prstGeom>
        </p:spPr>
        <p:txBody>
          <a:bodyPr wrap="none">
            <a:spAutoFit/>
          </a:bodyPr>
          <a:lstStyle/>
          <a:p>
            <a:r>
              <a:rPr lang="en-US" dirty="0">
                <a:latin typeface="Times-Roman"/>
              </a:rPr>
              <a:t>The NASA binary convolutional code used in 802.11.</a:t>
            </a:r>
            <a:endParaRPr lang="en-US" dirty="0"/>
          </a:p>
        </p:txBody>
      </p:sp>
    </p:spTree>
    <p:extLst>
      <p:ext uri="{BB962C8B-B14F-4D97-AF65-F5344CB8AC3E}">
        <p14:creationId xmlns:p14="http://schemas.microsoft.com/office/powerpoint/2010/main" val="45736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This code is known as the NASA convolutional code of </a:t>
            </a:r>
            <a:r>
              <a:rPr lang="en-US" i="1" dirty="0"/>
              <a:t>r </a:t>
            </a:r>
            <a:r>
              <a:rPr lang="en-US" dirty="0"/>
              <a:t>= 1</a:t>
            </a:r>
            <a:r>
              <a:rPr lang="en-US" i="1" dirty="0"/>
              <a:t>/</a:t>
            </a:r>
            <a:r>
              <a:rPr lang="en-US" dirty="0"/>
              <a:t>2 and </a:t>
            </a:r>
            <a:r>
              <a:rPr lang="en-US" i="1" dirty="0"/>
              <a:t>k </a:t>
            </a:r>
            <a:r>
              <a:rPr lang="en-US" dirty="0"/>
              <a:t>= 7, since it was first used for the Voyager space missions starting in 1977. Since then it has been liberally reused, for example, as part of 802.11.</a:t>
            </a:r>
          </a:p>
          <a:p>
            <a:r>
              <a:rPr lang="en-US" dirty="0"/>
              <a:t>In Fig, each input bit on the left-hand side produces two output bits on the right-hand side that are XOR sums of the input and internal state. Since it deals with bits and performs linear operations, this is a binary, linear convolutional code. Since 1 input bit produces 2 output bits, the code rate is 1</a:t>
            </a:r>
            <a:r>
              <a:rPr lang="en-US" i="1" dirty="0"/>
              <a:t>/</a:t>
            </a:r>
            <a:r>
              <a:rPr lang="en-US" dirty="0"/>
              <a:t>2. It is not systematic since none of the output bits is simply the input bit.</a:t>
            </a:r>
          </a:p>
        </p:txBody>
      </p:sp>
    </p:spTree>
    <p:extLst>
      <p:ext uri="{BB962C8B-B14F-4D97-AF65-F5344CB8AC3E}">
        <p14:creationId xmlns:p14="http://schemas.microsoft.com/office/powerpoint/2010/main" val="224266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internal state is kept in six memory registers. Each time another bit is considered as input, the values in the registers are shifted to the right. </a:t>
            </a:r>
          </a:p>
          <a:p>
            <a:r>
              <a:rPr lang="en-US" dirty="0"/>
              <a:t>For example, if 111 is input and the initial state is all zeros, the internal state, written left to right, will become 100000, 110000, and 111000 after the first, second, and third bits have been input.</a:t>
            </a:r>
          </a:p>
          <a:p>
            <a:r>
              <a:rPr lang="en-US" dirty="0"/>
              <a:t>The output bits will be 11, followed by 10, and then 01. It takes seven shifts to flush an input completely so that it does not affect the output. The constraint length of this code is thus </a:t>
            </a:r>
            <a:r>
              <a:rPr lang="en-US" i="1" dirty="0"/>
              <a:t>k </a:t>
            </a:r>
            <a:r>
              <a:rPr lang="en-US" dirty="0"/>
              <a:t>= 7.</a:t>
            </a:r>
          </a:p>
        </p:txBody>
      </p:sp>
    </p:spTree>
    <p:extLst>
      <p:ext uri="{BB962C8B-B14F-4D97-AF65-F5344CB8AC3E}">
        <p14:creationId xmlns:p14="http://schemas.microsoft.com/office/powerpoint/2010/main" val="3255259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A convolutional code is decoded by finding the sequence of input bits that is most likely to have produced the observed sequence of output bits (which includes any errors). </a:t>
            </a:r>
          </a:p>
          <a:p>
            <a:r>
              <a:rPr lang="en-US" dirty="0"/>
              <a:t>For small values of </a:t>
            </a:r>
            <a:r>
              <a:rPr lang="en-US" i="1" dirty="0"/>
              <a:t>k</a:t>
            </a:r>
            <a:r>
              <a:rPr lang="en-US" dirty="0"/>
              <a:t>, this is done with a widely used algorithm developed by Viterbi (Forney, 1973). </a:t>
            </a:r>
          </a:p>
          <a:p>
            <a:r>
              <a:rPr lang="en-US" dirty="0"/>
              <a:t>The algorithm walks the observed sequence, keeping for each step and for each possible internal state the input sequence that would have produced the observed sequence with the fewest errors. </a:t>
            </a:r>
          </a:p>
          <a:p>
            <a:r>
              <a:rPr lang="en-US" dirty="0"/>
              <a:t>The input sequence requiring the fewest errors at the end is the most likely message.</a:t>
            </a:r>
          </a:p>
        </p:txBody>
      </p:sp>
    </p:spTree>
    <p:extLst>
      <p:ext uri="{BB962C8B-B14F-4D97-AF65-F5344CB8AC3E}">
        <p14:creationId xmlns:p14="http://schemas.microsoft.com/office/powerpoint/2010/main" val="2940326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Reed-Solomon code</a:t>
            </a:r>
          </a:p>
        </p:txBody>
      </p:sp>
      <p:sp>
        <p:nvSpPr>
          <p:cNvPr id="3" name="Content Placeholder 2"/>
          <p:cNvSpPr>
            <a:spLocks noGrp="1"/>
          </p:cNvSpPr>
          <p:nvPr>
            <p:ph idx="1"/>
          </p:nvPr>
        </p:nvSpPr>
        <p:spPr/>
        <p:txBody>
          <a:bodyPr/>
          <a:lstStyle/>
          <a:p>
            <a:r>
              <a:rPr lang="en-US" dirty="0"/>
              <a:t>Like Hamming codes, Reed-Solomon codes are linear block codes, and they are often systematic too.</a:t>
            </a:r>
          </a:p>
          <a:p>
            <a:r>
              <a:rPr lang="en-US" dirty="0"/>
              <a:t>Unlike Hamming codes, which operate on individual bits, Reed-Solomon codes operate on </a:t>
            </a:r>
            <a:r>
              <a:rPr lang="en-US" i="1" dirty="0"/>
              <a:t>m </a:t>
            </a:r>
            <a:r>
              <a:rPr lang="en-US" dirty="0"/>
              <a:t>bit symbols. </a:t>
            </a:r>
          </a:p>
          <a:p>
            <a:r>
              <a:rPr lang="en-US" dirty="0"/>
              <a:t>Reed-Solomon codes are based on the fact that every </a:t>
            </a:r>
            <a:r>
              <a:rPr lang="en-US" i="1" dirty="0"/>
              <a:t>n </a:t>
            </a:r>
            <a:r>
              <a:rPr lang="en-US" dirty="0"/>
              <a:t>degree polynomial is uniquely determined by </a:t>
            </a:r>
            <a:r>
              <a:rPr lang="en-US" i="1" dirty="0"/>
              <a:t>n </a:t>
            </a:r>
            <a:r>
              <a:rPr lang="en-US" dirty="0"/>
              <a:t>+ 1 points.</a:t>
            </a:r>
          </a:p>
        </p:txBody>
      </p:sp>
    </p:spTree>
    <p:extLst>
      <p:ext uri="{BB962C8B-B14F-4D97-AF65-F5344CB8AC3E}">
        <p14:creationId xmlns:p14="http://schemas.microsoft.com/office/powerpoint/2010/main" val="3024459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a:t>For example, a line having the form </a:t>
            </a:r>
            <a:r>
              <a:rPr lang="en-US" i="1" dirty="0"/>
              <a:t>ax </a:t>
            </a:r>
            <a:r>
              <a:rPr lang="en-US" dirty="0"/>
              <a:t>+ </a:t>
            </a:r>
            <a:r>
              <a:rPr lang="en-US" i="1" dirty="0"/>
              <a:t>b </a:t>
            </a:r>
            <a:r>
              <a:rPr lang="en-US" dirty="0"/>
              <a:t>is determined by two points. </a:t>
            </a:r>
          </a:p>
          <a:p>
            <a:pPr marL="0" indent="0">
              <a:buNone/>
            </a:pPr>
            <a:r>
              <a:rPr lang="en-US" dirty="0"/>
              <a:t>Extra points on the same line are redundant, which is helpful for error correction. </a:t>
            </a:r>
          </a:p>
          <a:p>
            <a:pPr marL="0" indent="0">
              <a:buNone/>
            </a:pPr>
            <a:r>
              <a:rPr lang="en-US" dirty="0"/>
              <a:t>Imagine that we have two data points that represent a line and we send those two data points plus two check points chosen to lie on the same line. </a:t>
            </a:r>
          </a:p>
          <a:p>
            <a:pPr marL="0" indent="0">
              <a:buNone/>
            </a:pPr>
            <a:r>
              <a:rPr lang="en-US" dirty="0"/>
              <a:t>If one of the points is received in error, we can still recover the data points by fitting a line to the received points. </a:t>
            </a:r>
          </a:p>
          <a:p>
            <a:pPr marL="0" indent="0">
              <a:buNone/>
            </a:pPr>
            <a:r>
              <a:rPr lang="en-US" dirty="0"/>
              <a:t>Three of the points will lie on the line, and one point, the one in error, will not. By finding the line we have corrected the error.</a:t>
            </a:r>
          </a:p>
        </p:txBody>
      </p:sp>
    </p:spTree>
    <p:extLst>
      <p:ext uri="{BB962C8B-B14F-4D97-AF65-F5344CB8AC3E}">
        <p14:creationId xmlns:p14="http://schemas.microsoft.com/office/powerpoint/2010/main" val="3800249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Reed-Solomon codes are actually defined as polynomials that operate over finite fields, but they work in a similar manner. </a:t>
            </a:r>
          </a:p>
          <a:p>
            <a:r>
              <a:rPr lang="en-US" dirty="0"/>
              <a:t>For </a:t>
            </a:r>
            <a:r>
              <a:rPr lang="en-US" i="1" dirty="0"/>
              <a:t>m </a:t>
            </a:r>
            <a:r>
              <a:rPr lang="en-US" dirty="0"/>
              <a:t>bit symbols, the codewords are 2</a:t>
            </a:r>
            <a:r>
              <a:rPr lang="en-US" i="1" dirty="0"/>
              <a:t>m</a:t>
            </a:r>
            <a:r>
              <a:rPr lang="en-US" dirty="0"/>
              <a:t>−1 symbols long.</a:t>
            </a:r>
          </a:p>
          <a:p>
            <a:r>
              <a:rPr lang="en-US" dirty="0"/>
              <a:t> A popular choice is to make </a:t>
            </a:r>
            <a:r>
              <a:rPr lang="en-US" i="1" dirty="0"/>
              <a:t>m </a:t>
            </a:r>
            <a:r>
              <a:rPr lang="en-US" dirty="0"/>
              <a:t>= 8 so that symbols are bytes. A codeword is then 255 bytes long. </a:t>
            </a:r>
          </a:p>
          <a:p>
            <a:r>
              <a:rPr lang="en-US" dirty="0"/>
              <a:t>The (255, 233) code is widely used; it adds 32 redundant symbols to 233 data symbols.</a:t>
            </a:r>
          </a:p>
        </p:txBody>
      </p:sp>
    </p:spTree>
    <p:extLst>
      <p:ext uri="{BB962C8B-B14F-4D97-AF65-F5344CB8AC3E}">
        <p14:creationId xmlns:p14="http://schemas.microsoft.com/office/powerpoint/2010/main" val="2091869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Decoding with error correction is done with an algorithm developed by </a:t>
            </a:r>
            <a:r>
              <a:rPr lang="en-US" dirty="0" err="1"/>
              <a:t>Berlekamp</a:t>
            </a:r>
            <a:r>
              <a:rPr lang="en-US" dirty="0"/>
              <a:t> and Massey that can efficiently perform the fitting task for moderate-length codes (Massey, 1969).</a:t>
            </a:r>
          </a:p>
          <a:p>
            <a:r>
              <a:rPr lang="en-US" dirty="0"/>
              <a:t>Reed-Solomon codes are widely used in practice because of their strong error-correction properties, particularly for burst errors. </a:t>
            </a:r>
          </a:p>
          <a:p>
            <a:r>
              <a:rPr lang="en-US" dirty="0"/>
              <a:t>They are used for Digital </a:t>
            </a:r>
            <a:r>
              <a:rPr lang="en-US"/>
              <a:t>Subscriber Line (DSL), </a:t>
            </a:r>
            <a:r>
              <a:rPr lang="en-US" dirty="0"/>
              <a:t>data over cable, satellite communications, and perhaps most ubiquitously on CDs, DVDs, and Blu-ray discs. </a:t>
            </a:r>
          </a:p>
          <a:p>
            <a:r>
              <a:rPr lang="en-US" dirty="0"/>
              <a:t>Because they are based on </a:t>
            </a:r>
            <a:r>
              <a:rPr lang="en-US" i="1" dirty="0"/>
              <a:t>m </a:t>
            </a:r>
            <a:r>
              <a:rPr lang="en-US" dirty="0"/>
              <a:t>bit symbols, a single-bit error and an </a:t>
            </a:r>
            <a:r>
              <a:rPr lang="en-US" i="1" dirty="0"/>
              <a:t>m</a:t>
            </a:r>
            <a:r>
              <a:rPr lang="en-US" dirty="0"/>
              <a:t>-bit burst error are both treated simply as one symbol error. </a:t>
            </a:r>
          </a:p>
          <a:p>
            <a:r>
              <a:rPr lang="en-US" dirty="0"/>
              <a:t>When </a:t>
            </a:r>
            <a:r>
              <a:rPr lang="en-US" i="1" dirty="0"/>
              <a:t>2t </a:t>
            </a:r>
            <a:r>
              <a:rPr lang="en-US" dirty="0"/>
              <a:t>redundant symbols are added, a Reed-Solomon code is able to correct up to </a:t>
            </a:r>
            <a:r>
              <a:rPr lang="en-US" i="1" dirty="0"/>
              <a:t>t </a:t>
            </a:r>
            <a:r>
              <a:rPr lang="en-US" dirty="0"/>
              <a:t>errors in any of the transmitted symbols.</a:t>
            </a:r>
          </a:p>
        </p:txBody>
      </p:sp>
    </p:spTree>
    <p:extLst>
      <p:ext uri="{BB962C8B-B14F-4D97-AF65-F5344CB8AC3E}">
        <p14:creationId xmlns:p14="http://schemas.microsoft.com/office/powerpoint/2010/main" val="2923448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Reed-Solomon codes are often used in combination with other codes such as a convolutional code.</a:t>
            </a:r>
          </a:p>
          <a:p>
            <a:r>
              <a:rPr lang="en-US" dirty="0"/>
              <a:t>By adding a Reed-Solomon code within the convolutional code, the Reed-Solomon decoding can mop up the error bursts, a task at which it is very good. The overall code then provides good protection against both single and burst errors.</a:t>
            </a:r>
          </a:p>
        </p:txBody>
      </p:sp>
    </p:spTree>
    <p:extLst>
      <p:ext uri="{BB962C8B-B14F-4D97-AF65-F5344CB8AC3E}">
        <p14:creationId xmlns:p14="http://schemas.microsoft.com/office/powerpoint/2010/main" val="3124892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Low-Density Parity Check (LDPC) code.</a:t>
            </a:r>
          </a:p>
        </p:txBody>
      </p:sp>
      <p:sp>
        <p:nvSpPr>
          <p:cNvPr id="3" name="Content Placeholder 2"/>
          <p:cNvSpPr>
            <a:spLocks noGrp="1"/>
          </p:cNvSpPr>
          <p:nvPr>
            <p:ph idx="1"/>
          </p:nvPr>
        </p:nvSpPr>
        <p:spPr/>
        <p:txBody>
          <a:bodyPr>
            <a:normAutofit fontScale="92500" lnSpcReduction="20000"/>
          </a:bodyPr>
          <a:lstStyle/>
          <a:p>
            <a:r>
              <a:rPr lang="en-US" dirty="0"/>
              <a:t>LDPC codes are linear block codes that were invented by Robert Gallagher in his doctoral thesis (Gallagher, 1962). </a:t>
            </a:r>
          </a:p>
          <a:p>
            <a:r>
              <a:rPr lang="en-US" dirty="0"/>
              <a:t>In an LDPC code, each output bit is formed from only a fraction of the input bits. </a:t>
            </a:r>
          </a:p>
          <a:p>
            <a:r>
              <a:rPr lang="en-US" dirty="0"/>
              <a:t> This leads to a matrix representation of the code that has a low density of 1s, hence the name for the code. </a:t>
            </a:r>
          </a:p>
          <a:p>
            <a:r>
              <a:rPr lang="en-US" dirty="0"/>
              <a:t>The received codewords are decoded with an approximation algorithm that iteratively improves on a best fit of the received data to a legal codeword. This corrects errors.</a:t>
            </a:r>
          </a:p>
          <a:p>
            <a:r>
              <a:rPr lang="en-US" dirty="0"/>
              <a:t>LDPC codes are practical for large block sizes and have excellent error-correction abilities that outperform many other codes in practice. For this reason they are rapidly being included in new protocols.</a:t>
            </a:r>
          </a:p>
        </p:txBody>
      </p:sp>
    </p:spTree>
    <p:extLst>
      <p:ext uri="{BB962C8B-B14F-4D97-AF65-F5344CB8AC3E}">
        <p14:creationId xmlns:p14="http://schemas.microsoft.com/office/powerpoint/2010/main" val="2241090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