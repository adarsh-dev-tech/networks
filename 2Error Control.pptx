
<file path=[Content_Types].xml><?xml version="1.0" encoding="utf-8"?>
<Types xmlns="http://schemas.openxmlformats.org/package/2006/content-types">
  <Default ContentType="image/x-wmf" Extension="wmf"/>
  <Default ContentType="application/xml" Extension="xml"/>
  <Default ContentType="image/png" Extension="png"/>
  <Default ContentType="image/jpeg" Extension="jpeg"/>
  <Default ContentType="application/vnd.openxmlformats-officedocument.obfuscatedFont" Extension="odttf"/>
  <Default ContentType="application/vnd.openxmlformats-package.relationships+xml" Extension="rels"/>
  <Default ContentType="image/x-emf" Extension="emf"/>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10.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43.xml"/>
  <Override ContentType="application/vnd.openxmlformats-officedocument.presentationml.slide+xml" PartName="/ppt/slides/slide1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42.xml"/>
  <Override ContentType="application/vnd.openxmlformats-officedocument.presentationml.slide+xml" PartName="/ppt/slides/slide17.xml"/>
  <Override ContentType="application/vnd.openxmlformats-officedocument.presentationml.slide+xml" PartName="/ppt/slides/slide50.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53.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56.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7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55.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63.xml"/>
  <Override ContentType="application/vnd.openxmlformats-officedocument.presentationml.slide+xml" PartName="/ppt/slides/slide58.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57.xml"/>
  <Override ContentType="application/vnd.openxmlformats-officedocument.presentationml.slide+xml" PartName="/ppt/slides/slide27.xml"/>
  <Override ContentType="application/vnd.openxmlformats-officedocument.presentationml.slide+xml" PartName="/ppt/slides/slide44.xml"/>
  <Override ContentType="application/vnd.openxmlformats-officedocument.presentationml.slide+xml" PartName="/ppt/slides/slide2.xml"/>
  <Override ContentType="application/vnd.openxmlformats-officedocument.presentationml.slide+xml" PartName="/ppt/slides/slide14.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7.xml"/><Relationship Id="rId42" Type="http://schemas.openxmlformats.org/officeDocument/2006/relationships/slide" Target="slides/slide39.xml"/><Relationship Id="rId41" Type="http://schemas.openxmlformats.org/officeDocument/2006/relationships/slide" Target="slides/slide38.xml"/><Relationship Id="rId44" Type="http://schemas.openxmlformats.org/officeDocument/2006/relationships/slide" Target="slides/slide41.xml"/><Relationship Id="rId43" Type="http://schemas.openxmlformats.org/officeDocument/2006/relationships/slide" Target="slides/slide40.xml"/><Relationship Id="rId46" Type="http://schemas.openxmlformats.org/officeDocument/2006/relationships/slide" Target="slides/slide43.xml"/><Relationship Id="rId45" Type="http://schemas.openxmlformats.org/officeDocument/2006/relationships/slide" Target="slides/slide42.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slide" Target="slides/slide1.xml"/><Relationship Id="rId9" Type="http://schemas.openxmlformats.org/officeDocument/2006/relationships/slide" Target="slides/slide6.xml"/><Relationship Id="rId48" Type="http://schemas.openxmlformats.org/officeDocument/2006/relationships/slide" Target="slides/slide45.xml"/><Relationship Id="rId47" Type="http://schemas.openxmlformats.org/officeDocument/2006/relationships/slide" Target="slides/slide44.xml"/><Relationship Id="rId49" Type="http://schemas.openxmlformats.org/officeDocument/2006/relationships/slide" Target="slides/slide46.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73" Type="http://schemas.openxmlformats.org/officeDocument/2006/relationships/slide" Target="slides/slide70.xml"/><Relationship Id="rId72" Type="http://schemas.openxmlformats.org/officeDocument/2006/relationships/slide" Target="slides/slide69.xml"/><Relationship Id="rId31" Type="http://schemas.openxmlformats.org/officeDocument/2006/relationships/slide" Target="slides/slide28.xml"/><Relationship Id="rId75" Type="http://schemas.openxmlformats.org/officeDocument/2006/relationships/slide" Target="slides/slide72.xml"/><Relationship Id="rId30" Type="http://schemas.openxmlformats.org/officeDocument/2006/relationships/slide" Target="slides/slide27.xml"/><Relationship Id="rId74" Type="http://schemas.openxmlformats.org/officeDocument/2006/relationships/slide" Target="slides/slide71.xml"/><Relationship Id="rId33" Type="http://schemas.openxmlformats.org/officeDocument/2006/relationships/slide" Target="slides/slide30.xml"/><Relationship Id="rId77" Type="http://schemas.openxmlformats.org/officeDocument/2006/relationships/slide" Target="slides/slide74.xml"/><Relationship Id="rId32" Type="http://schemas.openxmlformats.org/officeDocument/2006/relationships/slide" Target="slides/slide29.xml"/><Relationship Id="rId76" Type="http://schemas.openxmlformats.org/officeDocument/2006/relationships/slide" Target="slides/slide73.xml"/><Relationship Id="rId35" Type="http://schemas.openxmlformats.org/officeDocument/2006/relationships/slide" Target="slides/slide32.xml"/><Relationship Id="rId34" Type="http://schemas.openxmlformats.org/officeDocument/2006/relationships/slide" Target="slides/slide31.xml"/><Relationship Id="rId78" Type="http://schemas.openxmlformats.org/officeDocument/2006/relationships/slide" Target="slides/slide75.xml"/><Relationship Id="rId71" Type="http://schemas.openxmlformats.org/officeDocument/2006/relationships/slide" Target="slides/slide68.xml"/><Relationship Id="rId70" Type="http://schemas.openxmlformats.org/officeDocument/2006/relationships/slide" Target="slides/slide67.xml"/><Relationship Id="rId37" Type="http://schemas.openxmlformats.org/officeDocument/2006/relationships/slide" Target="slides/slide34.xml"/><Relationship Id="rId36" Type="http://schemas.openxmlformats.org/officeDocument/2006/relationships/slide" Target="slides/slide33.xml"/><Relationship Id="rId39" Type="http://schemas.openxmlformats.org/officeDocument/2006/relationships/slide" Target="slides/slide36.xml"/><Relationship Id="rId38" Type="http://schemas.openxmlformats.org/officeDocument/2006/relationships/slide" Target="slides/slide35.xml"/><Relationship Id="rId62" Type="http://schemas.openxmlformats.org/officeDocument/2006/relationships/slide" Target="slides/slide59.xml"/><Relationship Id="rId61" Type="http://schemas.openxmlformats.org/officeDocument/2006/relationships/slide" Target="slides/slide58.xml"/><Relationship Id="rId20" Type="http://schemas.openxmlformats.org/officeDocument/2006/relationships/slide" Target="slides/slide17.xml"/><Relationship Id="rId64" Type="http://schemas.openxmlformats.org/officeDocument/2006/relationships/slide" Target="slides/slide61.xml"/><Relationship Id="rId63" Type="http://schemas.openxmlformats.org/officeDocument/2006/relationships/slide" Target="slides/slide60.xml"/><Relationship Id="rId22" Type="http://schemas.openxmlformats.org/officeDocument/2006/relationships/slide" Target="slides/slide19.xml"/><Relationship Id="rId66" Type="http://schemas.openxmlformats.org/officeDocument/2006/relationships/slide" Target="slides/slide63.xml"/><Relationship Id="rId21" Type="http://schemas.openxmlformats.org/officeDocument/2006/relationships/slide" Target="slides/slide18.xml"/><Relationship Id="rId65" Type="http://schemas.openxmlformats.org/officeDocument/2006/relationships/slide" Target="slides/slide62.xml"/><Relationship Id="rId24" Type="http://schemas.openxmlformats.org/officeDocument/2006/relationships/slide" Target="slides/slide21.xml"/><Relationship Id="rId68" Type="http://schemas.openxmlformats.org/officeDocument/2006/relationships/slide" Target="slides/slide65.xml"/><Relationship Id="rId23" Type="http://schemas.openxmlformats.org/officeDocument/2006/relationships/slide" Target="slides/slide20.xml"/><Relationship Id="rId67" Type="http://schemas.openxmlformats.org/officeDocument/2006/relationships/slide" Target="slides/slide64.xml"/><Relationship Id="rId60" Type="http://schemas.openxmlformats.org/officeDocument/2006/relationships/slide" Target="slides/slide57.xml"/><Relationship Id="rId26" Type="http://schemas.openxmlformats.org/officeDocument/2006/relationships/slide" Target="slides/slide23.xml"/><Relationship Id="rId25" Type="http://schemas.openxmlformats.org/officeDocument/2006/relationships/slide" Target="slides/slide22.xml"/><Relationship Id="rId69" Type="http://schemas.openxmlformats.org/officeDocument/2006/relationships/slide" Target="slides/slide66.xml"/><Relationship Id="rId28" Type="http://schemas.openxmlformats.org/officeDocument/2006/relationships/slide" Target="slides/slide25.xml"/><Relationship Id="rId27" Type="http://schemas.openxmlformats.org/officeDocument/2006/relationships/slide" Target="slides/slide24.xml"/><Relationship Id="rId29" Type="http://schemas.openxmlformats.org/officeDocument/2006/relationships/slide" Target="slides/slide26.xml"/><Relationship Id="rId51" Type="http://schemas.openxmlformats.org/officeDocument/2006/relationships/slide" Target="slides/slide48.xml"/><Relationship Id="rId50" Type="http://schemas.openxmlformats.org/officeDocument/2006/relationships/slide" Target="slides/slide47.xml"/><Relationship Id="rId53" Type="http://schemas.openxmlformats.org/officeDocument/2006/relationships/slide" Target="slides/slide50.xml"/><Relationship Id="rId52" Type="http://schemas.openxmlformats.org/officeDocument/2006/relationships/slide" Target="slides/slide49.xml"/><Relationship Id="rId11" Type="http://schemas.openxmlformats.org/officeDocument/2006/relationships/slide" Target="slides/slide8.xml"/><Relationship Id="rId55" Type="http://schemas.openxmlformats.org/officeDocument/2006/relationships/slide" Target="slides/slide52.xml"/><Relationship Id="rId10" Type="http://schemas.openxmlformats.org/officeDocument/2006/relationships/slide" Target="slides/slide7.xml"/><Relationship Id="rId54" Type="http://schemas.openxmlformats.org/officeDocument/2006/relationships/slide" Target="slides/slide51.xml"/><Relationship Id="rId13" Type="http://schemas.openxmlformats.org/officeDocument/2006/relationships/slide" Target="slides/slide10.xml"/><Relationship Id="rId57" Type="http://schemas.openxmlformats.org/officeDocument/2006/relationships/slide" Target="slides/slide54.xml"/><Relationship Id="rId12" Type="http://schemas.openxmlformats.org/officeDocument/2006/relationships/slide" Target="slides/slide9.xml"/><Relationship Id="rId56" Type="http://schemas.openxmlformats.org/officeDocument/2006/relationships/slide" Target="slides/slide53.xml"/><Relationship Id="rId15" Type="http://schemas.openxmlformats.org/officeDocument/2006/relationships/slide" Target="slides/slide12.xml"/><Relationship Id="rId59" Type="http://schemas.openxmlformats.org/officeDocument/2006/relationships/slide" Target="slides/slide56.xml"/><Relationship Id="rId14" Type="http://schemas.openxmlformats.org/officeDocument/2006/relationships/slide" Target="slides/slide11.xml"/><Relationship Id="rId58" Type="http://schemas.openxmlformats.org/officeDocument/2006/relationships/slide" Target="slides/slide55.xml"/><Relationship Id="rId17" Type="http://schemas.openxmlformats.org/officeDocument/2006/relationships/slide" Target="slides/slide14.xml"/><Relationship Id="rId16" Type="http://schemas.openxmlformats.org/officeDocument/2006/relationships/slide" Target="slides/slide13.xml"/><Relationship Id="rId19" Type="http://schemas.openxmlformats.org/officeDocument/2006/relationships/slide" Target="slides/slide16.xml"/><Relationship Id="rId18"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FCDA6F6-B665-44F3-B703-33B9A8FEAA58}" type="datetimeFigureOut">
              <a:rPr lang="en-IN" smtClean="0"/>
              <a:t>01-09-2026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BD05EF-B1D1-4BA1-9C6A-B1753A38BDFA}" type="slidenum">
              <a:rPr lang="en-IN" smtClean="0"/>
              <a:t>‹#›</a:t>
            </a:fld>
            <a:endParaRPr lang="en-IN"/>
          </a:p>
        </p:txBody>
      </p:sp>
    </p:spTree>
    <p:extLst>
      <p:ext uri="{BB962C8B-B14F-4D97-AF65-F5344CB8AC3E}">
        <p14:creationId xmlns:p14="http://schemas.microsoft.com/office/powerpoint/2010/main" val="3780393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FCDA6F6-B665-44F3-B703-33B9A8FEAA58}" type="datetimeFigureOut">
              <a:rPr lang="en-IN" smtClean="0"/>
              <a:t>01-09-2026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BD05EF-B1D1-4BA1-9C6A-B1753A38BDFA}" type="slidenum">
              <a:rPr lang="en-IN" smtClean="0"/>
              <a:t>‹#›</a:t>
            </a:fld>
            <a:endParaRPr lang="en-IN"/>
          </a:p>
        </p:txBody>
      </p:sp>
    </p:spTree>
    <p:extLst>
      <p:ext uri="{BB962C8B-B14F-4D97-AF65-F5344CB8AC3E}">
        <p14:creationId xmlns:p14="http://schemas.microsoft.com/office/powerpoint/2010/main" val="2033977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FCDA6F6-B665-44F3-B703-33B9A8FEAA58}" type="datetimeFigureOut">
              <a:rPr lang="en-IN" smtClean="0"/>
              <a:t>01-09-2026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BD05EF-B1D1-4BA1-9C6A-B1753A38BDFA}" type="slidenum">
              <a:rPr lang="en-IN" smtClean="0"/>
              <a:t>‹#›</a:t>
            </a:fld>
            <a:endParaRPr lang="en-IN"/>
          </a:p>
        </p:txBody>
      </p:sp>
    </p:spTree>
    <p:extLst>
      <p:ext uri="{BB962C8B-B14F-4D97-AF65-F5344CB8AC3E}">
        <p14:creationId xmlns:p14="http://schemas.microsoft.com/office/powerpoint/2010/main" val="3328582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FCDA6F6-B665-44F3-B703-33B9A8FEAA58}" type="datetimeFigureOut">
              <a:rPr lang="en-IN" smtClean="0"/>
              <a:t>01-09-2026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7BD05EF-B1D1-4BA1-9C6A-B1753A38BDFA}" type="slidenum">
              <a:rPr lang="en-IN" smtClean="0"/>
              <a:t>‹#›</a:t>
            </a:fld>
            <a:endParaRPr lang="en-IN"/>
          </a:p>
        </p:txBody>
      </p:sp>
    </p:spTree>
    <p:extLst>
      <p:ext uri="{BB962C8B-B14F-4D97-AF65-F5344CB8AC3E}">
        <p14:creationId xmlns:p14="http://schemas.microsoft.com/office/powerpoint/2010/main" val="3668819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FCDA6F6-B665-44F3-B703-33B9A8FEAA58}" type="datetimeFigureOut">
              <a:rPr lang="en-IN" smtClean="0"/>
              <a:t>01-09-2026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7BD05EF-B1D1-4BA1-9C6A-B1753A38BDFA}" type="slidenum">
              <a:rPr lang="en-IN" smtClean="0"/>
              <a:t>‹#›</a:t>
            </a:fld>
            <a:endParaRPr lang="en-IN"/>
          </a:p>
        </p:txBody>
      </p:sp>
    </p:spTree>
    <p:extLst>
      <p:ext uri="{BB962C8B-B14F-4D97-AF65-F5344CB8AC3E}">
        <p14:creationId xmlns:p14="http://schemas.microsoft.com/office/powerpoint/2010/main" val="1711673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FCDA6F6-B665-44F3-B703-33B9A8FEAA58}" type="datetimeFigureOut">
              <a:rPr lang="en-IN" smtClean="0"/>
              <a:t>01-09-2026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7BD05EF-B1D1-4BA1-9C6A-B1753A38BDFA}" type="slidenum">
              <a:rPr lang="en-IN" smtClean="0"/>
              <a:t>‹#›</a:t>
            </a:fld>
            <a:endParaRPr lang="en-IN"/>
          </a:p>
        </p:txBody>
      </p:sp>
    </p:spTree>
    <p:extLst>
      <p:ext uri="{BB962C8B-B14F-4D97-AF65-F5344CB8AC3E}">
        <p14:creationId xmlns:p14="http://schemas.microsoft.com/office/powerpoint/2010/main" val="2861860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CDA6F6-B665-44F3-B703-33B9A8FEAA58}" type="datetimeFigureOut">
              <a:rPr lang="en-IN" smtClean="0"/>
              <a:t>01-09-2026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7BD05EF-B1D1-4BA1-9C6A-B1753A38BDFA}" type="slidenum">
              <a:rPr lang="en-IN" smtClean="0"/>
              <a:t>‹#›</a:t>
            </a:fld>
            <a:endParaRPr lang="en-IN"/>
          </a:p>
        </p:txBody>
      </p:sp>
    </p:spTree>
    <p:extLst>
      <p:ext uri="{BB962C8B-B14F-4D97-AF65-F5344CB8AC3E}">
        <p14:creationId xmlns:p14="http://schemas.microsoft.com/office/powerpoint/2010/main" val="3676809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FCDA6F6-B665-44F3-B703-33B9A8FEAA58}" type="datetimeFigureOut">
              <a:rPr lang="en-IN" smtClean="0"/>
              <a:t>01-09-2026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7BD05EF-B1D1-4BA1-9C6A-B1753A38BDFA}" type="slidenum">
              <a:rPr lang="en-IN" smtClean="0"/>
              <a:t>‹#›</a:t>
            </a:fld>
            <a:endParaRPr lang="en-IN"/>
          </a:p>
        </p:txBody>
      </p:sp>
    </p:spTree>
    <p:extLst>
      <p:ext uri="{BB962C8B-B14F-4D97-AF65-F5344CB8AC3E}">
        <p14:creationId xmlns:p14="http://schemas.microsoft.com/office/powerpoint/2010/main" val="319735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FCDA6F6-B665-44F3-B703-33B9A8FEAA58}" type="datetimeFigureOut">
              <a:rPr lang="en-IN" smtClean="0"/>
              <a:t>01-09-2026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7BD05EF-B1D1-4BA1-9C6A-B1753A38BDFA}" type="slidenum">
              <a:rPr lang="en-IN" smtClean="0"/>
              <a:t>‹#›</a:t>
            </a:fld>
            <a:endParaRPr lang="en-IN"/>
          </a:p>
        </p:txBody>
      </p:sp>
    </p:spTree>
    <p:extLst>
      <p:ext uri="{BB962C8B-B14F-4D97-AF65-F5344CB8AC3E}">
        <p14:creationId xmlns:p14="http://schemas.microsoft.com/office/powerpoint/2010/main" val="3039048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FCDA6F6-B665-44F3-B703-33B9A8FEAA58}" type="datetimeFigureOut">
              <a:rPr lang="en-IN" smtClean="0"/>
              <a:t>01-09-2026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BD05EF-B1D1-4BA1-9C6A-B1753A38BDFA}" type="slidenum">
              <a:rPr lang="en-IN" smtClean="0"/>
              <a:t>‹#›</a:t>
            </a:fld>
            <a:endParaRPr lang="en-IN"/>
          </a:p>
        </p:txBody>
      </p:sp>
    </p:spTree>
    <p:extLst>
      <p:ext uri="{BB962C8B-B14F-4D97-AF65-F5344CB8AC3E}">
        <p14:creationId xmlns:p14="http://schemas.microsoft.com/office/powerpoint/2010/main" val="660600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FCDA6F6-B665-44F3-B703-33B9A8FEAA58}" type="datetimeFigureOut">
              <a:rPr lang="en-IN" smtClean="0"/>
              <a:t>01-09-2026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BD05EF-B1D1-4BA1-9C6A-B1753A38BDFA}" type="slidenum">
              <a:rPr lang="en-IN" smtClean="0"/>
              <a:t>‹#›</a:t>
            </a:fld>
            <a:endParaRPr lang="en-IN"/>
          </a:p>
        </p:txBody>
      </p:sp>
    </p:spTree>
    <p:extLst>
      <p:ext uri="{BB962C8B-B14F-4D97-AF65-F5344CB8AC3E}">
        <p14:creationId xmlns:p14="http://schemas.microsoft.com/office/powerpoint/2010/main" val="3300180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CDA6F6-B665-44F3-B703-33B9A8FEAA58}" type="datetimeFigureOut">
              <a:rPr lang="en-IN" smtClean="0"/>
              <a:t>01-09-2026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BD05EF-B1D1-4BA1-9C6A-B1753A38BDFA}" type="slidenum">
              <a:rPr lang="en-IN" smtClean="0"/>
              <a:t>‹#›</a:t>
            </a:fld>
            <a:endParaRPr lang="en-IN"/>
          </a:p>
        </p:txBody>
      </p:sp>
    </p:spTree>
    <p:extLst>
      <p:ext uri="{BB962C8B-B14F-4D97-AF65-F5344CB8AC3E}">
        <p14:creationId xmlns:p14="http://schemas.microsoft.com/office/powerpoint/2010/main" val="3173829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www.electronicshub.org/wp-content/uploads/2015/05/e3.jp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hyperlink" Target="https://www.electronicshub.org/wp-content/uploads/2015/05/66.jpg"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Error Control</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517874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en-US"/>
              <a:t>Error Control</a:t>
            </a:r>
          </a:p>
        </p:txBody>
      </p:sp>
      <p:sp>
        <p:nvSpPr>
          <p:cNvPr id="14339" name="Rectangle 3"/>
          <p:cNvSpPr>
            <a:spLocks noGrp="1" noChangeArrowheads="1"/>
          </p:cNvSpPr>
          <p:nvPr>
            <p:ph type="body" idx="1"/>
          </p:nvPr>
        </p:nvSpPr>
        <p:spPr/>
        <p:txBody>
          <a:bodyPr/>
          <a:lstStyle/>
          <a:p>
            <a:r>
              <a:rPr lang="en-US" altLang="en-US" dirty="0"/>
              <a:t>Positive and Negative feedback</a:t>
            </a:r>
          </a:p>
          <a:p>
            <a:r>
              <a:rPr lang="en-US" altLang="en-US" dirty="0"/>
              <a:t>Timers : what happens when a frame completely vanishes : receiver neither sends a +</a:t>
            </a:r>
            <a:r>
              <a:rPr lang="en-US" altLang="en-US" dirty="0" err="1"/>
              <a:t>ack</a:t>
            </a:r>
            <a:r>
              <a:rPr lang="en-US" altLang="en-US" dirty="0"/>
              <a:t> nor –</a:t>
            </a:r>
            <a:r>
              <a:rPr lang="en-US" altLang="en-US" dirty="0" err="1"/>
              <a:t>ack</a:t>
            </a:r>
            <a:r>
              <a:rPr lang="en-US" altLang="en-US" dirty="0"/>
              <a:t> … then timer comes to help.</a:t>
            </a:r>
          </a:p>
          <a:p>
            <a:pPr lvl="1"/>
            <a:r>
              <a:rPr lang="en-US" altLang="en-US" dirty="0"/>
              <a:t>It may result in a frame being sent more than once and received more than once : </a:t>
            </a:r>
          </a:p>
          <a:p>
            <a:pPr lvl="1"/>
            <a:r>
              <a:rPr lang="en-US" altLang="en-US" dirty="0"/>
              <a:t>solution :  assign sequence numbers to frames</a:t>
            </a:r>
          </a:p>
        </p:txBody>
      </p:sp>
    </p:spTree>
    <p:extLst>
      <p:ext uri="{BB962C8B-B14F-4D97-AF65-F5344CB8AC3E}">
        <p14:creationId xmlns:p14="http://schemas.microsoft.com/office/powerpoint/2010/main" val="3557273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en-US" dirty="0"/>
              <a:t>Error Detection and Correction</a:t>
            </a:r>
          </a:p>
        </p:txBody>
      </p:sp>
      <p:sp>
        <p:nvSpPr>
          <p:cNvPr id="15363" name="Rectangle 3"/>
          <p:cNvSpPr>
            <a:spLocks noGrp="1" noChangeArrowheads="1"/>
          </p:cNvSpPr>
          <p:nvPr>
            <p:ph type="body" idx="1"/>
          </p:nvPr>
        </p:nvSpPr>
        <p:spPr/>
        <p:txBody>
          <a:bodyPr/>
          <a:lstStyle/>
          <a:p>
            <a:r>
              <a:rPr lang="en-US" altLang="en-US"/>
              <a:t>In some cases it is sufficient to detect an error and in some, it requires the errors to be corrected also. For eg.</a:t>
            </a:r>
          </a:p>
          <a:p>
            <a:pPr lvl="1"/>
            <a:r>
              <a:rPr lang="en-US" altLang="en-US"/>
              <a:t>On a reliable medium : ED is sufficient where the error rate is low and asking for retransmission after ED would work efficiently</a:t>
            </a:r>
          </a:p>
          <a:p>
            <a:pPr lvl="1"/>
            <a:r>
              <a:rPr lang="en-US" altLang="en-US"/>
              <a:t>In contrast, on an unreliable medium : Retransmission after ED may result in another error and still another and so on. Hence EC is desirable.</a:t>
            </a:r>
          </a:p>
        </p:txBody>
      </p:sp>
    </p:spTree>
    <p:extLst>
      <p:ext uri="{BB962C8B-B14F-4D97-AF65-F5344CB8AC3E}">
        <p14:creationId xmlns:p14="http://schemas.microsoft.com/office/powerpoint/2010/main" val="2593810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Error Detection and Correction</a:t>
            </a:r>
            <a:endParaRPr lang="en-IN" dirty="0"/>
          </a:p>
        </p:txBody>
      </p:sp>
      <p:sp>
        <p:nvSpPr>
          <p:cNvPr id="3" name="Content Placeholder 2"/>
          <p:cNvSpPr>
            <a:spLocks noGrp="1"/>
          </p:cNvSpPr>
          <p:nvPr>
            <p:ph idx="1"/>
          </p:nvPr>
        </p:nvSpPr>
        <p:spPr/>
        <p:txBody>
          <a:bodyPr/>
          <a:lstStyle/>
          <a:p>
            <a:r>
              <a:rPr lang="en-IN" dirty="0"/>
              <a:t>Networks must be able to transfer data from one device to another with complete accuracy.</a:t>
            </a:r>
          </a:p>
          <a:p>
            <a:r>
              <a:rPr lang="en-IN" dirty="0"/>
              <a:t>Data can be corrupted during transmission.</a:t>
            </a:r>
          </a:p>
          <a:p>
            <a:r>
              <a:rPr lang="en-IN" dirty="0"/>
              <a:t>For reliable communication, errors must be detected and corrected.</a:t>
            </a:r>
          </a:p>
          <a:p>
            <a:r>
              <a:rPr lang="en-IN" dirty="0"/>
              <a:t>Error detection and correction are implemented either at the data link layer or the transport layer of the OSI model.</a:t>
            </a:r>
          </a:p>
          <a:p>
            <a:endParaRPr lang="en-IN" dirty="0"/>
          </a:p>
        </p:txBody>
      </p:sp>
    </p:spTree>
    <p:extLst>
      <p:ext uri="{BB962C8B-B14F-4D97-AF65-F5344CB8AC3E}">
        <p14:creationId xmlns:p14="http://schemas.microsoft.com/office/powerpoint/2010/main" val="2446436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IN" dirty="0"/>
              <a:t>Network designers have developed two basic strategies for dealing with errors. Both add redundant information to the data that is sent. </a:t>
            </a:r>
          </a:p>
          <a:p>
            <a:r>
              <a:rPr lang="en-IN" dirty="0"/>
              <a:t>One strategy is to include enough redundant information to enable the receiver to deduce what the transmitted data must have been. </a:t>
            </a:r>
          </a:p>
          <a:p>
            <a:r>
              <a:rPr lang="en-IN" dirty="0"/>
              <a:t>The other is to include only enough redundancy to allow the receiver to deduce that an error has occurred (but not which error) and have it request a retransmission.</a:t>
            </a:r>
          </a:p>
          <a:p>
            <a:r>
              <a:rPr lang="en-IN" dirty="0"/>
              <a:t> The former strategy uses error-correcting codes and the latter uses error-detecting codes.</a:t>
            </a:r>
          </a:p>
          <a:p>
            <a:r>
              <a:rPr lang="en-IN" dirty="0"/>
              <a:t>Use of error-correcting codes is called as Forward Error Correction</a:t>
            </a:r>
          </a:p>
        </p:txBody>
      </p:sp>
    </p:spTree>
    <p:extLst>
      <p:ext uri="{BB962C8B-B14F-4D97-AF65-F5344CB8AC3E}">
        <p14:creationId xmlns:p14="http://schemas.microsoft.com/office/powerpoint/2010/main" val="1122927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5822" y="2276929"/>
            <a:ext cx="8288262" cy="2422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99" name="Text Box 6"/>
          <p:cNvSpPr txBox="1">
            <a:spLocks noChangeArrowheads="1"/>
          </p:cNvSpPr>
          <p:nvPr/>
        </p:nvSpPr>
        <p:spPr bwMode="auto">
          <a:xfrm>
            <a:off x="2836757" y="675883"/>
            <a:ext cx="6032500" cy="633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517" tIns="45258" rIns="90517" bIns="45258">
            <a:spAutoFit/>
          </a:bodyPr>
          <a:lstStyle>
            <a:lvl1pPr>
              <a:defRPr sz="2500">
                <a:solidFill>
                  <a:schemeClr val="tx1"/>
                </a:solidFill>
                <a:latin typeface="Times New Roman" panose="02020603050405020304" pitchFamily="18" charset="0"/>
              </a:defRPr>
            </a:lvl1pPr>
            <a:lvl2pPr marL="742950" indent="-285750">
              <a:defRPr sz="2500">
                <a:solidFill>
                  <a:schemeClr val="tx1"/>
                </a:solidFill>
                <a:latin typeface="Times New Roman" panose="02020603050405020304" pitchFamily="18" charset="0"/>
              </a:defRPr>
            </a:lvl2pPr>
            <a:lvl3pPr marL="1143000" indent="-228600">
              <a:defRPr sz="2500">
                <a:solidFill>
                  <a:schemeClr val="tx1"/>
                </a:solidFill>
                <a:latin typeface="Times New Roman" panose="02020603050405020304" pitchFamily="18" charset="0"/>
              </a:defRPr>
            </a:lvl3pPr>
            <a:lvl4pPr marL="1600200" indent="-228600">
              <a:defRPr sz="2500">
                <a:solidFill>
                  <a:schemeClr val="tx1"/>
                </a:solidFill>
                <a:latin typeface="Times New Roman" panose="02020603050405020304" pitchFamily="18" charset="0"/>
              </a:defRPr>
            </a:lvl4pPr>
            <a:lvl5pPr marL="2057400" indent="-228600">
              <a:defRPr sz="2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500">
                <a:solidFill>
                  <a:schemeClr val="tx1"/>
                </a:solidFill>
                <a:latin typeface="Times New Roman" panose="02020603050405020304" pitchFamily="18" charset="0"/>
              </a:defRPr>
            </a:lvl9pPr>
          </a:lstStyle>
          <a:p>
            <a:pPr algn="ctr"/>
            <a:r>
              <a:rPr lang="en-US" altLang="en-US" sz="3524" dirty="0"/>
              <a:t>Types of Errors</a:t>
            </a:r>
          </a:p>
        </p:txBody>
      </p:sp>
    </p:spTree>
    <p:extLst>
      <p:ext uri="{BB962C8B-B14F-4D97-AF65-F5344CB8AC3E}">
        <p14:creationId xmlns:p14="http://schemas.microsoft.com/office/powerpoint/2010/main" val="315860621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4763" y="2521857"/>
            <a:ext cx="8427357" cy="1900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3" name="Rectangle 3"/>
          <p:cNvSpPr>
            <a:spLocks noChangeArrowheads="1"/>
          </p:cNvSpPr>
          <p:nvPr/>
        </p:nvSpPr>
        <p:spPr bwMode="auto">
          <a:xfrm>
            <a:off x="4354287" y="498929"/>
            <a:ext cx="2855412" cy="572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574" tIns="44001" rIns="89574" bIns="44001">
            <a:spAutoFit/>
          </a:bodyPr>
          <a:lstStyle>
            <a:lvl1pPr>
              <a:defRPr sz="2500">
                <a:solidFill>
                  <a:schemeClr val="tx1"/>
                </a:solidFill>
                <a:latin typeface="Times New Roman" panose="02020603050405020304" pitchFamily="18" charset="0"/>
              </a:defRPr>
            </a:lvl1pPr>
            <a:lvl2pPr marL="742950" indent="-285750">
              <a:defRPr sz="2500">
                <a:solidFill>
                  <a:schemeClr val="tx1"/>
                </a:solidFill>
                <a:latin typeface="Times New Roman" panose="02020603050405020304" pitchFamily="18" charset="0"/>
              </a:defRPr>
            </a:lvl2pPr>
            <a:lvl3pPr marL="1143000" indent="-228600">
              <a:defRPr sz="2500">
                <a:solidFill>
                  <a:schemeClr val="tx1"/>
                </a:solidFill>
                <a:latin typeface="Times New Roman" panose="02020603050405020304" pitchFamily="18" charset="0"/>
              </a:defRPr>
            </a:lvl3pPr>
            <a:lvl4pPr marL="1600200" indent="-228600">
              <a:defRPr sz="2500">
                <a:solidFill>
                  <a:schemeClr val="tx1"/>
                </a:solidFill>
                <a:latin typeface="Times New Roman" panose="02020603050405020304" pitchFamily="18" charset="0"/>
              </a:defRPr>
            </a:lvl4pPr>
            <a:lvl5pPr marL="2057400" indent="-228600">
              <a:defRPr sz="2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500">
                <a:solidFill>
                  <a:schemeClr val="tx1"/>
                </a:solidFill>
                <a:latin typeface="Times New Roman" panose="02020603050405020304" pitchFamily="18" charset="0"/>
              </a:defRPr>
            </a:lvl9pPr>
          </a:lstStyle>
          <a:p>
            <a:r>
              <a:rPr lang="en-US" altLang="en-US" sz="3143" b="1">
                <a:solidFill>
                  <a:srgbClr val="00279F"/>
                </a:solidFill>
              </a:rPr>
              <a:t>Single-bit error</a:t>
            </a:r>
          </a:p>
        </p:txBody>
      </p:sp>
    </p:spTree>
    <p:extLst>
      <p:ext uri="{BB962C8B-B14F-4D97-AF65-F5344CB8AC3E}">
        <p14:creationId xmlns:p14="http://schemas.microsoft.com/office/powerpoint/2010/main" val="31514065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16387" name="Rectangle 3"/>
          <p:cNvSpPr>
            <a:spLocks noGrp="1" noChangeArrowheads="1"/>
          </p:cNvSpPr>
          <p:nvPr>
            <p:ph idx="1"/>
          </p:nvPr>
        </p:nvSpPr>
        <p:spPr/>
        <p:txBody>
          <a:bodyPr/>
          <a:lstStyle/>
          <a:p>
            <a:pPr marL="339445" indent="-339445">
              <a:buNone/>
              <a:defRPr/>
            </a:pPr>
            <a:r>
              <a:rPr lang="en-US" dirty="0"/>
              <a:t>   Single bit errors are the least likely type of errors in serial data transmission because the noise must have a very short duration which is very rare. However this kind of errors can happen in parallel transmission.</a:t>
            </a:r>
          </a:p>
          <a:p>
            <a:pPr marL="339445" indent="-339445">
              <a:buNone/>
              <a:defRPr/>
            </a:pPr>
            <a:r>
              <a:rPr lang="en-US" dirty="0"/>
              <a:t>Example:</a:t>
            </a:r>
          </a:p>
          <a:p>
            <a:pPr>
              <a:defRPr/>
            </a:pPr>
            <a:r>
              <a:rPr lang="en-US" dirty="0"/>
              <a:t>If data is sent at 1Mbps then each bit lasts only 1/1,000,000 sec. or 1 </a:t>
            </a:r>
            <a:r>
              <a:rPr lang="el-GR" dirty="0">
                <a:cs typeface="Times New Roman" pitchFamily="18" charset="0"/>
              </a:rPr>
              <a:t>μ</a:t>
            </a:r>
            <a:r>
              <a:rPr lang="en-US" dirty="0">
                <a:cs typeface="Times New Roman" pitchFamily="18" charset="0"/>
              </a:rPr>
              <a:t>s.</a:t>
            </a:r>
          </a:p>
          <a:p>
            <a:pPr>
              <a:defRPr/>
            </a:pPr>
            <a:r>
              <a:rPr lang="en-US" dirty="0">
                <a:cs typeface="Times New Roman" pitchFamily="18" charset="0"/>
              </a:rPr>
              <a:t>For a single-bit error to occur, the noise must have a duration of only 1 </a:t>
            </a:r>
            <a:r>
              <a:rPr lang="el-GR" dirty="0">
                <a:cs typeface="Times New Roman" pitchFamily="18" charset="0"/>
              </a:rPr>
              <a:t>μ</a:t>
            </a:r>
            <a:r>
              <a:rPr lang="en-US" dirty="0">
                <a:cs typeface="Times New Roman" pitchFamily="18" charset="0"/>
              </a:rPr>
              <a:t>s, which is very rare.</a:t>
            </a:r>
            <a:endParaRPr lang="el-GR" dirty="0">
              <a:cs typeface="Times New Roman" pitchFamily="18" charset="0"/>
            </a:endParaRPr>
          </a:p>
          <a:p>
            <a:pPr marL="339445" indent="-339445">
              <a:buNone/>
              <a:defRPr/>
            </a:pPr>
            <a:endParaRPr lang="en-US" dirty="0"/>
          </a:p>
          <a:p>
            <a:pPr marL="339445" indent="-339445">
              <a:defRPr/>
            </a:pPr>
            <a:endParaRPr lang="en-US" dirty="0"/>
          </a:p>
        </p:txBody>
      </p:sp>
    </p:spTree>
    <p:extLst>
      <p:ext uri="{BB962C8B-B14F-4D97-AF65-F5344CB8AC3E}">
        <p14:creationId xmlns:p14="http://schemas.microsoft.com/office/powerpoint/2010/main" val="3842167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Bit Data Errors</a:t>
            </a:r>
            <a:endParaRPr lang="en-IN" dirty="0"/>
          </a:p>
        </p:txBody>
      </p:sp>
      <p:sp>
        <p:nvSpPr>
          <p:cNvPr id="3" name="Content Placeholder 2"/>
          <p:cNvSpPr>
            <a:spLocks noGrp="1"/>
          </p:cNvSpPr>
          <p:nvPr>
            <p:ph idx="1"/>
          </p:nvPr>
        </p:nvSpPr>
        <p:spPr/>
        <p:txBody>
          <a:bodyPr/>
          <a:lstStyle/>
          <a:p>
            <a:r>
              <a:rPr lang="en-US" dirty="0"/>
              <a:t>If there is change in two or more bits of data sequence of transmitter to receiver, it is called “Multiple bit error”. </a:t>
            </a:r>
          </a:p>
          <a:p>
            <a:r>
              <a:rPr lang="en-US" dirty="0"/>
              <a:t>This type of error occurs in both serial type and parallel type data communication networks.</a:t>
            </a:r>
            <a:endParaRPr lang="en-IN" dirty="0"/>
          </a:p>
          <a:p>
            <a:endParaRPr lang="en-IN" dirty="0"/>
          </a:p>
        </p:txBody>
      </p:sp>
      <p:pic>
        <p:nvPicPr>
          <p:cNvPr id="4" name="Picture 3" descr="e3">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6028372" y="3245576"/>
            <a:ext cx="2695575" cy="2857500"/>
          </a:xfrm>
          <a:prstGeom prst="rect">
            <a:avLst/>
          </a:prstGeom>
          <a:noFill/>
          <a:ln>
            <a:noFill/>
          </a:ln>
        </p:spPr>
      </p:pic>
    </p:spTree>
    <p:extLst>
      <p:ext uri="{BB962C8B-B14F-4D97-AF65-F5344CB8AC3E}">
        <p14:creationId xmlns:p14="http://schemas.microsoft.com/office/powerpoint/2010/main" val="1895905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2525" y="1956405"/>
            <a:ext cx="7499048" cy="3072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71" name="Rectangle 3"/>
          <p:cNvSpPr>
            <a:spLocks noChangeArrowheads="1"/>
          </p:cNvSpPr>
          <p:nvPr/>
        </p:nvSpPr>
        <p:spPr bwMode="auto">
          <a:xfrm>
            <a:off x="4953001" y="346227"/>
            <a:ext cx="2159709" cy="572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574" tIns="44001" rIns="89574" bIns="44001">
            <a:spAutoFit/>
          </a:bodyPr>
          <a:lstStyle>
            <a:lvl1pPr>
              <a:defRPr sz="2500">
                <a:solidFill>
                  <a:schemeClr val="tx1"/>
                </a:solidFill>
                <a:latin typeface="Times New Roman" panose="02020603050405020304" pitchFamily="18" charset="0"/>
              </a:defRPr>
            </a:lvl1pPr>
            <a:lvl2pPr marL="742950" indent="-285750">
              <a:defRPr sz="2500">
                <a:solidFill>
                  <a:schemeClr val="tx1"/>
                </a:solidFill>
                <a:latin typeface="Times New Roman" panose="02020603050405020304" pitchFamily="18" charset="0"/>
              </a:defRPr>
            </a:lvl2pPr>
            <a:lvl3pPr marL="1143000" indent="-228600">
              <a:defRPr sz="2500">
                <a:solidFill>
                  <a:schemeClr val="tx1"/>
                </a:solidFill>
                <a:latin typeface="Times New Roman" panose="02020603050405020304" pitchFamily="18" charset="0"/>
              </a:defRPr>
            </a:lvl3pPr>
            <a:lvl4pPr marL="1600200" indent="-228600">
              <a:defRPr sz="2500">
                <a:solidFill>
                  <a:schemeClr val="tx1"/>
                </a:solidFill>
                <a:latin typeface="Times New Roman" panose="02020603050405020304" pitchFamily="18" charset="0"/>
              </a:defRPr>
            </a:lvl4pPr>
            <a:lvl5pPr marL="2057400" indent="-228600">
              <a:defRPr sz="2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500">
                <a:solidFill>
                  <a:schemeClr val="tx1"/>
                </a:solidFill>
                <a:latin typeface="Times New Roman" panose="02020603050405020304" pitchFamily="18" charset="0"/>
              </a:defRPr>
            </a:lvl9pPr>
          </a:lstStyle>
          <a:p>
            <a:r>
              <a:rPr lang="en-US" altLang="en-US" sz="3143" b="1">
                <a:solidFill>
                  <a:srgbClr val="00279F"/>
                </a:solidFill>
              </a:rPr>
              <a:t>Burst error</a:t>
            </a:r>
          </a:p>
        </p:txBody>
      </p:sp>
    </p:spTree>
    <p:extLst>
      <p:ext uri="{BB962C8B-B14F-4D97-AF65-F5344CB8AC3E}">
        <p14:creationId xmlns:p14="http://schemas.microsoft.com/office/powerpoint/2010/main" val="109365515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0" y="2435680"/>
            <a:ext cx="8557381" cy="2100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414046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17411" name="Rectangle 3"/>
          <p:cNvSpPr>
            <a:spLocks noGrp="1" noChangeArrowheads="1"/>
          </p:cNvSpPr>
          <p:nvPr>
            <p:ph idx="1"/>
          </p:nvPr>
        </p:nvSpPr>
        <p:spPr/>
        <p:txBody>
          <a:bodyPr/>
          <a:lstStyle/>
          <a:p>
            <a:pPr marL="339445" indent="-339445">
              <a:buNone/>
              <a:defRPr/>
            </a:pPr>
            <a:r>
              <a:rPr lang="en-US" dirty="0"/>
              <a:t>	The term burst error means that two or more bits in the data unit have changed from 1 to 0 or from 0 to 1.</a:t>
            </a:r>
          </a:p>
          <a:p>
            <a:pPr marL="339445" indent="-339445">
              <a:buNone/>
              <a:defRPr/>
            </a:pPr>
            <a:endParaRPr lang="en-US" dirty="0"/>
          </a:p>
          <a:p>
            <a:pPr marL="339445" indent="-339445">
              <a:buNone/>
              <a:defRPr/>
            </a:pPr>
            <a:r>
              <a:rPr lang="en-US" dirty="0"/>
              <a:t>	Burst errors does not </a:t>
            </a:r>
            <a:r>
              <a:rPr lang="en-US" sz="2762" dirty="0"/>
              <a:t>necessarily</a:t>
            </a:r>
            <a:r>
              <a:rPr lang="en-US" dirty="0"/>
              <a:t> mean that the errors occur in consecutive bits, the length of the burst is measured from the first corrupted bit to the last corrupted bit. Some bits in between may not have been corrupted.</a:t>
            </a:r>
          </a:p>
        </p:txBody>
      </p:sp>
    </p:spTree>
    <p:extLst>
      <p:ext uri="{BB962C8B-B14F-4D97-AF65-F5344CB8AC3E}">
        <p14:creationId xmlns:p14="http://schemas.microsoft.com/office/powerpoint/2010/main" val="9766501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18435" name="Rectangle 3"/>
          <p:cNvSpPr>
            <a:spLocks noGrp="1" noChangeArrowheads="1"/>
          </p:cNvSpPr>
          <p:nvPr>
            <p:ph idx="1"/>
          </p:nvPr>
        </p:nvSpPr>
        <p:spPr/>
        <p:txBody>
          <a:bodyPr>
            <a:normAutofit/>
          </a:bodyPr>
          <a:lstStyle/>
          <a:p>
            <a:pPr>
              <a:defRPr/>
            </a:pPr>
            <a:r>
              <a:rPr lang="en-US" dirty="0"/>
              <a:t>Burst error is most likely to happen in serial transmission since the duration of noise is normally longer than the duration of a bit.</a:t>
            </a:r>
          </a:p>
          <a:p>
            <a:pPr>
              <a:defRPr/>
            </a:pPr>
            <a:r>
              <a:rPr lang="en-US" dirty="0"/>
              <a:t>The number of bits affected depends on the data rate and duration of noise.</a:t>
            </a:r>
          </a:p>
          <a:p>
            <a:pPr marL="339445" indent="-339445">
              <a:buNone/>
              <a:defRPr/>
            </a:pPr>
            <a:r>
              <a:rPr lang="en-US" dirty="0"/>
              <a:t>Example:</a:t>
            </a:r>
          </a:p>
          <a:p>
            <a:pPr>
              <a:defRPr/>
            </a:pPr>
            <a:r>
              <a:rPr lang="en-US" sz="2762" dirty="0"/>
              <a:t>If data is sent at rate = 1Kbps then a noise of 1/100 sec can affect 10 bits.(1/100*1000)</a:t>
            </a:r>
          </a:p>
          <a:p>
            <a:pPr>
              <a:defRPr/>
            </a:pPr>
            <a:r>
              <a:rPr lang="en-US" sz="2762" dirty="0"/>
              <a:t>If same data is sent at rate = 1Mbps then a noise of 1/100 sec can affect 10,000 bits.(1/100*10</a:t>
            </a:r>
            <a:r>
              <a:rPr lang="en-US" sz="2762" baseline="30000" dirty="0"/>
              <a:t>6</a:t>
            </a:r>
            <a:r>
              <a:rPr lang="en-US" sz="2762" dirty="0"/>
              <a:t>)</a:t>
            </a:r>
          </a:p>
          <a:p>
            <a:pPr marL="339445" indent="-339445">
              <a:defRPr/>
            </a:pPr>
            <a:endParaRPr lang="en-US" sz="2762" dirty="0"/>
          </a:p>
          <a:p>
            <a:pPr marL="339445" indent="-339445">
              <a:defRPr/>
            </a:pPr>
            <a:endParaRPr lang="en-US" dirty="0"/>
          </a:p>
        </p:txBody>
      </p:sp>
    </p:spTree>
    <p:extLst>
      <p:ext uri="{BB962C8B-B14F-4D97-AF65-F5344CB8AC3E}">
        <p14:creationId xmlns:p14="http://schemas.microsoft.com/office/powerpoint/2010/main" val="1923472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Redundancy : is the central concept in detecting &amp; correcting errors. We need to send some extra bits with our data. </a:t>
            </a:r>
          </a:p>
          <a:p>
            <a:r>
              <a:rPr lang="en-IN" dirty="0"/>
              <a:t>These redundant bits are added by the sender and removed by the receiver . </a:t>
            </a:r>
          </a:p>
          <a:p>
            <a:r>
              <a:rPr lang="en-IN" dirty="0"/>
              <a:t>To detect or correct errors, we need to send extra (redundant) bits with data.</a:t>
            </a:r>
          </a:p>
        </p:txBody>
      </p:sp>
    </p:spTree>
    <p:extLst>
      <p:ext uri="{BB962C8B-B14F-4D97-AF65-F5344CB8AC3E}">
        <p14:creationId xmlns:p14="http://schemas.microsoft.com/office/powerpoint/2010/main" val="2469164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i="1" dirty="0">
                <a:latin typeface="Times New Roman" panose="02020603050405020304" pitchFamily="18" charset="0"/>
              </a:rPr>
              <a:t>The structure of encoder and decoder</a:t>
            </a:r>
            <a:endParaRPr lang="en-IN" dirty="0"/>
          </a:p>
        </p:txBody>
      </p:sp>
      <p:pic>
        <p:nvPicPr>
          <p:cNvPr id="4"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881331"/>
            <a:ext cx="10515600" cy="423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3326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IN" dirty="0"/>
            </a:br>
            <a:r>
              <a:rPr lang="en-IN" b="1" dirty="0"/>
              <a:t>Detection Versus Correction</a:t>
            </a:r>
            <a:endParaRPr lang="en-IN" dirty="0"/>
          </a:p>
        </p:txBody>
      </p:sp>
      <p:sp>
        <p:nvSpPr>
          <p:cNvPr id="3" name="Content Placeholder 2"/>
          <p:cNvSpPr>
            <a:spLocks noGrp="1"/>
          </p:cNvSpPr>
          <p:nvPr>
            <p:ph idx="1"/>
          </p:nvPr>
        </p:nvSpPr>
        <p:spPr/>
        <p:txBody>
          <a:bodyPr/>
          <a:lstStyle/>
          <a:p>
            <a:r>
              <a:rPr lang="en-IN" dirty="0"/>
              <a:t>In error detection, we are looking only to see if any error has occurred. A single-bit error is the same for us as a burst error.</a:t>
            </a:r>
          </a:p>
          <a:p>
            <a:r>
              <a:rPr lang="en-IN" dirty="0"/>
              <a:t>In error correction, we need to know the exact number of bits that are corrupted and more importantly, their location in the message. So the number of errors and the size of the message are important factors. </a:t>
            </a:r>
          </a:p>
          <a:p>
            <a:r>
              <a:rPr lang="en-IN" dirty="0"/>
              <a:t>correction of errors is more difficult than the detection </a:t>
            </a:r>
          </a:p>
          <a:p>
            <a:endParaRPr lang="en-IN" dirty="0"/>
          </a:p>
        </p:txBody>
      </p:sp>
    </p:spTree>
    <p:extLst>
      <p:ext uri="{BB962C8B-B14F-4D97-AF65-F5344CB8AC3E}">
        <p14:creationId xmlns:p14="http://schemas.microsoft.com/office/powerpoint/2010/main" val="38324224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b="1" dirty="0"/>
              <a:t>Forward Error Correction Versus Retransmission</a:t>
            </a:r>
            <a:endParaRPr lang="en-IN" dirty="0"/>
          </a:p>
        </p:txBody>
      </p:sp>
      <p:sp>
        <p:nvSpPr>
          <p:cNvPr id="3" name="Content Placeholder 2"/>
          <p:cNvSpPr>
            <a:spLocks noGrp="1"/>
          </p:cNvSpPr>
          <p:nvPr>
            <p:ph idx="1"/>
          </p:nvPr>
        </p:nvSpPr>
        <p:spPr/>
        <p:txBody>
          <a:bodyPr/>
          <a:lstStyle/>
          <a:p>
            <a:endParaRPr lang="en-IN" dirty="0"/>
          </a:p>
          <a:p>
            <a:r>
              <a:rPr lang="en-IN" dirty="0"/>
              <a:t>Tow main methods of error correction</a:t>
            </a:r>
          </a:p>
          <a:p>
            <a:r>
              <a:rPr lang="en-IN" dirty="0"/>
              <a:t>Forward error correction FEC: is the process in which the receiver tries to guess the message by using redundant bits.</a:t>
            </a:r>
          </a:p>
          <a:p>
            <a:r>
              <a:rPr lang="en-IN" dirty="0"/>
              <a:t>Retransmission: is a technique in which the receiver detects the occurrence of an error and asks the sender to resend the message.</a:t>
            </a:r>
          </a:p>
          <a:p>
            <a:r>
              <a:rPr lang="en-IN" dirty="0"/>
              <a:t>FEC is used if the number of errors is small. </a:t>
            </a:r>
          </a:p>
        </p:txBody>
      </p:sp>
    </p:spTree>
    <p:extLst>
      <p:ext uri="{BB962C8B-B14F-4D97-AF65-F5344CB8AC3E}">
        <p14:creationId xmlns:p14="http://schemas.microsoft.com/office/powerpoint/2010/main" val="15321204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Coding</a:t>
            </a:r>
            <a:endParaRPr lang="en-IN" dirty="0"/>
          </a:p>
        </p:txBody>
      </p:sp>
      <p:sp>
        <p:nvSpPr>
          <p:cNvPr id="3" name="Content Placeholder 2"/>
          <p:cNvSpPr>
            <a:spLocks noGrp="1"/>
          </p:cNvSpPr>
          <p:nvPr>
            <p:ph idx="1"/>
          </p:nvPr>
        </p:nvSpPr>
        <p:spPr/>
        <p:txBody>
          <a:bodyPr/>
          <a:lstStyle/>
          <a:p>
            <a:r>
              <a:rPr lang="en-IN" dirty="0"/>
              <a:t>Redundancy is achieved through various coding schemes. The sender adds redundant bits through a </a:t>
            </a:r>
            <a:r>
              <a:rPr lang="en-IN" b="1" dirty="0"/>
              <a:t>process </a:t>
            </a:r>
            <a:r>
              <a:rPr lang="en-IN" dirty="0"/>
              <a:t>that creates a relationship between the redundant bits and the actual data bits. </a:t>
            </a:r>
          </a:p>
          <a:p>
            <a:r>
              <a:rPr lang="en-IN" dirty="0"/>
              <a:t>The receiver checks the relationships between the two sets of bits to detect or correct the errors.</a:t>
            </a:r>
          </a:p>
          <a:p>
            <a:r>
              <a:rPr lang="en-IN" dirty="0"/>
              <a:t>The ratio of redundant bits to the data bits and the robustness of the process are important factors in any coding scheme.</a:t>
            </a:r>
          </a:p>
        </p:txBody>
      </p:sp>
    </p:spTree>
    <p:extLst>
      <p:ext uri="{BB962C8B-B14F-4D97-AF65-F5344CB8AC3E}">
        <p14:creationId xmlns:p14="http://schemas.microsoft.com/office/powerpoint/2010/main" val="18106635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a:p>
            <a:pPr marL="0" indent="0">
              <a:buNone/>
            </a:pPr>
            <a:r>
              <a:rPr lang="en-IN" dirty="0"/>
              <a:t>Coding schemes are divided into two categories :</a:t>
            </a:r>
          </a:p>
          <a:p>
            <a:pPr marL="0" indent="0">
              <a:buNone/>
            </a:pPr>
            <a:r>
              <a:rPr lang="en-IN" dirty="0"/>
              <a:t>1-block coding .</a:t>
            </a:r>
          </a:p>
          <a:p>
            <a:pPr marL="0" indent="0">
              <a:buNone/>
            </a:pPr>
            <a:r>
              <a:rPr lang="en-IN" dirty="0"/>
              <a:t>2-convolution coding. </a:t>
            </a:r>
          </a:p>
          <a:p>
            <a:pPr marL="0" indent="0">
              <a:buNone/>
            </a:pPr>
            <a:r>
              <a:rPr lang="en-IN" dirty="0"/>
              <a:t>convolution coding is more complex than block coding. </a:t>
            </a:r>
          </a:p>
        </p:txBody>
      </p:sp>
    </p:spTree>
    <p:extLst>
      <p:ext uri="{BB962C8B-B14F-4D97-AF65-F5344CB8AC3E}">
        <p14:creationId xmlns:p14="http://schemas.microsoft.com/office/powerpoint/2010/main" val="30606226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Modular Arithmetic</a:t>
            </a:r>
          </a:p>
        </p:txBody>
      </p:sp>
      <p:sp>
        <p:nvSpPr>
          <p:cNvPr id="3" name="Content Placeholder 2"/>
          <p:cNvSpPr>
            <a:spLocks noGrp="1"/>
          </p:cNvSpPr>
          <p:nvPr>
            <p:ph idx="1"/>
          </p:nvPr>
        </p:nvSpPr>
        <p:spPr/>
        <p:txBody>
          <a:bodyPr>
            <a:normAutofit lnSpcReduction="10000"/>
          </a:bodyPr>
          <a:lstStyle/>
          <a:p>
            <a:endParaRPr lang="en-IN" dirty="0"/>
          </a:p>
          <a:p>
            <a:r>
              <a:rPr lang="en-IN" dirty="0"/>
              <a:t>In modular arithmetic, we use only a limited range of integers. We define an upper limit, called a modulus N. We then use only the integers 0 to N -1.</a:t>
            </a:r>
          </a:p>
          <a:p>
            <a:r>
              <a:rPr lang="en-IN" dirty="0"/>
              <a:t>For example, if the modulus is 12, we use only the integers 0 to 11.</a:t>
            </a:r>
          </a:p>
          <a:p>
            <a:r>
              <a:rPr lang="en-IN" dirty="0"/>
              <a:t>In a modulo-N system, if a number is greater than N, it is divided by N and the remainder is the result.</a:t>
            </a:r>
          </a:p>
          <a:p>
            <a:r>
              <a:rPr lang="en-IN" dirty="0"/>
              <a:t>Addition and subtraction in modulo arithmetic are simple. There is no carry when you add two digits in a column. There is no carry when you subtract one digit from another in a column </a:t>
            </a:r>
          </a:p>
          <a:p>
            <a:endParaRPr lang="en-IN" dirty="0"/>
          </a:p>
          <a:p>
            <a:pPr marL="0" indent="0">
              <a:buNone/>
            </a:pPr>
            <a:endParaRPr lang="en-IN" dirty="0"/>
          </a:p>
        </p:txBody>
      </p:sp>
    </p:spTree>
    <p:extLst>
      <p:ext uri="{BB962C8B-B14F-4D97-AF65-F5344CB8AC3E}">
        <p14:creationId xmlns:p14="http://schemas.microsoft.com/office/powerpoint/2010/main" val="35853621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IN" b="1" dirty="0"/>
              <a:t>Modulo-2 Arithmetic</a:t>
            </a:r>
            <a:endParaRPr lang="en-IN" dirty="0"/>
          </a:p>
          <a:p>
            <a:r>
              <a:rPr lang="en-IN" dirty="0"/>
              <a:t>Of particular interest is Modulo-2arithmetic. In this arithmetic ,the modulus is 2. We can use only 0 and 1. Operations in this arithmetic are very simple. The following shows how we can add or subtract 2 bits.</a:t>
            </a:r>
          </a:p>
          <a:p>
            <a:r>
              <a:rPr lang="en-IN" dirty="0"/>
              <a:t>Adding: 0+0=0 0+1=1 1+0=1 1+1=0</a:t>
            </a:r>
          </a:p>
          <a:p>
            <a:r>
              <a:rPr lang="en-IN" dirty="0"/>
              <a:t>Subtracting: 0 -0=0 0 -1=1 1-0=1 1 -1=0</a:t>
            </a:r>
          </a:p>
          <a:p>
            <a:r>
              <a:rPr lang="en-IN" dirty="0"/>
              <a:t>Use</a:t>
            </a:r>
            <a:r>
              <a:rPr lang="en-IN" b="1" dirty="0"/>
              <a:t> </a:t>
            </a:r>
            <a:r>
              <a:rPr lang="en-IN" dirty="0"/>
              <a:t>the XOR (exclusive OR) operation for both addition and subtraction. </a:t>
            </a:r>
          </a:p>
          <a:p>
            <a:endParaRPr lang="en-IN" dirty="0"/>
          </a:p>
        </p:txBody>
      </p:sp>
    </p:spTree>
    <p:extLst>
      <p:ext uri="{BB962C8B-B14F-4D97-AF65-F5344CB8AC3E}">
        <p14:creationId xmlns:p14="http://schemas.microsoft.com/office/powerpoint/2010/main" val="15664081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IN" dirty="0"/>
            </a:br>
            <a:r>
              <a:rPr lang="en-IN" dirty="0"/>
              <a:t>BLOCK CODING</a:t>
            </a:r>
          </a:p>
        </p:txBody>
      </p:sp>
      <p:sp>
        <p:nvSpPr>
          <p:cNvPr id="3" name="Content Placeholder 2"/>
          <p:cNvSpPr>
            <a:spLocks noGrp="1"/>
          </p:cNvSpPr>
          <p:nvPr>
            <p:ph idx="1"/>
          </p:nvPr>
        </p:nvSpPr>
        <p:spPr/>
        <p:txBody>
          <a:bodyPr>
            <a:normAutofit lnSpcReduction="10000"/>
          </a:bodyPr>
          <a:lstStyle/>
          <a:p>
            <a:endParaRPr lang="en-IN" dirty="0"/>
          </a:p>
          <a:p>
            <a:r>
              <a:rPr lang="en-IN" dirty="0"/>
              <a:t>In block coding, we divide our message into blocks, each of k bits, called data words.</a:t>
            </a:r>
          </a:p>
          <a:p>
            <a:r>
              <a:rPr lang="en-IN" dirty="0"/>
              <a:t>We add redundant bits to each block to make the length n = k + r. The resulting n-bit blocks are called code words.</a:t>
            </a:r>
          </a:p>
          <a:p>
            <a:r>
              <a:rPr lang="en-IN" dirty="0"/>
              <a:t>With k bits, we can create a combination of 2</a:t>
            </a:r>
            <a:r>
              <a:rPr lang="en-IN" baseline="30000" dirty="0"/>
              <a:t>k </a:t>
            </a:r>
            <a:r>
              <a:rPr lang="en-IN" dirty="0"/>
              <a:t>data words; with n bits, we can create a combination of 2</a:t>
            </a:r>
            <a:r>
              <a:rPr lang="en-IN" baseline="30000" dirty="0"/>
              <a:t>n </a:t>
            </a:r>
            <a:r>
              <a:rPr lang="en-IN" dirty="0"/>
              <a:t> code words.</a:t>
            </a:r>
          </a:p>
          <a:p>
            <a:r>
              <a:rPr lang="en-IN" dirty="0"/>
              <a:t>The block coding process is one-to-one; the same data word is always encoded as the same code word. This means that we have 2</a:t>
            </a:r>
            <a:r>
              <a:rPr lang="en-IN" baseline="30000" dirty="0"/>
              <a:t>n </a:t>
            </a:r>
            <a:r>
              <a:rPr lang="en-IN" dirty="0"/>
              <a:t>- 2</a:t>
            </a:r>
            <a:r>
              <a:rPr lang="en-IN" baseline="30000" dirty="0"/>
              <a:t>k </a:t>
            </a:r>
            <a:r>
              <a:rPr lang="en-IN" dirty="0"/>
              <a:t>code words that are not used.</a:t>
            </a:r>
          </a:p>
        </p:txBody>
      </p:sp>
    </p:spTree>
    <p:extLst>
      <p:ext uri="{BB962C8B-B14F-4D97-AF65-F5344CB8AC3E}">
        <p14:creationId xmlns:p14="http://schemas.microsoft.com/office/powerpoint/2010/main" val="9517389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IN" dirty="0"/>
            </a:br>
            <a:r>
              <a:rPr lang="en-IN" dirty="0"/>
              <a:t>Data words and code words in block coding</a:t>
            </a:r>
          </a:p>
        </p:txBody>
      </p:sp>
      <p:pic>
        <p:nvPicPr>
          <p:cNvPr id="4" name="Content Placeholder 3"/>
          <p:cNvPicPr>
            <a:picLocks noGrp="1" noChangeAspect="1"/>
          </p:cNvPicPr>
          <p:nvPr>
            <p:ph idx="1"/>
          </p:nvPr>
        </p:nvPicPr>
        <p:blipFill>
          <a:blip r:embed="rId2"/>
          <a:stretch>
            <a:fillRect/>
          </a:stretch>
        </p:blipFill>
        <p:spPr>
          <a:xfrm>
            <a:off x="2999999" y="2865810"/>
            <a:ext cx="6192001" cy="2270967"/>
          </a:xfrm>
          <a:prstGeom prst="rect">
            <a:avLst/>
          </a:prstGeom>
        </p:spPr>
      </p:pic>
    </p:spTree>
    <p:extLst>
      <p:ext uri="{BB962C8B-B14F-4D97-AF65-F5344CB8AC3E}">
        <p14:creationId xmlns:p14="http://schemas.microsoft.com/office/powerpoint/2010/main" val="37175203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endParaRPr lang="en-IN" dirty="0"/>
          </a:p>
          <a:p>
            <a:pPr marL="0" indent="0">
              <a:buNone/>
            </a:pPr>
            <a:r>
              <a:rPr lang="en-IN" dirty="0"/>
              <a:t>Error Detection</a:t>
            </a:r>
          </a:p>
          <a:p>
            <a:r>
              <a:rPr lang="en-IN" dirty="0"/>
              <a:t>How can errors be detected by using block coding? If the following two conditions are met, the receiver can detect a change in the original code word.</a:t>
            </a:r>
          </a:p>
          <a:p>
            <a:pPr marL="0" indent="0">
              <a:buNone/>
            </a:pPr>
            <a:r>
              <a:rPr lang="en-IN" dirty="0"/>
              <a:t>1. The receiver has (or can find) a list of valid code words.</a:t>
            </a:r>
          </a:p>
          <a:p>
            <a:pPr marL="0" indent="0">
              <a:buNone/>
            </a:pPr>
            <a:r>
              <a:rPr lang="en-IN" dirty="0"/>
              <a:t>2. The original code word has changed to an invalid one. </a:t>
            </a:r>
          </a:p>
          <a:p>
            <a:endParaRPr lang="en-IN" dirty="0"/>
          </a:p>
          <a:p>
            <a:r>
              <a:rPr lang="en-IN" dirty="0"/>
              <a:t>An error-detecting code can detect only the types of errors for which it is; designed, other types of errors may remain undetected.</a:t>
            </a:r>
          </a:p>
        </p:txBody>
      </p:sp>
    </p:spTree>
    <p:extLst>
      <p:ext uri="{BB962C8B-B14F-4D97-AF65-F5344CB8AC3E}">
        <p14:creationId xmlns:p14="http://schemas.microsoft.com/office/powerpoint/2010/main" val="23878446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endParaRPr lang="en-IN" dirty="0"/>
          </a:p>
          <a:p>
            <a:pPr marL="0" indent="0">
              <a:buNone/>
            </a:pPr>
            <a:r>
              <a:rPr lang="en-IN" b="1" dirty="0"/>
              <a:t>Hamming Distance</a:t>
            </a:r>
            <a:endParaRPr lang="en-IN" dirty="0"/>
          </a:p>
          <a:p>
            <a:r>
              <a:rPr lang="en-IN" dirty="0"/>
              <a:t>One of the central concepts in coding for error control is the idea of the Hamming distance.</a:t>
            </a:r>
          </a:p>
          <a:p>
            <a:r>
              <a:rPr lang="en-IN" dirty="0"/>
              <a:t>The Hamming distance can easily be found if we apply the XOR operation (Θ) on the two words and count the number of 1’sin the result. Note that the Hamming distance is a value greater than zero.</a:t>
            </a:r>
          </a:p>
          <a:p>
            <a:endParaRPr lang="en-IN" dirty="0"/>
          </a:p>
          <a:p>
            <a:r>
              <a:rPr lang="en-IN" dirty="0"/>
              <a:t>The Hamming distance between two words is the number of differences between corresponding bits.</a:t>
            </a:r>
          </a:p>
        </p:txBody>
      </p:sp>
    </p:spTree>
    <p:extLst>
      <p:ext uri="{BB962C8B-B14F-4D97-AF65-F5344CB8AC3E}">
        <p14:creationId xmlns:p14="http://schemas.microsoft.com/office/powerpoint/2010/main" val="28799582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a:p>
            <a:r>
              <a:rPr lang="en-IN" b="1" i="1" dirty="0"/>
              <a:t>The Hamming distance d(000, 011) is 2 because </a:t>
            </a:r>
          </a:p>
          <a:p>
            <a:endParaRPr lang="en-IN" b="1" i="1" dirty="0"/>
          </a:p>
          <a:p>
            <a:endParaRPr lang="en-IN" b="1" i="1" dirty="0"/>
          </a:p>
          <a:p>
            <a:r>
              <a:rPr lang="en-IN" b="1" i="1" dirty="0"/>
              <a:t>The Hamming distance d(10101, 11110) is 3 because</a:t>
            </a:r>
          </a:p>
          <a:p>
            <a:endParaRPr lang="en-IN" dirty="0"/>
          </a:p>
        </p:txBody>
      </p:sp>
      <p:pic>
        <p:nvPicPr>
          <p:cNvPr id="4" name="Picture 3"/>
          <p:cNvPicPr>
            <a:picLocks noChangeAspect="1"/>
          </p:cNvPicPr>
          <p:nvPr/>
        </p:nvPicPr>
        <p:blipFill>
          <a:blip r:embed="rId2"/>
          <a:stretch>
            <a:fillRect/>
          </a:stretch>
        </p:blipFill>
        <p:spPr>
          <a:xfrm>
            <a:off x="4563291" y="3074126"/>
            <a:ext cx="3387635" cy="480324"/>
          </a:xfrm>
          <a:prstGeom prst="rect">
            <a:avLst/>
          </a:prstGeom>
        </p:spPr>
      </p:pic>
      <p:pic>
        <p:nvPicPr>
          <p:cNvPr id="5" name="Picture 4"/>
          <p:cNvPicPr>
            <a:picLocks noChangeAspect="1"/>
          </p:cNvPicPr>
          <p:nvPr/>
        </p:nvPicPr>
        <p:blipFill>
          <a:blip r:embed="rId3"/>
          <a:stretch>
            <a:fillRect/>
          </a:stretch>
        </p:blipFill>
        <p:spPr>
          <a:xfrm>
            <a:off x="3884023" y="5251268"/>
            <a:ext cx="4458787" cy="580669"/>
          </a:xfrm>
          <a:prstGeom prst="rect">
            <a:avLst/>
          </a:prstGeom>
        </p:spPr>
      </p:pic>
    </p:spTree>
    <p:extLst>
      <p:ext uri="{BB962C8B-B14F-4D97-AF65-F5344CB8AC3E}">
        <p14:creationId xmlns:p14="http://schemas.microsoft.com/office/powerpoint/2010/main" val="2550586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endParaRPr lang="en-IN" dirty="0"/>
          </a:p>
          <a:p>
            <a:pPr marL="0" indent="0">
              <a:buNone/>
            </a:pPr>
            <a:r>
              <a:rPr lang="en-IN" dirty="0"/>
              <a:t>Minimum Hamming Distance –</a:t>
            </a:r>
          </a:p>
          <a:p>
            <a:r>
              <a:rPr lang="en-IN" dirty="0"/>
              <a:t>the measurement that is used for designing a code is the minimum Hamming distance.</a:t>
            </a:r>
          </a:p>
          <a:p>
            <a:r>
              <a:rPr lang="en-IN" dirty="0"/>
              <a:t>We used </a:t>
            </a:r>
            <a:r>
              <a:rPr lang="en-IN" b="1" i="1" dirty="0">
                <a:latin typeface="Times New Roman" panose="02020603050405020304" pitchFamily="18" charset="0"/>
              </a:rPr>
              <a:t>dmin </a:t>
            </a:r>
            <a:r>
              <a:rPr lang="en-IN" dirty="0"/>
              <a:t>to define the minimum Hamming distance in a coding scheme. </a:t>
            </a:r>
          </a:p>
          <a:p>
            <a:r>
              <a:rPr lang="en-IN" dirty="0"/>
              <a:t>To find this value, we find the Hamming distances between all words and select the smallest one.</a:t>
            </a:r>
          </a:p>
          <a:p>
            <a:r>
              <a:rPr lang="en-IN" dirty="0"/>
              <a:t>The minimum Hamming distance is the smallest Hamming distance between all possible pairs in a set of words.</a:t>
            </a:r>
          </a:p>
          <a:p>
            <a:endParaRPr lang="en-IN" dirty="0"/>
          </a:p>
        </p:txBody>
      </p:sp>
    </p:spTree>
    <p:extLst>
      <p:ext uri="{BB962C8B-B14F-4D97-AF65-F5344CB8AC3E}">
        <p14:creationId xmlns:p14="http://schemas.microsoft.com/office/powerpoint/2010/main" val="25478211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1116599" y="1958710"/>
            <a:ext cx="9958801" cy="2656833"/>
          </a:xfrm>
          <a:prstGeom prst="rect">
            <a:avLst/>
          </a:prstGeom>
        </p:spPr>
      </p:pic>
      <p:pic>
        <p:nvPicPr>
          <p:cNvPr id="5" name="Content Placeholder 3"/>
          <p:cNvPicPr>
            <a:picLocks noChangeAspect="1"/>
          </p:cNvPicPr>
          <p:nvPr/>
        </p:nvPicPr>
        <p:blipFill>
          <a:blip r:embed="rId3"/>
          <a:stretch>
            <a:fillRect/>
          </a:stretch>
        </p:blipFill>
        <p:spPr>
          <a:xfrm>
            <a:off x="2233319" y="4658398"/>
            <a:ext cx="6140401" cy="801876"/>
          </a:xfrm>
          <a:prstGeom prst="rect">
            <a:avLst/>
          </a:prstGeom>
        </p:spPr>
      </p:pic>
      <p:sp>
        <p:nvSpPr>
          <p:cNvPr id="6" name="Rectangle 5"/>
          <p:cNvSpPr/>
          <p:nvPr/>
        </p:nvSpPr>
        <p:spPr>
          <a:xfrm>
            <a:off x="905691" y="5460274"/>
            <a:ext cx="6096000" cy="523220"/>
          </a:xfrm>
          <a:prstGeom prst="rect">
            <a:avLst/>
          </a:prstGeom>
        </p:spPr>
        <p:txBody>
          <a:bodyPr>
            <a:spAutoFit/>
          </a:bodyPr>
          <a:lstStyle/>
          <a:p>
            <a:endParaRPr lang="en-IN" sz="1000" dirty="0">
              <a:solidFill>
                <a:srgbClr val="000000"/>
              </a:solidFill>
              <a:latin typeface="Times New Roman" panose="02020603050405020304" pitchFamily="18" charset="0"/>
            </a:endParaRPr>
          </a:p>
          <a:p>
            <a:r>
              <a:rPr lang="en-IN" b="1" i="1" dirty="0">
                <a:latin typeface="Times New Roman" panose="02020603050405020304" pitchFamily="18" charset="0"/>
              </a:rPr>
              <a:t>The d</a:t>
            </a:r>
            <a:r>
              <a:rPr lang="en-IN" sz="1200" b="1" i="1" dirty="0">
                <a:latin typeface="Times New Roman" panose="02020603050405020304" pitchFamily="18" charset="0"/>
              </a:rPr>
              <a:t>min </a:t>
            </a:r>
            <a:r>
              <a:rPr lang="en-IN" b="1" i="1" dirty="0">
                <a:latin typeface="Times New Roman" panose="02020603050405020304" pitchFamily="18" charset="0"/>
              </a:rPr>
              <a:t>in this case is 2.</a:t>
            </a:r>
            <a:endParaRPr lang="en-IN" dirty="0"/>
          </a:p>
        </p:txBody>
      </p:sp>
    </p:spTree>
    <p:extLst>
      <p:ext uri="{BB962C8B-B14F-4D97-AF65-F5344CB8AC3E}">
        <p14:creationId xmlns:p14="http://schemas.microsoft.com/office/powerpoint/2010/main" val="719860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1194000" y="2183877"/>
            <a:ext cx="8672812" cy="2692923"/>
          </a:xfrm>
          <a:prstGeom prst="rect">
            <a:avLst/>
          </a:prstGeom>
        </p:spPr>
      </p:pic>
      <p:pic>
        <p:nvPicPr>
          <p:cNvPr id="5" name="Content Placeholder 3"/>
          <p:cNvPicPr>
            <a:picLocks noChangeAspect="1"/>
          </p:cNvPicPr>
          <p:nvPr/>
        </p:nvPicPr>
        <p:blipFill>
          <a:blip r:embed="rId3"/>
          <a:stretch>
            <a:fillRect/>
          </a:stretch>
        </p:blipFill>
        <p:spPr>
          <a:xfrm>
            <a:off x="989579" y="5238225"/>
            <a:ext cx="5701801" cy="469633"/>
          </a:xfrm>
          <a:prstGeom prst="rect">
            <a:avLst/>
          </a:prstGeom>
        </p:spPr>
      </p:pic>
      <p:sp>
        <p:nvSpPr>
          <p:cNvPr id="3" name="Rectangle 2"/>
          <p:cNvSpPr/>
          <p:nvPr/>
        </p:nvSpPr>
        <p:spPr>
          <a:xfrm>
            <a:off x="7500917" y="5238225"/>
            <a:ext cx="2523448" cy="369332"/>
          </a:xfrm>
          <a:prstGeom prst="rect">
            <a:avLst/>
          </a:prstGeom>
        </p:spPr>
        <p:txBody>
          <a:bodyPr wrap="none">
            <a:spAutoFit/>
          </a:bodyPr>
          <a:lstStyle/>
          <a:p>
            <a:r>
              <a:rPr lang="en-IN" b="1" i="1" dirty="0">
                <a:latin typeface="Times New Roman" panose="02020603050405020304" pitchFamily="18" charset="0"/>
              </a:rPr>
              <a:t>The d</a:t>
            </a:r>
            <a:r>
              <a:rPr lang="en-IN" sz="1200" b="1" i="1" dirty="0">
                <a:latin typeface="Times New Roman" panose="02020603050405020304" pitchFamily="18" charset="0"/>
              </a:rPr>
              <a:t>min </a:t>
            </a:r>
            <a:r>
              <a:rPr lang="en-IN" b="1" i="1" dirty="0">
                <a:latin typeface="Times New Roman" panose="02020603050405020304" pitchFamily="18" charset="0"/>
              </a:rPr>
              <a:t>in this case is 3.</a:t>
            </a:r>
            <a:endParaRPr lang="en-IN" dirty="0"/>
          </a:p>
        </p:txBody>
      </p:sp>
    </p:spTree>
    <p:extLst>
      <p:ext uri="{BB962C8B-B14F-4D97-AF65-F5344CB8AC3E}">
        <p14:creationId xmlns:p14="http://schemas.microsoft.com/office/powerpoint/2010/main" val="32284735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br>
              <a:rPr lang="en-IN" dirty="0"/>
            </a:br>
            <a:r>
              <a:rPr lang="en-IN" dirty="0"/>
              <a:t>Three Parameters</a:t>
            </a:r>
            <a:br>
              <a:rPr lang="en-IN" dirty="0"/>
            </a:br>
            <a:endParaRPr lang="en-IN" dirty="0"/>
          </a:p>
        </p:txBody>
      </p:sp>
      <p:sp>
        <p:nvSpPr>
          <p:cNvPr id="3" name="Content Placeholder 2"/>
          <p:cNvSpPr>
            <a:spLocks noGrp="1"/>
          </p:cNvSpPr>
          <p:nvPr>
            <p:ph idx="1"/>
          </p:nvPr>
        </p:nvSpPr>
        <p:spPr/>
        <p:txBody>
          <a:bodyPr>
            <a:normAutofit/>
          </a:bodyPr>
          <a:lstStyle/>
          <a:p>
            <a:endParaRPr lang="en-IN" dirty="0"/>
          </a:p>
          <a:p>
            <a:r>
              <a:rPr lang="en-IN" dirty="0"/>
              <a:t>Any coding scheme needs to have at least three parameters: </a:t>
            </a:r>
          </a:p>
          <a:p>
            <a:r>
              <a:rPr lang="en-IN" dirty="0"/>
              <a:t>the code word size n, the data word size k, and the minimum Hamming distance dmin.</a:t>
            </a:r>
          </a:p>
          <a:p>
            <a:r>
              <a:rPr lang="en-IN" dirty="0"/>
              <a:t>A coding scheme C is written as C(n, k) with a separate expression for dmin.</a:t>
            </a:r>
          </a:p>
          <a:p>
            <a:r>
              <a:rPr lang="en-IN" dirty="0"/>
              <a:t>For example, we can call our first coding scheme C(3, 2) with dmin=2 and our second coding scheme C(5, 2) with dmin= 3. </a:t>
            </a:r>
          </a:p>
          <a:p>
            <a:endParaRPr lang="en-IN" dirty="0"/>
          </a:p>
          <a:p>
            <a:pPr marL="0" indent="0">
              <a:buNone/>
            </a:pPr>
            <a:endParaRPr lang="en-IN" dirty="0"/>
          </a:p>
        </p:txBody>
      </p:sp>
    </p:spTree>
    <p:extLst>
      <p:ext uri="{BB962C8B-B14F-4D97-AF65-F5344CB8AC3E}">
        <p14:creationId xmlns:p14="http://schemas.microsoft.com/office/powerpoint/2010/main" val="21347795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Hamming Distance and Error</a:t>
            </a:r>
            <a:endParaRPr lang="en-IN" dirty="0"/>
          </a:p>
        </p:txBody>
      </p:sp>
      <p:sp>
        <p:nvSpPr>
          <p:cNvPr id="3" name="Content Placeholder 2"/>
          <p:cNvSpPr>
            <a:spLocks noGrp="1"/>
          </p:cNvSpPr>
          <p:nvPr>
            <p:ph idx="1"/>
          </p:nvPr>
        </p:nvSpPr>
        <p:spPr/>
        <p:txBody>
          <a:bodyPr>
            <a:normAutofit fontScale="92500" lnSpcReduction="20000"/>
          </a:bodyPr>
          <a:lstStyle/>
          <a:p>
            <a:r>
              <a:rPr lang="en-IN" dirty="0"/>
              <a:t>Relationship between the Hamming distance and errors occurring during transmission. </a:t>
            </a:r>
          </a:p>
          <a:p>
            <a:r>
              <a:rPr lang="en-IN" dirty="0"/>
              <a:t>When a code word is corrupted during transmission, the Hamming distance between the sent and received code words is the number of bits affected by the error. </a:t>
            </a:r>
          </a:p>
          <a:p>
            <a:r>
              <a:rPr lang="en-IN" dirty="0"/>
              <a:t>In other words, the Hamming distance between the received code word and the sent code word is the number of bits that are corrupted during transmission.</a:t>
            </a:r>
          </a:p>
          <a:p>
            <a:r>
              <a:rPr lang="en-IN" dirty="0"/>
              <a:t>For example, if the code word 00000 is sent and 01101 is received, 3 bits are in error and the Hamming distance between the two is d(00000, 01101) =3. </a:t>
            </a:r>
          </a:p>
          <a:p>
            <a:r>
              <a:rPr lang="en-IN" dirty="0"/>
              <a:t>To guarantee the detection of up to s errors in all cases, the minimum Hamming distance in a block code  must be dmin= s + 1.</a:t>
            </a:r>
          </a:p>
        </p:txBody>
      </p:sp>
    </p:spTree>
    <p:extLst>
      <p:ext uri="{BB962C8B-B14F-4D97-AF65-F5344CB8AC3E}">
        <p14:creationId xmlns:p14="http://schemas.microsoft.com/office/powerpoint/2010/main" val="30536289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LINEAR BLOCK CODES</a:t>
            </a:r>
          </a:p>
        </p:txBody>
      </p:sp>
      <p:sp>
        <p:nvSpPr>
          <p:cNvPr id="3" name="Content Placeholder 2"/>
          <p:cNvSpPr>
            <a:spLocks noGrp="1"/>
          </p:cNvSpPr>
          <p:nvPr>
            <p:ph idx="1"/>
          </p:nvPr>
        </p:nvSpPr>
        <p:spPr/>
        <p:txBody>
          <a:bodyPr/>
          <a:lstStyle/>
          <a:p>
            <a:endParaRPr lang="en-IN" dirty="0"/>
          </a:p>
          <a:p>
            <a:r>
              <a:rPr lang="en-IN" dirty="0"/>
              <a:t>Almost all block codes used today belong to a subset called linear block codes. A linear block code is a code in which the exclusive OR (additionmodulo-2) of two valid code words creates another valid code word.</a:t>
            </a:r>
          </a:p>
          <a:p>
            <a:endParaRPr lang="en-IN" dirty="0"/>
          </a:p>
          <a:p>
            <a:r>
              <a:rPr lang="en-IN" dirty="0"/>
              <a:t>In a linear block code, the exclusive OR (XOR) of any two valid code words creates another valid code word.</a:t>
            </a:r>
          </a:p>
        </p:txBody>
      </p:sp>
    </p:spTree>
    <p:extLst>
      <p:ext uri="{BB962C8B-B14F-4D97-AF65-F5344CB8AC3E}">
        <p14:creationId xmlns:p14="http://schemas.microsoft.com/office/powerpoint/2010/main" val="16310711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a:p>
            <a:r>
              <a:rPr lang="en-IN" dirty="0"/>
              <a:t>Minimum Distance for Linear Block Codes</a:t>
            </a:r>
          </a:p>
          <a:p>
            <a:r>
              <a:rPr lang="en-IN" dirty="0"/>
              <a:t>It is simple to find the minimum Hamming distance for a linear block code.</a:t>
            </a:r>
          </a:p>
          <a:p>
            <a:r>
              <a:rPr lang="en-IN" dirty="0"/>
              <a:t>The minimum Hamming distance is the number of 1s in the nonzero valid code word with the smallest number of 1s.</a:t>
            </a:r>
          </a:p>
        </p:txBody>
      </p:sp>
    </p:spTree>
    <p:extLst>
      <p:ext uri="{BB962C8B-B14F-4D97-AF65-F5344CB8AC3E}">
        <p14:creationId xmlns:p14="http://schemas.microsoft.com/office/powerpoint/2010/main" val="34847618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Error Detection</a:t>
            </a:r>
          </a:p>
        </p:txBody>
      </p:sp>
      <p:sp>
        <p:nvSpPr>
          <p:cNvPr id="3" name="Content Placeholder 2"/>
          <p:cNvSpPr>
            <a:spLocks noGrp="1"/>
          </p:cNvSpPr>
          <p:nvPr>
            <p:ph idx="1"/>
          </p:nvPr>
        </p:nvSpPr>
        <p:spPr/>
        <p:txBody>
          <a:bodyPr>
            <a:normAutofit/>
          </a:bodyPr>
          <a:lstStyle/>
          <a:p>
            <a:r>
              <a:rPr lang="en-IN" dirty="0"/>
              <a:t>Error detection is the ability to detect the presence of errors caused by noise or other impairments during transmission from the transmitter to the receiver.</a:t>
            </a:r>
          </a:p>
          <a:p>
            <a:r>
              <a:rPr lang="en-IN" dirty="0"/>
              <a:t>Error detection means to decide whether the received data is correct or not without having a copy of the original message.</a:t>
            </a:r>
          </a:p>
          <a:p>
            <a:r>
              <a:rPr lang="en-IN" dirty="0"/>
              <a:t>Error detection uses the concept of redundancy, which means adding extra bits for detecting errors at the destination.</a:t>
            </a:r>
          </a:p>
        </p:txBody>
      </p:sp>
    </p:spTree>
    <p:extLst>
      <p:ext uri="{BB962C8B-B14F-4D97-AF65-F5344CB8AC3E}">
        <p14:creationId xmlns:p14="http://schemas.microsoft.com/office/powerpoint/2010/main" val="42373221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dirty="0"/>
              <a:t>Three different error-detecting codes. They are all linear, systematic block codes:</a:t>
            </a:r>
          </a:p>
          <a:p>
            <a:pPr marL="0" indent="0">
              <a:buNone/>
            </a:pPr>
            <a:r>
              <a:rPr lang="en-IN" dirty="0"/>
              <a:t>1. Parity.</a:t>
            </a:r>
          </a:p>
          <a:p>
            <a:pPr marL="0" indent="0">
              <a:buNone/>
            </a:pPr>
            <a:r>
              <a:rPr lang="en-IN" dirty="0"/>
              <a:t>2. Cyclic Redundancy Checks (CRCs).</a:t>
            </a:r>
          </a:p>
          <a:p>
            <a:pPr marL="0" indent="0">
              <a:buNone/>
            </a:pPr>
            <a:r>
              <a:rPr lang="en-IN" dirty="0"/>
              <a:t>3. Checksums. </a:t>
            </a:r>
          </a:p>
        </p:txBody>
      </p:sp>
    </p:spTree>
    <p:extLst>
      <p:ext uri="{BB962C8B-B14F-4D97-AF65-F5344CB8AC3E}">
        <p14:creationId xmlns:p14="http://schemas.microsoft.com/office/powerpoint/2010/main" val="25766285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Parity </a:t>
            </a:r>
          </a:p>
        </p:txBody>
      </p:sp>
      <p:sp>
        <p:nvSpPr>
          <p:cNvPr id="3" name="Content Placeholder 2"/>
          <p:cNvSpPr>
            <a:spLocks noGrp="1"/>
          </p:cNvSpPr>
          <p:nvPr>
            <p:ph idx="1"/>
          </p:nvPr>
        </p:nvSpPr>
        <p:spPr/>
        <p:txBody>
          <a:bodyPr>
            <a:normAutofit/>
          </a:bodyPr>
          <a:lstStyle/>
          <a:p>
            <a:r>
              <a:rPr lang="en-IN" dirty="0"/>
              <a:t>The stream of data is broken up into blocks of bits, and the number of 1 bits is counted. Then, a "parity bit" is set (or cleared) if the number of one bits is odd (or even).</a:t>
            </a:r>
          </a:p>
          <a:p>
            <a:r>
              <a:rPr lang="en-IN" dirty="0"/>
              <a:t>The parity bit is chosen so that the number of 1 bits in the codeword is even (or odd). </a:t>
            </a:r>
          </a:p>
          <a:p>
            <a:r>
              <a:rPr lang="en-IN" dirty="0"/>
              <a:t>Doing this is equivalent to computing the (even) parity bit as the modulo 2 sum or XOR of the data bits. </a:t>
            </a:r>
          </a:p>
          <a:p>
            <a:r>
              <a:rPr lang="en-IN" dirty="0"/>
              <a:t>For example, when 1011010 is sent in even parity, a bit is added to the end to make it 10110100. With odd parity 1011010 becomes 10110101. </a:t>
            </a:r>
          </a:p>
        </p:txBody>
      </p:sp>
    </p:spTree>
    <p:extLst>
      <p:ext uri="{BB962C8B-B14F-4D97-AF65-F5344CB8AC3E}">
        <p14:creationId xmlns:p14="http://schemas.microsoft.com/office/powerpoint/2010/main" val="24735743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A code with a single parity bit has a distance of 2, since any single-bit error produces a codeword with the wrong parity. This means that it can detect single-bit errors.</a:t>
            </a:r>
          </a:p>
          <a:p>
            <a:r>
              <a:rPr lang="en-IN" dirty="0"/>
              <a:t> If the tested blocks overlap, then the parity bits can be used to isolate the error, and even correct it if the error affects a single bit.</a:t>
            </a:r>
          </a:p>
        </p:txBody>
      </p:sp>
    </p:spTree>
    <p:extLst>
      <p:ext uri="{BB962C8B-B14F-4D97-AF65-F5344CB8AC3E}">
        <p14:creationId xmlns:p14="http://schemas.microsoft.com/office/powerpoint/2010/main" val="12895974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IN" dirty="0"/>
              <a:t>A single parity bit can only reliably detect a single-bit error in the block. If the block is badly garbled by a long burst error, the probability that the error will be detected is only 0.5, which is hardly acceptable.</a:t>
            </a:r>
          </a:p>
          <a:p>
            <a:r>
              <a:rPr lang="en-IN" dirty="0"/>
              <a:t>Solution : </a:t>
            </a:r>
          </a:p>
          <a:p>
            <a:r>
              <a:rPr lang="en-IN" b="1" dirty="0"/>
              <a:t>Interleaving</a:t>
            </a:r>
            <a:r>
              <a:rPr lang="en-IN" dirty="0"/>
              <a:t> - compute the parity bits over the data in a different order than the order in which the data bits are transmitted. </a:t>
            </a:r>
          </a:p>
          <a:p>
            <a:r>
              <a:rPr lang="en-IN" dirty="0"/>
              <a:t>We compute a parity bit for each of the </a:t>
            </a:r>
            <a:r>
              <a:rPr lang="en-IN" i="1" dirty="0"/>
              <a:t>n </a:t>
            </a:r>
            <a:r>
              <a:rPr lang="en-IN" dirty="0"/>
              <a:t>columns and send all the data bits as </a:t>
            </a:r>
            <a:r>
              <a:rPr lang="en-IN" i="1" dirty="0"/>
              <a:t>k </a:t>
            </a:r>
            <a:r>
              <a:rPr lang="en-IN" dirty="0"/>
              <a:t>rows, sending the rows from top to bottom and the bits in each row from left to right in the usual manner. At the last row, we send the </a:t>
            </a:r>
            <a:r>
              <a:rPr lang="en-IN" i="1" dirty="0"/>
              <a:t>n </a:t>
            </a:r>
            <a:r>
              <a:rPr lang="en-IN" dirty="0"/>
              <a:t>parity bits.</a:t>
            </a:r>
          </a:p>
        </p:txBody>
      </p:sp>
    </p:spTree>
    <p:extLst>
      <p:ext uri="{BB962C8B-B14F-4D97-AF65-F5344CB8AC3E}">
        <p14:creationId xmlns:p14="http://schemas.microsoft.com/office/powerpoint/2010/main" val="32273024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3483429" y="2220686"/>
            <a:ext cx="5512525" cy="3230880"/>
          </a:xfrm>
          <a:prstGeom prst="rect">
            <a:avLst/>
          </a:prstGeom>
        </p:spPr>
      </p:pic>
    </p:spTree>
    <p:extLst>
      <p:ext uri="{BB962C8B-B14F-4D97-AF65-F5344CB8AC3E}">
        <p14:creationId xmlns:p14="http://schemas.microsoft.com/office/powerpoint/2010/main" val="18839063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a:p>
            <a:r>
              <a:rPr lang="en-IN" dirty="0"/>
              <a:t>Simple Parity-Check Code: the most familiar error-detecting code is the simple parity-check code. </a:t>
            </a:r>
          </a:p>
          <a:p>
            <a:r>
              <a:rPr lang="en-IN" dirty="0"/>
              <a:t>In this code, a k-bit data word is changed to an n-bit code word where n = k + 1. The extra bit, called the parity bit, is selected to make the total number of 1s in the code word even. </a:t>
            </a:r>
          </a:p>
          <a:p>
            <a:r>
              <a:rPr lang="en-IN" dirty="0"/>
              <a:t>A simple parity-check code is a single-bit error-detecting code in which n = k + 1 with dmin= 2. </a:t>
            </a:r>
          </a:p>
        </p:txBody>
      </p:sp>
    </p:spTree>
    <p:extLst>
      <p:ext uri="{BB962C8B-B14F-4D97-AF65-F5344CB8AC3E}">
        <p14:creationId xmlns:p14="http://schemas.microsoft.com/office/powerpoint/2010/main" val="40108467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IN" dirty="0"/>
            </a:br>
            <a:r>
              <a:rPr lang="en-IN" b="1" i="1" dirty="0"/>
              <a:t>Simple parity-check code C(5, 4)</a:t>
            </a:r>
            <a:endParaRPr lang="en-IN" dirty="0"/>
          </a:p>
        </p:txBody>
      </p:sp>
      <p:pic>
        <p:nvPicPr>
          <p:cNvPr id="4" name="Content Placeholder 3"/>
          <p:cNvPicPr>
            <a:picLocks noGrp="1" noChangeAspect="1"/>
          </p:cNvPicPr>
          <p:nvPr>
            <p:ph idx="1"/>
          </p:nvPr>
        </p:nvPicPr>
        <p:blipFill>
          <a:blip r:embed="rId2"/>
          <a:stretch>
            <a:fillRect/>
          </a:stretch>
        </p:blipFill>
        <p:spPr>
          <a:xfrm>
            <a:off x="1581686" y="1825625"/>
            <a:ext cx="9028627" cy="4351338"/>
          </a:xfrm>
          <a:prstGeom prst="rect">
            <a:avLst/>
          </a:prstGeom>
        </p:spPr>
      </p:pic>
    </p:spTree>
    <p:extLst>
      <p:ext uri="{BB962C8B-B14F-4D97-AF65-F5344CB8AC3E}">
        <p14:creationId xmlns:p14="http://schemas.microsoft.com/office/powerpoint/2010/main" val="21054904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b="1" i="1" dirty="0"/>
              <a:t>Encoder and decoder for simple parity-check code</a:t>
            </a:r>
            <a:endParaRPr lang="en-IN" dirty="0"/>
          </a:p>
        </p:txBody>
      </p:sp>
      <p:pic>
        <p:nvPicPr>
          <p:cNvPr id="4" name="Content Placeholder 3"/>
          <p:cNvPicPr>
            <a:picLocks noGrp="1" noChangeAspect="1"/>
          </p:cNvPicPr>
          <p:nvPr>
            <p:ph idx="1"/>
          </p:nvPr>
        </p:nvPicPr>
        <p:blipFill>
          <a:blip r:embed="rId2"/>
          <a:stretch>
            <a:fillRect/>
          </a:stretch>
        </p:blipFill>
        <p:spPr>
          <a:xfrm>
            <a:off x="2024229" y="1825625"/>
            <a:ext cx="8143541" cy="4351338"/>
          </a:xfrm>
          <a:prstGeom prst="rect">
            <a:avLst/>
          </a:prstGeom>
        </p:spPr>
      </p:pic>
    </p:spTree>
    <p:extLst>
      <p:ext uri="{BB962C8B-B14F-4D97-AF65-F5344CB8AC3E}">
        <p14:creationId xmlns:p14="http://schemas.microsoft.com/office/powerpoint/2010/main" val="23256160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pPr marL="0" indent="0">
              <a:buNone/>
            </a:pPr>
            <a:r>
              <a:rPr lang="en-IN" dirty="0"/>
              <a:t>Some transmission scenarios. </a:t>
            </a:r>
          </a:p>
          <a:p>
            <a:r>
              <a:rPr lang="en-IN" dirty="0"/>
              <a:t>Assume the sender sends the data word 1011.</a:t>
            </a:r>
          </a:p>
          <a:p>
            <a:r>
              <a:rPr lang="en-IN" dirty="0"/>
              <a:t>The code word created from this data word is 10111, which is sent to the receiver.</a:t>
            </a:r>
          </a:p>
          <a:p>
            <a:pPr marL="0" indent="0">
              <a:buNone/>
            </a:pPr>
            <a:r>
              <a:rPr lang="en-IN" dirty="0"/>
              <a:t>We examine five cases:</a:t>
            </a:r>
          </a:p>
          <a:p>
            <a:pPr marL="0" indent="0">
              <a:buNone/>
            </a:pPr>
            <a:r>
              <a:rPr lang="en-IN" dirty="0"/>
              <a:t>1.No error occurs; the received code word is 10111. The syndrome is 0. The data word 1011 is created.</a:t>
            </a:r>
          </a:p>
          <a:p>
            <a:pPr marL="0" indent="0">
              <a:buNone/>
            </a:pPr>
            <a:r>
              <a:rPr lang="en-IN" dirty="0"/>
              <a:t>2.One single-bit error changes a1. The received code word is 10011. The syndrome is 1. No data word is created.</a:t>
            </a:r>
          </a:p>
          <a:p>
            <a:pPr marL="0" indent="0">
              <a:buNone/>
            </a:pPr>
            <a:r>
              <a:rPr lang="en-IN" dirty="0"/>
              <a:t>3.One single-bit error changes r0. The received code word is 10110. The syndrome is 1. No data word is created. </a:t>
            </a:r>
          </a:p>
        </p:txBody>
      </p:sp>
    </p:spTree>
    <p:extLst>
      <p:ext uri="{BB962C8B-B14F-4D97-AF65-F5344CB8AC3E}">
        <p14:creationId xmlns:p14="http://schemas.microsoft.com/office/powerpoint/2010/main" val="21338619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endParaRPr lang="en-IN" dirty="0"/>
          </a:p>
          <a:p>
            <a:pPr marL="0" indent="0">
              <a:buNone/>
            </a:pPr>
            <a:r>
              <a:rPr lang="en-IN" dirty="0"/>
              <a:t>4.An error changes r0 and a second error changes a3.</a:t>
            </a:r>
          </a:p>
          <a:p>
            <a:pPr marL="0" indent="0">
              <a:buNone/>
            </a:pPr>
            <a:r>
              <a:rPr lang="en-IN" dirty="0"/>
              <a:t>The received code word is 00110. The syndrome is 0.The data word 0011 is created at the receiver. Note that here the data word is wrongly created due to the syndrome value. </a:t>
            </a:r>
          </a:p>
          <a:p>
            <a:pPr marL="0" indent="0">
              <a:buNone/>
            </a:pPr>
            <a:r>
              <a:rPr lang="en-IN" dirty="0"/>
              <a:t>5. Three bits—a3, a2, and a1—are changed by errors. The received code word is (01011). The syndrome is 1.The data word is not created. </a:t>
            </a:r>
          </a:p>
          <a:p>
            <a:pPr marL="0" indent="0">
              <a:buNone/>
            </a:pPr>
            <a:r>
              <a:rPr lang="en-IN" dirty="0"/>
              <a:t>This shows that the simple parity check, guaranteed to detect one single error ,can also find any odd number of errors.</a:t>
            </a:r>
          </a:p>
        </p:txBody>
      </p:sp>
    </p:spTree>
    <p:extLst>
      <p:ext uri="{BB962C8B-B14F-4D97-AF65-F5344CB8AC3E}">
        <p14:creationId xmlns:p14="http://schemas.microsoft.com/office/powerpoint/2010/main" val="31647512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IN" dirty="0"/>
            </a:br>
            <a:r>
              <a:rPr lang="en-IN" b="1" i="1" dirty="0"/>
              <a:t>Two-dimensional parity-check code</a:t>
            </a:r>
            <a:endParaRPr lang="en-IN" dirty="0"/>
          </a:p>
        </p:txBody>
      </p:sp>
      <p:pic>
        <p:nvPicPr>
          <p:cNvPr id="4" name="Content Placeholder 3"/>
          <p:cNvPicPr>
            <a:picLocks noGrp="1" noChangeAspect="1"/>
          </p:cNvPicPr>
          <p:nvPr>
            <p:ph idx="1"/>
          </p:nvPr>
        </p:nvPicPr>
        <p:blipFill>
          <a:blip r:embed="rId2"/>
          <a:stretch>
            <a:fillRect/>
          </a:stretch>
        </p:blipFill>
        <p:spPr>
          <a:xfrm>
            <a:off x="2984451" y="2334747"/>
            <a:ext cx="5108401" cy="3576934"/>
          </a:xfrm>
          <a:prstGeom prst="rect">
            <a:avLst/>
          </a:prstGeom>
        </p:spPr>
      </p:pic>
    </p:spTree>
    <p:extLst>
      <p:ext uri="{BB962C8B-B14F-4D97-AF65-F5344CB8AC3E}">
        <p14:creationId xmlns:p14="http://schemas.microsoft.com/office/powerpoint/2010/main" val="22153917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1116599" y="2364010"/>
            <a:ext cx="9958801" cy="3274567"/>
          </a:xfrm>
          <a:prstGeom prst="rect">
            <a:avLst/>
          </a:prstGeom>
        </p:spPr>
      </p:pic>
    </p:spTree>
    <p:extLst>
      <p:ext uri="{BB962C8B-B14F-4D97-AF65-F5344CB8AC3E}">
        <p14:creationId xmlns:p14="http://schemas.microsoft.com/office/powerpoint/2010/main" val="11957288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1116599" y="2364010"/>
            <a:ext cx="9958801" cy="3274567"/>
          </a:xfrm>
          <a:prstGeom prst="rect">
            <a:avLst/>
          </a:prstGeom>
        </p:spPr>
      </p:pic>
    </p:spTree>
    <p:extLst>
      <p:ext uri="{BB962C8B-B14F-4D97-AF65-F5344CB8AC3E}">
        <p14:creationId xmlns:p14="http://schemas.microsoft.com/office/powerpoint/2010/main" val="9778277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0406" y="1161143"/>
            <a:ext cx="7604881" cy="4785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91" name="Rectangle 3"/>
          <p:cNvSpPr>
            <a:spLocks noChangeArrowheads="1"/>
          </p:cNvSpPr>
          <p:nvPr/>
        </p:nvSpPr>
        <p:spPr bwMode="auto">
          <a:xfrm>
            <a:off x="4877406" y="193524"/>
            <a:ext cx="2357775" cy="572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574" tIns="44001" rIns="89574" bIns="44001">
            <a:spAutoFit/>
          </a:bodyPr>
          <a:lstStyle>
            <a:lvl1pPr>
              <a:defRPr sz="2500">
                <a:solidFill>
                  <a:schemeClr val="tx1"/>
                </a:solidFill>
                <a:latin typeface="Times New Roman" panose="02020603050405020304" pitchFamily="18" charset="0"/>
              </a:defRPr>
            </a:lvl1pPr>
            <a:lvl2pPr marL="742950" indent="-285750">
              <a:defRPr sz="2500">
                <a:solidFill>
                  <a:schemeClr val="tx1"/>
                </a:solidFill>
                <a:latin typeface="Times New Roman" panose="02020603050405020304" pitchFamily="18" charset="0"/>
              </a:defRPr>
            </a:lvl2pPr>
            <a:lvl3pPr marL="1143000" indent="-228600">
              <a:defRPr sz="2500">
                <a:solidFill>
                  <a:schemeClr val="tx1"/>
                </a:solidFill>
                <a:latin typeface="Times New Roman" panose="02020603050405020304" pitchFamily="18" charset="0"/>
              </a:defRPr>
            </a:lvl3pPr>
            <a:lvl4pPr marL="1600200" indent="-228600">
              <a:defRPr sz="2500">
                <a:solidFill>
                  <a:schemeClr val="tx1"/>
                </a:solidFill>
                <a:latin typeface="Times New Roman" panose="02020603050405020304" pitchFamily="18" charset="0"/>
              </a:defRPr>
            </a:lvl4pPr>
            <a:lvl5pPr marL="2057400" indent="-228600">
              <a:defRPr sz="2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500">
                <a:solidFill>
                  <a:schemeClr val="tx1"/>
                </a:solidFill>
                <a:latin typeface="Times New Roman" panose="02020603050405020304" pitchFamily="18" charset="0"/>
              </a:defRPr>
            </a:lvl9pPr>
          </a:lstStyle>
          <a:p>
            <a:r>
              <a:rPr lang="en-US" altLang="en-US" sz="3143" b="1">
                <a:solidFill>
                  <a:srgbClr val="063DE8"/>
                </a:solidFill>
              </a:rPr>
              <a:t>Redundancy</a:t>
            </a:r>
          </a:p>
        </p:txBody>
      </p:sp>
    </p:spTree>
    <p:extLst>
      <p:ext uri="{BB962C8B-B14F-4D97-AF65-F5344CB8AC3E}">
        <p14:creationId xmlns:p14="http://schemas.microsoft.com/office/powerpoint/2010/main" val="1069832471"/>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0242"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1525" y="2710846"/>
            <a:ext cx="8218714" cy="150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46" name="Text Box 6"/>
          <p:cNvSpPr txBox="1">
            <a:spLocks noChangeArrowheads="1"/>
          </p:cNvSpPr>
          <p:nvPr/>
        </p:nvSpPr>
        <p:spPr bwMode="auto">
          <a:xfrm>
            <a:off x="2505526" y="765024"/>
            <a:ext cx="7167343" cy="1058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517" tIns="45258" rIns="90517" bIns="45258">
            <a:spAutoFit/>
          </a:bodyPr>
          <a:lstStyle/>
          <a:p>
            <a:pPr algn="ctr">
              <a:defRPr/>
            </a:pPr>
            <a:r>
              <a:rPr lang="en-US" sz="3143" dirty="0"/>
              <a:t>Four types of redundancy checks are used</a:t>
            </a:r>
          </a:p>
          <a:p>
            <a:pPr algn="ctr">
              <a:defRPr/>
            </a:pPr>
            <a:r>
              <a:rPr lang="en-US" sz="3143" dirty="0"/>
              <a:t> in data communications</a:t>
            </a:r>
          </a:p>
        </p:txBody>
      </p:sp>
    </p:spTree>
    <p:extLst>
      <p:ext uri="{BB962C8B-B14F-4D97-AF65-F5344CB8AC3E}">
        <p14:creationId xmlns:p14="http://schemas.microsoft.com/office/powerpoint/2010/main" val="1775153863"/>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0465" y="1395489"/>
            <a:ext cx="8230810" cy="4931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339" name="Rectangle 3"/>
          <p:cNvSpPr>
            <a:spLocks noChangeArrowheads="1"/>
          </p:cNvSpPr>
          <p:nvPr/>
        </p:nvSpPr>
        <p:spPr bwMode="auto">
          <a:xfrm>
            <a:off x="3821167" y="0"/>
            <a:ext cx="5013824" cy="1056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574" tIns="44001" rIns="89574" bIns="44001">
            <a:spAutoFit/>
          </a:bodyPr>
          <a:lstStyle>
            <a:lvl1pPr>
              <a:defRPr sz="2500">
                <a:solidFill>
                  <a:schemeClr val="tx1"/>
                </a:solidFill>
                <a:latin typeface="Times New Roman" panose="02020603050405020304" pitchFamily="18" charset="0"/>
              </a:defRPr>
            </a:lvl1pPr>
            <a:lvl2pPr marL="742950" indent="-285750">
              <a:defRPr sz="2500">
                <a:solidFill>
                  <a:schemeClr val="tx1"/>
                </a:solidFill>
                <a:latin typeface="Times New Roman" panose="02020603050405020304" pitchFamily="18" charset="0"/>
              </a:defRPr>
            </a:lvl2pPr>
            <a:lvl3pPr marL="1143000" indent="-228600">
              <a:defRPr sz="2500">
                <a:solidFill>
                  <a:schemeClr val="tx1"/>
                </a:solidFill>
                <a:latin typeface="Times New Roman" panose="02020603050405020304" pitchFamily="18" charset="0"/>
              </a:defRPr>
            </a:lvl3pPr>
            <a:lvl4pPr marL="1600200" indent="-228600">
              <a:defRPr sz="2500">
                <a:solidFill>
                  <a:schemeClr val="tx1"/>
                </a:solidFill>
                <a:latin typeface="Times New Roman" panose="02020603050405020304" pitchFamily="18" charset="0"/>
              </a:defRPr>
            </a:lvl4pPr>
            <a:lvl5pPr marL="2057400" indent="-228600">
              <a:defRPr sz="2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500">
                <a:solidFill>
                  <a:schemeClr val="tx1"/>
                </a:solidFill>
                <a:latin typeface="Times New Roman" panose="02020603050405020304" pitchFamily="18" charset="0"/>
              </a:defRPr>
            </a:lvl9pPr>
          </a:lstStyle>
          <a:p>
            <a:pPr algn="ctr"/>
            <a:r>
              <a:rPr lang="en-US" altLang="en-US" sz="3143" b="1">
                <a:solidFill>
                  <a:srgbClr val="00279F"/>
                </a:solidFill>
              </a:rPr>
              <a:t>Vertical Redundancy Check</a:t>
            </a:r>
          </a:p>
          <a:p>
            <a:pPr algn="ctr"/>
            <a:r>
              <a:rPr lang="en-US" altLang="en-US" sz="3143" b="1">
                <a:solidFill>
                  <a:srgbClr val="00279F"/>
                </a:solidFill>
              </a:rPr>
              <a:t>VRC</a:t>
            </a:r>
          </a:p>
        </p:txBody>
      </p:sp>
    </p:spTree>
    <p:extLst>
      <p:ext uri="{BB962C8B-B14F-4D97-AF65-F5344CB8AC3E}">
        <p14:creationId xmlns:p14="http://schemas.microsoft.com/office/powerpoint/2010/main" val="2557966415"/>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a:defRPr/>
            </a:pPr>
            <a:endParaRPr lang="en-US" b="1" dirty="0">
              <a:solidFill>
                <a:srgbClr val="CC0066"/>
              </a:solidFill>
              <a:effectLst>
                <a:outerShdw blurRad="38100" dist="38100" dir="2700000" algn="tl">
                  <a:srgbClr val="C0C0C0"/>
                </a:outerShdw>
              </a:effectLst>
            </a:endParaRPr>
          </a:p>
        </p:txBody>
      </p:sp>
      <p:sp>
        <p:nvSpPr>
          <p:cNvPr id="15363" name="Rectangle 3"/>
          <p:cNvSpPr>
            <a:spLocks noGrp="1" noChangeArrowheads="1"/>
          </p:cNvSpPr>
          <p:nvPr>
            <p:ph type="body" idx="1"/>
          </p:nvPr>
        </p:nvSpPr>
        <p:spPr/>
        <p:txBody>
          <a:bodyPr/>
          <a:lstStyle/>
          <a:p>
            <a:endParaRPr lang="en-US" altLang="en-US" dirty="0"/>
          </a:p>
          <a:p>
            <a:pPr marL="0" indent="0">
              <a:buClr>
                <a:srgbClr val="CC0066"/>
              </a:buClr>
              <a:buNone/>
            </a:pPr>
            <a:r>
              <a:rPr lang="en-US" altLang="en-US" dirty="0"/>
              <a:t>It can detect single bit error</a:t>
            </a:r>
          </a:p>
          <a:p>
            <a:pPr marL="0" indent="0">
              <a:buClr>
                <a:srgbClr val="CC0066"/>
              </a:buClr>
              <a:buNone/>
            </a:pPr>
            <a:r>
              <a:rPr lang="en-US" altLang="en-US" dirty="0"/>
              <a:t>It can detect burst errors only if the total number of errors is odd.</a:t>
            </a:r>
          </a:p>
          <a:p>
            <a:pPr marL="0" indent="0">
              <a:buNone/>
            </a:pPr>
            <a:endParaRPr lang="en-US" altLang="en-US" dirty="0"/>
          </a:p>
        </p:txBody>
      </p:sp>
    </p:spTree>
    <p:extLst>
      <p:ext uri="{BB962C8B-B14F-4D97-AF65-F5344CB8AC3E}">
        <p14:creationId xmlns:p14="http://schemas.microsoft.com/office/powerpoint/2010/main" val="32320084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3230371" y="405191"/>
            <a:ext cx="5903618" cy="1056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574" tIns="44001" rIns="89574" bIns="44001">
            <a:spAutoFit/>
          </a:bodyPr>
          <a:lstStyle>
            <a:lvl1pPr>
              <a:defRPr sz="2500">
                <a:solidFill>
                  <a:schemeClr val="tx1"/>
                </a:solidFill>
                <a:latin typeface="Times New Roman" panose="02020603050405020304" pitchFamily="18" charset="0"/>
              </a:defRPr>
            </a:lvl1pPr>
            <a:lvl2pPr marL="742950" indent="-285750">
              <a:defRPr sz="2500">
                <a:solidFill>
                  <a:schemeClr val="tx1"/>
                </a:solidFill>
                <a:latin typeface="Times New Roman" panose="02020603050405020304" pitchFamily="18" charset="0"/>
              </a:defRPr>
            </a:lvl2pPr>
            <a:lvl3pPr marL="1143000" indent="-228600">
              <a:defRPr sz="2500">
                <a:solidFill>
                  <a:schemeClr val="tx1"/>
                </a:solidFill>
                <a:latin typeface="Times New Roman" panose="02020603050405020304" pitchFamily="18" charset="0"/>
              </a:defRPr>
            </a:lvl3pPr>
            <a:lvl4pPr marL="1600200" indent="-228600">
              <a:defRPr sz="2500">
                <a:solidFill>
                  <a:schemeClr val="tx1"/>
                </a:solidFill>
                <a:latin typeface="Times New Roman" panose="02020603050405020304" pitchFamily="18" charset="0"/>
              </a:defRPr>
            </a:lvl4pPr>
            <a:lvl5pPr marL="2057400" indent="-228600">
              <a:defRPr sz="2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500">
                <a:solidFill>
                  <a:schemeClr val="tx1"/>
                </a:solidFill>
                <a:latin typeface="Times New Roman" panose="02020603050405020304" pitchFamily="18" charset="0"/>
              </a:defRPr>
            </a:lvl9pPr>
          </a:lstStyle>
          <a:p>
            <a:pPr algn="ctr"/>
            <a:r>
              <a:rPr lang="en-US" altLang="en-US" sz="3143" b="1">
                <a:solidFill>
                  <a:srgbClr val="00279F"/>
                </a:solidFill>
              </a:rPr>
              <a:t>Longitudinal Redundancy Check</a:t>
            </a:r>
          </a:p>
          <a:p>
            <a:pPr algn="ctr"/>
            <a:r>
              <a:rPr lang="en-US" altLang="en-US" sz="3143" b="1">
                <a:solidFill>
                  <a:srgbClr val="00279F"/>
                </a:solidFill>
              </a:rPr>
              <a:t>LRC</a:t>
            </a:r>
          </a:p>
        </p:txBody>
      </p:sp>
      <p:pic>
        <p:nvPicPr>
          <p:cNvPr id="16387" name="Picture 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1608" y="3016250"/>
            <a:ext cx="8336643" cy="1638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5740230"/>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In longitudinal redundancy method, a BLOCK of bits are arranged in a table format (in rows and columns) and we will calculate the parity bit for each column separately. The set of these parity bits are also sent along with our original data bits.</a:t>
            </a:r>
            <a:endParaRPr lang="en-IN" dirty="0"/>
          </a:p>
          <a:p>
            <a:r>
              <a:rPr lang="en-US" dirty="0"/>
              <a:t>Longitudinal redundancy check is a bit by bit parity computation, as we calculate the parity of each column individually.</a:t>
            </a:r>
            <a:endParaRPr lang="en-IN" dirty="0"/>
          </a:p>
          <a:p>
            <a:r>
              <a:rPr lang="en-US" dirty="0"/>
              <a:t>This method can easily detect burst errors and single bit errors and it fails to detect the 2 bit errors occurred in same vertical slice.</a:t>
            </a:r>
            <a:endParaRPr lang="en-IN" dirty="0"/>
          </a:p>
          <a:p>
            <a:endParaRPr lang="en-IN" dirty="0"/>
          </a:p>
        </p:txBody>
      </p:sp>
    </p:spTree>
    <p:extLst>
      <p:ext uri="{BB962C8B-B14F-4D97-AF65-F5344CB8AC3E}">
        <p14:creationId xmlns:p14="http://schemas.microsoft.com/office/powerpoint/2010/main" val="39458285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descr="6">
            <a:hlinkClick r:id="rId2"/>
          </p:cNvP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648075" y="2185851"/>
            <a:ext cx="5600428" cy="3015593"/>
          </a:xfrm>
          <a:prstGeom prst="rect">
            <a:avLst/>
          </a:prstGeom>
          <a:noFill/>
          <a:ln>
            <a:noFill/>
          </a:ln>
        </p:spPr>
      </p:pic>
    </p:spTree>
    <p:extLst>
      <p:ext uri="{BB962C8B-B14F-4D97-AF65-F5344CB8AC3E}">
        <p14:creationId xmlns:p14="http://schemas.microsoft.com/office/powerpoint/2010/main" val="4040809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4"/>
          <p:cNvSpPr>
            <a:spLocks noChangeArrowheads="1"/>
          </p:cNvSpPr>
          <p:nvPr/>
        </p:nvSpPr>
        <p:spPr bwMode="auto">
          <a:xfrm>
            <a:off x="2490108" y="825500"/>
            <a:ext cx="7636631"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9574" tIns="44001" rIns="89574" bIns="44001" anchor="ctr"/>
          <a:lstStyle/>
          <a:p>
            <a:pPr algn="ctr">
              <a:defRPr/>
            </a:pPr>
            <a:endParaRPr lang="en-US" sz="4381" b="1" dirty="0">
              <a:solidFill>
                <a:srgbClr val="CC0066"/>
              </a:solidFill>
              <a:effectLst>
                <a:outerShdw blurRad="38100" dist="38100" dir="2700000" algn="tl">
                  <a:srgbClr val="C0C0C0"/>
                </a:outerShdw>
              </a:effectLst>
            </a:endParaRPr>
          </a:p>
        </p:txBody>
      </p:sp>
      <p:sp>
        <p:nvSpPr>
          <p:cNvPr id="17411" name="Rectangle 5"/>
          <p:cNvSpPr>
            <a:spLocks noChangeArrowheads="1"/>
          </p:cNvSpPr>
          <p:nvPr/>
        </p:nvSpPr>
        <p:spPr bwMode="auto">
          <a:xfrm>
            <a:off x="2490108" y="2196798"/>
            <a:ext cx="7636631" cy="4115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9574" tIns="44001" rIns="89574" bIns="44001"/>
          <a:lstStyle>
            <a:lvl1pPr marL="355600" indent="-355600">
              <a:defRPr sz="2500">
                <a:solidFill>
                  <a:schemeClr val="tx1"/>
                </a:solidFill>
                <a:latin typeface="Times New Roman" panose="02020603050405020304" pitchFamily="18" charset="0"/>
              </a:defRPr>
            </a:lvl1pPr>
            <a:lvl2pPr marL="742950" indent="-285750">
              <a:defRPr sz="2500">
                <a:solidFill>
                  <a:schemeClr val="tx1"/>
                </a:solidFill>
                <a:latin typeface="Times New Roman" panose="02020603050405020304" pitchFamily="18" charset="0"/>
              </a:defRPr>
            </a:lvl2pPr>
            <a:lvl3pPr marL="1143000" indent="-228600">
              <a:defRPr sz="2500">
                <a:solidFill>
                  <a:schemeClr val="tx1"/>
                </a:solidFill>
                <a:latin typeface="Times New Roman" panose="02020603050405020304" pitchFamily="18" charset="0"/>
              </a:defRPr>
            </a:lvl3pPr>
            <a:lvl4pPr marL="1600200" indent="-228600">
              <a:defRPr sz="2500">
                <a:solidFill>
                  <a:schemeClr val="tx1"/>
                </a:solidFill>
                <a:latin typeface="Times New Roman" panose="02020603050405020304" pitchFamily="18" charset="0"/>
              </a:defRPr>
            </a:lvl4pPr>
            <a:lvl5pPr marL="2057400" indent="-228600">
              <a:defRPr sz="2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500">
                <a:solidFill>
                  <a:schemeClr val="tx1"/>
                </a:solidFill>
                <a:latin typeface="Times New Roman" panose="02020603050405020304" pitchFamily="18" charset="0"/>
              </a:defRPr>
            </a:lvl9pPr>
          </a:lstStyle>
          <a:p>
            <a:pPr>
              <a:spcBef>
                <a:spcPct val="20000"/>
              </a:spcBef>
              <a:buSzPct val="100000"/>
              <a:buFontTx/>
              <a:buChar char="•"/>
            </a:pPr>
            <a:endParaRPr lang="en-US" altLang="en-US" sz="3143" dirty="0"/>
          </a:p>
          <a:p>
            <a:pPr>
              <a:spcBef>
                <a:spcPct val="20000"/>
              </a:spcBef>
              <a:buSzPct val="100000"/>
              <a:buFontTx/>
              <a:buChar char="•"/>
            </a:pPr>
            <a:endParaRPr lang="en-US" altLang="en-US" sz="3143" dirty="0"/>
          </a:p>
        </p:txBody>
      </p:sp>
      <p:sp>
        <p:nvSpPr>
          <p:cNvPr id="8" name="Title 7"/>
          <p:cNvSpPr>
            <a:spLocks noGrp="1"/>
          </p:cNvSpPr>
          <p:nvPr>
            <p:ph type="title"/>
          </p:nvPr>
        </p:nvSpPr>
        <p:spPr/>
        <p:txBody>
          <a:bodyPr/>
          <a:lstStyle/>
          <a:p>
            <a:endParaRPr lang="en-IN"/>
          </a:p>
        </p:txBody>
      </p:sp>
      <p:sp>
        <p:nvSpPr>
          <p:cNvPr id="9" name="Content Placeholder 8"/>
          <p:cNvSpPr>
            <a:spLocks noGrp="1"/>
          </p:cNvSpPr>
          <p:nvPr>
            <p:ph idx="1"/>
          </p:nvPr>
        </p:nvSpPr>
        <p:spPr/>
        <p:txBody>
          <a:bodyPr/>
          <a:lstStyle/>
          <a:p>
            <a:pPr marL="0" indent="0">
              <a:spcBef>
                <a:spcPct val="20000"/>
              </a:spcBef>
              <a:buClr>
                <a:srgbClr val="CC0066"/>
              </a:buClr>
              <a:buSzPct val="100000"/>
              <a:buNone/>
            </a:pPr>
            <a:r>
              <a:rPr lang="en-US" altLang="en-US" dirty="0"/>
              <a:t>LRC increases the likelihood of detecting burst errors.</a:t>
            </a:r>
          </a:p>
          <a:p>
            <a:pPr marL="0" indent="0">
              <a:spcBef>
                <a:spcPct val="20000"/>
              </a:spcBef>
              <a:buClr>
                <a:srgbClr val="CC0066"/>
              </a:buClr>
              <a:buSzPct val="100000"/>
              <a:buNone/>
            </a:pPr>
            <a:r>
              <a:rPr lang="en-US" altLang="en-US" dirty="0"/>
              <a:t>If two bits in one data units are damaged and two bits in exactly the same positions in another data unit are also damaged, the LRC checker will not detect an error.</a:t>
            </a:r>
          </a:p>
          <a:p>
            <a:endParaRPr lang="en-IN" dirty="0"/>
          </a:p>
        </p:txBody>
      </p:sp>
    </p:spTree>
    <p:extLst>
      <p:ext uri="{BB962C8B-B14F-4D97-AF65-F5344CB8AC3E}">
        <p14:creationId xmlns:p14="http://schemas.microsoft.com/office/powerpoint/2010/main" val="20230110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2001" y="1341060"/>
            <a:ext cx="7839226" cy="4910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435" name="Rectangle 3"/>
          <p:cNvSpPr>
            <a:spLocks noChangeArrowheads="1"/>
          </p:cNvSpPr>
          <p:nvPr/>
        </p:nvSpPr>
        <p:spPr bwMode="auto">
          <a:xfrm>
            <a:off x="4803322" y="270632"/>
            <a:ext cx="2761732" cy="572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574" tIns="44001" rIns="89574" bIns="44001">
            <a:spAutoFit/>
          </a:bodyPr>
          <a:lstStyle>
            <a:lvl1pPr>
              <a:defRPr sz="2500">
                <a:solidFill>
                  <a:schemeClr val="tx1"/>
                </a:solidFill>
                <a:latin typeface="Times New Roman" panose="02020603050405020304" pitchFamily="18" charset="0"/>
              </a:defRPr>
            </a:lvl1pPr>
            <a:lvl2pPr marL="742950" indent="-285750">
              <a:defRPr sz="2500">
                <a:solidFill>
                  <a:schemeClr val="tx1"/>
                </a:solidFill>
                <a:latin typeface="Times New Roman" panose="02020603050405020304" pitchFamily="18" charset="0"/>
              </a:defRPr>
            </a:lvl2pPr>
            <a:lvl3pPr marL="1143000" indent="-228600">
              <a:defRPr sz="2500">
                <a:solidFill>
                  <a:schemeClr val="tx1"/>
                </a:solidFill>
                <a:latin typeface="Times New Roman" panose="02020603050405020304" pitchFamily="18" charset="0"/>
              </a:defRPr>
            </a:lvl3pPr>
            <a:lvl4pPr marL="1600200" indent="-228600">
              <a:defRPr sz="2500">
                <a:solidFill>
                  <a:schemeClr val="tx1"/>
                </a:solidFill>
                <a:latin typeface="Times New Roman" panose="02020603050405020304" pitchFamily="18" charset="0"/>
              </a:defRPr>
            </a:lvl4pPr>
            <a:lvl5pPr marL="2057400" indent="-228600">
              <a:defRPr sz="2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500">
                <a:solidFill>
                  <a:schemeClr val="tx1"/>
                </a:solidFill>
                <a:latin typeface="Times New Roman" panose="02020603050405020304" pitchFamily="18" charset="0"/>
              </a:defRPr>
            </a:lvl9pPr>
          </a:lstStyle>
          <a:p>
            <a:r>
              <a:rPr lang="en-US" altLang="en-US" sz="3143" b="1">
                <a:solidFill>
                  <a:srgbClr val="00279F"/>
                </a:solidFill>
              </a:rPr>
              <a:t>VRC and LRC</a:t>
            </a:r>
          </a:p>
        </p:txBody>
      </p:sp>
    </p:spTree>
    <p:extLst>
      <p:ext uri="{BB962C8B-B14F-4D97-AF65-F5344CB8AC3E}">
        <p14:creationId xmlns:p14="http://schemas.microsoft.com/office/powerpoint/2010/main" val="232781860"/>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Cyclic redundancy check</a:t>
            </a:r>
          </a:p>
        </p:txBody>
      </p:sp>
      <p:sp>
        <p:nvSpPr>
          <p:cNvPr id="3" name="Content Placeholder 2"/>
          <p:cNvSpPr>
            <a:spLocks noGrp="1"/>
          </p:cNvSpPr>
          <p:nvPr>
            <p:ph idx="1"/>
          </p:nvPr>
        </p:nvSpPr>
        <p:spPr/>
        <p:txBody>
          <a:bodyPr/>
          <a:lstStyle/>
          <a:p>
            <a:r>
              <a:rPr lang="en-IN" dirty="0"/>
              <a:t>The cyclic redundancy check considers a block of data as the coefficients to a polynomial and then divides by a fixed, predetermined polynomial. </a:t>
            </a:r>
          </a:p>
          <a:p>
            <a:r>
              <a:rPr lang="en-IN" dirty="0"/>
              <a:t>The coefficients of the result of the division is taken as the redundant data bits, the CRC.</a:t>
            </a:r>
          </a:p>
          <a:p>
            <a:r>
              <a:rPr lang="en-IN" dirty="0"/>
              <a:t>On reception, one can re-compute the CRC from the payload bits and compare this with the CRC that was received. A mismatch indicates that an error occurred.</a:t>
            </a:r>
          </a:p>
        </p:txBody>
      </p:sp>
    </p:spTree>
    <p:extLst>
      <p:ext uri="{BB962C8B-B14F-4D97-AF65-F5344CB8AC3E}">
        <p14:creationId xmlns:p14="http://schemas.microsoft.com/office/powerpoint/2010/main" val="8079997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2215" y="2488596"/>
            <a:ext cx="8301869" cy="3197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459" name="Rectangle 3"/>
          <p:cNvSpPr>
            <a:spLocks noChangeArrowheads="1"/>
          </p:cNvSpPr>
          <p:nvPr/>
        </p:nvSpPr>
        <p:spPr bwMode="auto">
          <a:xfrm>
            <a:off x="3804793" y="334132"/>
            <a:ext cx="4736632" cy="1056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574" tIns="44001" rIns="89574" bIns="44001">
            <a:spAutoFit/>
          </a:bodyPr>
          <a:lstStyle>
            <a:lvl1pPr>
              <a:defRPr sz="2500">
                <a:solidFill>
                  <a:schemeClr val="tx1"/>
                </a:solidFill>
                <a:latin typeface="Times New Roman" panose="02020603050405020304" pitchFamily="18" charset="0"/>
              </a:defRPr>
            </a:lvl1pPr>
            <a:lvl2pPr marL="742950" indent="-285750">
              <a:defRPr sz="2500">
                <a:solidFill>
                  <a:schemeClr val="tx1"/>
                </a:solidFill>
                <a:latin typeface="Times New Roman" panose="02020603050405020304" pitchFamily="18" charset="0"/>
              </a:defRPr>
            </a:lvl2pPr>
            <a:lvl3pPr marL="1143000" indent="-228600">
              <a:defRPr sz="2500">
                <a:solidFill>
                  <a:schemeClr val="tx1"/>
                </a:solidFill>
                <a:latin typeface="Times New Roman" panose="02020603050405020304" pitchFamily="18" charset="0"/>
              </a:defRPr>
            </a:lvl3pPr>
            <a:lvl4pPr marL="1600200" indent="-228600">
              <a:defRPr sz="2500">
                <a:solidFill>
                  <a:schemeClr val="tx1"/>
                </a:solidFill>
                <a:latin typeface="Times New Roman" panose="02020603050405020304" pitchFamily="18" charset="0"/>
              </a:defRPr>
            </a:lvl4pPr>
            <a:lvl5pPr marL="2057400" indent="-228600">
              <a:defRPr sz="2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500">
                <a:solidFill>
                  <a:schemeClr val="tx1"/>
                </a:solidFill>
                <a:latin typeface="Times New Roman" panose="02020603050405020304" pitchFamily="18" charset="0"/>
              </a:defRPr>
            </a:lvl9pPr>
          </a:lstStyle>
          <a:p>
            <a:pPr algn="ctr"/>
            <a:r>
              <a:rPr lang="en-US" altLang="en-US" sz="3143" b="1">
                <a:solidFill>
                  <a:srgbClr val="00279F"/>
                </a:solidFill>
              </a:rPr>
              <a:t>Cyclic Redundancy Check</a:t>
            </a:r>
          </a:p>
          <a:p>
            <a:pPr algn="ctr"/>
            <a:r>
              <a:rPr lang="en-US" altLang="en-US" sz="3143" b="1">
                <a:solidFill>
                  <a:srgbClr val="00279F"/>
                </a:solidFill>
              </a:rPr>
              <a:t>CRC</a:t>
            </a:r>
          </a:p>
        </p:txBody>
      </p:sp>
    </p:spTree>
    <p:extLst>
      <p:ext uri="{BB962C8B-B14F-4D97-AF65-F5344CB8AC3E}">
        <p14:creationId xmlns:p14="http://schemas.microsoft.com/office/powerpoint/2010/main" val="3818246251"/>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a:defRPr/>
            </a:pPr>
            <a:r>
              <a:rPr lang="en-US" dirty="0"/>
              <a:t>Cyclic Redundancy Check</a:t>
            </a:r>
          </a:p>
        </p:txBody>
      </p:sp>
      <p:sp>
        <p:nvSpPr>
          <p:cNvPr id="20483" name="Rectangle 3"/>
          <p:cNvSpPr>
            <a:spLocks noGrp="1" noChangeArrowheads="1"/>
          </p:cNvSpPr>
          <p:nvPr>
            <p:ph idx="1"/>
          </p:nvPr>
        </p:nvSpPr>
        <p:spPr/>
        <p:txBody>
          <a:bodyPr/>
          <a:lstStyle/>
          <a:p>
            <a:pPr>
              <a:lnSpc>
                <a:spcPct val="90000"/>
              </a:lnSpc>
            </a:pPr>
            <a:r>
              <a:rPr lang="en-US" altLang="en-US" dirty="0"/>
              <a:t>Given a k-bit frame or message, the transmitter generates an n-bit sequence, known as a </a:t>
            </a:r>
            <a:r>
              <a:rPr lang="en-US" altLang="en-US" sz="2762" dirty="0">
                <a:latin typeface="Comic Sans MS" panose="030F0702030302020204" pitchFamily="66" charset="0"/>
              </a:rPr>
              <a:t>frame check sequence (FCS), </a:t>
            </a:r>
            <a:r>
              <a:rPr lang="en-US" altLang="en-US" dirty="0"/>
              <a:t>so that the resulting frame, consisting of (</a:t>
            </a:r>
            <a:r>
              <a:rPr lang="en-US" altLang="en-US" dirty="0" err="1"/>
              <a:t>k+n</a:t>
            </a:r>
            <a:r>
              <a:rPr lang="en-US" altLang="en-US" dirty="0"/>
              <a:t>) bits, is exactly divisible by some predetermined number.</a:t>
            </a:r>
          </a:p>
          <a:p>
            <a:pPr>
              <a:lnSpc>
                <a:spcPct val="90000"/>
              </a:lnSpc>
            </a:pPr>
            <a:r>
              <a:rPr lang="en-US" altLang="en-US" dirty="0"/>
              <a:t>The receiver then divides the incoming frame by the same number and, if there is no remainder, assumes that there was no error.</a:t>
            </a:r>
          </a:p>
        </p:txBody>
      </p:sp>
    </p:spTree>
    <p:extLst>
      <p:ext uri="{BB962C8B-B14F-4D97-AF65-F5344CB8AC3E}">
        <p14:creationId xmlns:p14="http://schemas.microsoft.com/office/powerpoint/2010/main" val="6060940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IN" dirty="0"/>
              <a:t>When the polynomial code method is employed, the sender and receiver must agree upon a </a:t>
            </a:r>
            <a:r>
              <a:rPr lang="en-IN" b="1" dirty="0"/>
              <a:t>generator polynomial</a:t>
            </a:r>
            <a:r>
              <a:rPr lang="en-IN" dirty="0"/>
              <a:t>, </a:t>
            </a:r>
            <a:r>
              <a:rPr lang="en-IN" i="1" dirty="0"/>
              <a:t>G</a:t>
            </a:r>
            <a:r>
              <a:rPr lang="en-IN" dirty="0"/>
              <a:t>(</a:t>
            </a:r>
            <a:r>
              <a:rPr lang="en-IN" i="1" dirty="0"/>
              <a:t>x</a:t>
            </a:r>
            <a:r>
              <a:rPr lang="en-IN" dirty="0"/>
              <a:t>), in advance. Both the high- and low order bits of the generator must be 1. </a:t>
            </a:r>
          </a:p>
          <a:p>
            <a:r>
              <a:rPr lang="en-IN" dirty="0"/>
              <a:t>To compute the CRC for some frame with </a:t>
            </a:r>
            <a:r>
              <a:rPr lang="en-IN" i="1" dirty="0"/>
              <a:t>m </a:t>
            </a:r>
            <a:r>
              <a:rPr lang="en-IN" dirty="0"/>
              <a:t>bits corresponding to the polynomial </a:t>
            </a:r>
            <a:r>
              <a:rPr lang="en-IN" i="1" dirty="0"/>
              <a:t>M</a:t>
            </a:r>
            <a:r>
              <a:rPr lang="en-IN" dirty="0"/>
              <a:t>(</a:t>
            </a:r>
            <a:r>
              <a:rPr lang="en-IN" i="1" dirty="0"/>
              <a:t>x</a:t>
            </a:r>
            <a:r>
              <a:rPr lang="en-IN" dirty="0"/>
              <a:t>), the frame must be longer than the generator polynomial. </a:t>
            </a:r>
          </a:p>
          <a:p>
            <a:r>
              <a:rPr lang="en-IN" dirty="0"/>
              <a:t>The idea is to append a CRC to the end of the frame in such a way that the polynomial represented by the </a:t>
            </a:r>
            <a:r>
              <a:rPr lang="en-IN" dirty="0" err="1"/>
              <a:t>checksummed</a:t>
            </a:r>
            <a:r>
              <a:rPr lang="en-IN" dirty="0"/>
              <a:t> frame is divisible by </a:t>
            </a:r>
            <a:r>
              <a:rPr lang="en-IN" i="1" dirty="0"/>
              <a:t>G</a:t>
            </a:r>
            <a:r>
              <a:rPr lang="en-IN" dirty="0"/>
              <a:t>(</a:t>
            </a:r>
            <a:r>
              <a:rPr lang="en-IN" i="1" dirty="0"/>
              <a:t>x</a:t>
            </a:r>
            <a:r>
              <a:rPr lang="en-IN" dirty="0"/>
              <a:t>)</a:t>
            </a:r>
            <a:r>
              <a:rPr lang="en-IN" i="1" dirty="0"/>
              <a:t>. </a:t>
            </a:r>
          </a:p>
          <a:p>
            <a:r>
              <a:rPr lang="en-IN" dirty="0"/>
              <a:t>When the receiver gets the </a:t>
            </a:r>
            <a:r>
              <a:rPr lang="en-IN" dirty="0" err="1"/>
              <a:t>checksummed</a:t>
            </a:r>
            <a:r>
              <a:rPr lang="en-IN" dirty="0"/>
              <a:t> frame, it tries dividing it by </a:t>
            </a:r>
            <a:r>
              <a:rPr lang="en-IN" i="1" dirty="0"/>
              <a:t>G</a:t>
            </a:r>
            <a:r>
              <a:rPr lang="en-IN" dirty="0"/>
              <a:t>(</a:t>
            </a:r>
            <a:r>
              <a:rPr lang="en-IN" i="1" dirty="0"/>
              <a:t>x</a:t>
            </a:r>
            <a:r>
              <a:rPr lang="en-IN" dirty="0"/>
              <a:t>)</a:t>
            </a:r>
            <a:r>
              <a:rPr lang="en-IN" i="1" dirty="0"/>
              <a:t>. </a:t>
            </a:r>
            <a:r>
              <a:rPr lang="en-IN" dirty="0"/>
              <a:t>If there is a remainder, there has been a transmission error.</a:t>
            </a:r>
          </a:p>
        </p:txBody>
      </p:sp>
    </p:spTree>
    <p:extLst>
      <p:ext uri="{BB962C8B-B14F-4D97-AF65-F5344CB8AC3E}">
        <p14:creationId xmlns:p14="http://schemas.microsoft.com/office/powerpoint/2010/main" val="39350235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IN" dirty="0"/>
              <a:t>The algorithm for computing the CRC is as follows:</a:t>
            </a:r>
          </a:p>
          <a:p>
            <a:pPr marL="0" indent="0">
              <a:buNone/>
            </a:pPr>
            <a:r>
              <a:rPr lang="en-IN" dirty="0"/>
              <a:t>1. Let </a:t>
            </a:r>
            <a:r>
              <a:rPr lang="en-IN" i="1" dirty="0"/>
              <a:t>r </a:t>
            </a:r>
            <a:r>
              <a:rPr lang="en-IN" dirty="0"/>
              <a:t>be the degree of </a:t>
            </a:r>
            <a:r>
              <a:rPr lang="en-IN" i="1" dirty="0"/>
              <a:t>G</a:t>
            </a:r>
            <a:r>
              <a:rPr lang="en-IN" dirty="0"/>
              <a:t>(</a:t>
            </a:r>
            <a:r>
              <a:rPr lang="en-IN" i="1" dirty="0"/>
              <a:t>x</a:t>
            </a:r>
            <a:r>
              <a:rPr lang="en-IN" dirty="0"/>
              <a:t>)</a:t>
            </a:r>
            <a:r>
              <a:rPr lang="en-IN" i="1" dirty="0"/>
              <a:t>. </a:t>
            </a:r>
            <a:r>
              <a:rPr lang="en-IN" dirty="0"/>
              <a:t>Append </a:t>
            </a:r>
            <a:r>
              <a:rPr lang="en-IN" i="1" dirty="0"/>
              <a:t>r </a:t>
            </a:r>
            <a:r>
              <a:rPr lang="en-IN" dirty="0"/>
              <a:t>zero bits to the low-order end of the frame so it now contains </a:t>
            </a:r>
            <a:r>
              <a:rPr lang="en-IN" i="1" dirty="0"/>
              <a:t>m </a:t>
            </a:r>
            <a:r>
              <a:rPr lang="en-IN" dirty="0"/>
              <a:t>+ </a:t>
            </a:r>
            <a:r>
              <a:rPr lang="en-IN" i="1" dirty="0"/>
              <a:t>r </a:t>
            </a:r>
            <a:r>
              <a:rPr lang="en-IN" dirty="0"/>
              <a:t>bits and corresponds to the polynomial </a:t>
            </a:r>
            <a:r>
              <a:rPr lang="en-IN" i="1" dirty="0"/>
              <a:t>x </a:t>
            </a:r>
            <a:r>
              <a:rPr lang="en-IN" i="1" dirty="0" err="1"/>
              <a:t>rM</a:t>
            </a:r>
            <a:r>
              <a:rPr lang="en-IN" dirty="0"/>
              <a:t>(</a:t>
            </a:r>
            <a:r>
              <a:rPr lang="en-IN" i="1" dirty="0"/>
              <a:t>x</a:t>
            </a:r>
            <a:r>
              <a:rPr lang="en-IN" dirty="0"/>
              <a:t>)</a:t>
            </a:r>
            <a:r>
              <a:rPr lang="en-IN" i="1" dirty="0"/>
              <a:t>.</a:t>
            </a:r>
          </a:p>
          <a:p>
            <a:pPr marL="0" indent="0">
              <a:buNone/>
            </a:pPr>
            <a:r>
              <a:rPr lang="en-IN" dirty="0"/>
              <a:t>2. Divide the bit string corresponding to </a:t>
            </a:r>
            <a:r>
              <a:rPr lang="en-IN" i="1" dirty="0"/>
              <a:t>G</a:t>
            </a:r>
            <a:r>
              <a:rPr lang="en-IN" dirty="0"/>
              <a:t>(</a:t>
            </a:r>
            <a:r>
              <a:rPr lang="en-IN" i="1" dirty="0"/>
              <a:t>x</a:t>
            </a:r>
            <a:r>
              <a:rPr lang="en-IN" dirty="0"/>
              <a:t>) into the bit string corresponding to </a:t>
            </a:r>
            <a:r>
              <a:rPr lang="en-IN" i="1" dirty="0"/>
              <a:t>x </a:t>
            </a:r>
            <a:r>
              <a:rPr lang="en-IN" i="1" dirty="0" err="1"/>
              <a:t>rM</a:t>
            </a:r>
            <a:r>
              <a:rPr lang="en-IN" dirty="0"/>
              <a:t>(</a:t>
            </a:r>
            <a:r>
              <a:rPr lang="en-IN" i="1" dirty="0"/>
              <a:t>x</a:t>
            </a:r>
            <a:r>
              <a:rPr lang="en-IN" dirty="0"/>
              <a:t>), using modulo 2 division.</a:t>
            </a:r>
          </a:p>
          <a:p>
            <a:pPr marL="0" indent="0">
              <a:buNone/>
            </a:pPr>
            <a:r>
              <a:rPr lang="en-IN" dirty="0"/>
              <a:t>3. Subtract the remainder (which is always </a:t>
            </a:r>
            <a:r>
              <a:rPr lang="en-IN" i="1" dirty="0"/>
              <a:t>r </a:t>
            </a:r>
            <a:r>
              <a:rPr lang="en-IN" dirty="0"/>
              <a:t>or fewer bits) from the bit</a:t>
            </a:r>
          </a:p>
          <a:p>
            <a:pPr marL="0" indent="0">
              <a:buNone/>
            </a:pPr>
            <a:r>
              <a:rPr lang="en-IN" dirty="0"/>
              <a:t>string corresponding to </a:t>
            </a:r>
            <a:r>
              <a:rPr lang="en-IN" i="1" dirty="0"/>
              <a:t>x </a:t>
            </a:r>
            <a:r>
              <a:rPr lang="en-IN" i="1" dirty="0" err="1"/>
              <a:t>rM</a:t>
            </a:r>
            <a:r>
              <a:rPr lang="en-IN" dirty="0"/>
              <a:t>(</a:t>
            </a:r>
            <a:r>
              <a:rPr lang="en-IN" i="1" dirty="0"/>
              <a:t>x</a:t>
            </a:r>
            <a:r>
              <a:rPr lang="en-IN" dirty="0"/>
              <a:t>) using modulo 2 subtraction. </a:t>
            </a:r>
          </a:p>
          <a:p>
            <a:pPr marL="0" indent="0">
              <a:buNone/>
            </a:pPr>
            <a:r>
              <a:rPr lang="en-IN" dirty="0"/>
              <a:t>The result is the </a:t>
            </a:r>
            <a:r>
              <a:rPr lang="en-IN" dirty="0" err="1"/>
              <a:t>checksummed</a:t>
            </a:r>
            <a:r>
              <a:rPr lang="en-IN" dirty="0"/>
              <a:t> frame to be transmitted. </a:t>
            </a:r>
          </a:p>
        </p:txBody>
      </p:sp>
    </p:spTree>
    <p:extLst>
      <p:ext uri="{BB962C8B-B14F-4D97-AF65-F5344CB8AC3E}">
        <p14:creationId xmlns:p14="http://schemas.microsoft.com/office/powerpoint/2010/main" val="17107919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9501" y="524632"/>
            <a:ext cx="3460750" cy="5604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507" name="Rectangle 3"/>
          <p:cNvSpPr>
            <a:spLocks noChangeArrowheads="1"/>
          </p:cNvSpPr>
          <p:nvPr/>
        </p:nvSpPr>
        <p:spPr bwMode="auto">
          <a:xfrm>
            <a:off x="2855989" y="3318632"/>
            <a:ext cx="2885164" cy="572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574" tIns="44001" rIns="89574" bIns="44001">
            <a:spAutoFit/>
          </a:bodyPr>
          <a:lstStyle>
            <a:lvl1pPr>
              <a:defRPr sz="2500">
                <a:solidFill>
                  <a:schemeClr val="tx1"/>
                </a:solidFill>
                <a:latin typeface="Times New Roman" panose="02020603050405020304" pitchFamily="18" charset="0"/>
              </a:defRPr>
            </a:lvl1pPr>
            <a:lvl2pPr marL="742950" indent="-285750">
              <a:defRPr sz="2500">
                <a:solidFill>
                  <a:schemeClr val="tx1"/>
                </a:solidFill>
                <a:latin typeface="Times New Roman" panose="02020603050405020304" pitchFamily="18" charset="0"/>
              </a:defRPr>
            </a:lvl2pPr>
            <a:lvl3pPr marL="1143000" indent="-228600">
              <a:defRPr sz="2500">
                <a:solidFill>
                  <a:schemeClr val="tx1"/>
                </a:solidFill>
                <a:latin typeface="Times New Roman" panose="02020603050405020304" pitchFamily="18" charset="0"/>
              </a:defRPr>
            </a:lvl3pPr>
            <a:lvl4pPr marL="1600200" indent="-228600">
              <a:defRPr sz="2500">
                <a:solidFill>
                  <a:schemeClr val="tx1"/>
                </a:solidFill>
                <a:latin typeface="Times New Roman" panose="02020603050405020304" pitchFamily="18" charset="0"/>
              </a:defRPr>
            </a:lvl4pPr>
            <a:lvl5pPr marL="2057400" indent="-228600">
              <a:defRPr sz="2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500">
                <a:solidFill>
                  <a:schemeClr val="tx1"/>
                </a:solidFill>
                <a:latin typeface="Times New Roman" panose="02020603050405020304" pitchFamily="18" charset="0"/>
              </a:defRPr>
            </a:lvl9pPr>
          </a:lstStyle>
          <a:p>
            <a:r>
              <a:rPr lang="en-US" altLang="en-US" sz="3143" b="1">
                <a:solidFill>
                  <a:srgbClr val="00279F"/>
                </a:solidFill>
              </a:rPr>
              <a:t>Binary Division</a:t>
            </a:r>
          </a:p>
        </p:txBody>
      </p:sp>
    </p:spTree>
    <p:extLst>
      <p:ext uri="{BB962C8B-B14F-4D97-AF65-F5344CB8AC3E}">
        <p14:creationId xmlns:p14="http://schemas.microsoft.com/office/powerpoint/2010/main" val="1765454908"/>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856411" y="1924594"/>
            <a:ext cx="6235338" cy="4258492"/>
          </a:xfrm>
          <a:prstGeom prst="rect">
            <a:avLst/>
          </a:prstGeom>
        </p:spPr>
      </p:pic>
    </p:spTree>
    <p:extLst>
      <p:ext uri="{BB962C8B-B14F-4D97-AF65-F5344CB8AC3E}">
        <p14:creationId xmlns:p14="http://schemas.microsoft.com/office/powerpoint/2010/main" val="32771391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9025" y="3132667"/>
            <a:ext cx="7316107" cy="1608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531" name="Rectangle 3"/>
          <p:cNvSpPr>
            <a:spLocks noChangeArrowheads="1"/>
          </p:cNvSpPr>
          <p:nvPr/>
        </p:nvSpPr>
        <p:spPr bwMode="auto">
          <a:xfrm>
            <a:off x="4727727" y="651632"/>
            <a:ext cx="2131753" cy="572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574" tIns="44001" rIns="89574" bIns="44001">
            <a:spAutoFit/>
          </a:bodyPr>
          <a:lstStyle>
            <a:lvl1pPr>
              <a:defRPr sz="2500">
                <a:solidFill>
                  <a:schemeClr val="tx1"/>
                </a:solidFill>
                <a:latin typeface="Times New Roman" panose="02020603050405020304" pitchFamily="18" charset="0"/>
              </a:defRPr>
            </a:lvl1pPr>
            <a:lvl2pPr marL="742950" indent="-285750">
              <a:defRPr sz="2500">
                <a:solidFill>
                  <a:schemeClr val="tx1"/>
                </a:solidFill>
                <a:latin typeface="Times New Roman" panose="02020603050405020304" pitchFamily="18" charset="0"/>
              </a:defRPr>
            </a:lvl2pPr>
            <a:lvl3pPr marL="1143000" indent="-228600">
              <a:defRPr sz="2500">
                <a:solidFill>
                  <a:schemeClr val="tx1"/>
                </a:solidFill>
                <a:latin typeface="Times New Roman" panose="02020603050405020304" pitchFamily="18" charset="0"/>
              </a:defRPr>
            </a:lvl3pPr>
            <a:lvl4pPr marL="1600200" indent="-228600">
              <a:defRPr sz="2500">
                <a:solidFill>
                  <a:schemeClr val="tx1"/>
                </a:solidFill>
                <a:latin typeface="Times New Roman" panose="02020603050405020304" pitchFamily="18" charset="0"/>
              </a:defRPr>
            </a:lvl4pPr>
            <a:lvl5pPr marL="2057400" indent="-228600">
              <a:defRPr sz="2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500">
                <a:solidFill>
                  <a:schemeClr val="tx1"/>
                </a:solidFill>
                <a:latin typeface="Times New Roman" panose="02020603050405020304" pitchFamily="18" charset="0"/>
              </a:defRPr>
            </a:lvl9pPr>
          </a:lstStyle>
          <a:p>
            <a:r>
              <a:rPr lang="en-US" altLang="en-US" sz="3143" b="1">
                <a:solidFill>
                  <a:srgbClr val="00279F"/>
                </a:solidFill>
              </a:rPr>
              <a:t>Polynomial</a:t>
            </a:r>
          </a:p>
        </p:txBody>
      </p:sp>
    </p:spTree>
    <p:extLst>
      <p:ext uri="{BB962C8B-B14F-4D97-AF65-F5344CB8AC3E}">
        <p14:creationId xmlns:p14="http://schemas.microsoft.com/office/powerpoint/2010/main" val="3308031079"/>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8775" y="1185334"/>
            <a:ext cx="4008060" cy="4600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555" name="Rectangle 6"/>
          <p:cNvSpPr>
            <a:spLocks noChangeArrowheads="1"/>
          </p:cNvSpPr>
          <p:nvPr/>
        </p:nvSpPr>
        <p:spPr bwMode="auto">
          <a:xfrm>
            <a:off x="4054930" y="117929"/>
            <a:ext cx="4241304" cy="572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574" tIns="44001" rIns="89574" bIns="44001">
            <a:spAutoFit/>
          </a:bodyPr>
          <a:lstStyle>
            <a:lvl1pPr>
              <a:defRPr sz="2500">
                <a:solidFill>
                  <a:schemeClr val="tx1"/>
                </a:solidFill>
                <a:latin typeface="Times New Roman" panose="02020603050405020304" pitchFamily="18" charset="0"/>
              </a:defRPr>
            </a:lvl1pPr>
            <a:lvl2pPr marL="742950" indent="-285750">
              <a:defRPr sz="2500">
                <a:solidFill>
                  <a:schemeClr val="tx1"/>
                </a:solidFill>
                <a:latin typeface="Times New Roman" panose="02020603050405020304" pitchFamily="18" charset="0"/>
              </a:defRPr>
            </a:lvl2pPr>
            <a:lvl3pPr marL="1143000" indent="-228600">
              <a:defRPr sz="2500">
                <a:solidFill>
                  <a:schemeClr val="tx1"/>
                </a:solidFill>
                <a:latin typeface="Times New Roman" panose="02020603050405020304" pitchFamily="18" charset="0"/>
              </a:defRPr>
            </a:lvl3pPr>
            <a:lvl4pPr marL="1600200" indent="-228600">
              <a:defRPr sz="2500">
                <a:solidFill>
                  <a:schemeClr val="tx1"/>
                </a:solidFill>
                <a:latin typeface="Times New Roman" panose="02020603050405020304" pitchFamily="18" charset="0"/>
              </a:defRPr>
            </a:lvl4pPr>
            <a:lvl5pPr marL="2057400" indent="-228600">
              <a:defRPr sz="2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500">
                <a:solidFill>
                  <a:schemeClr val="tx1"/>
                </a:solidFill>
                <a:latin typeface="Times New Roman" panose="02020603050405020304" pitchFamily="18" charset="0"/>
              </a:defRPr>
            </a:lvl9pPr>
          </a:lstStyle>
          <a:p>
            <a:r>
              <a:rPr lang="en-US" altLang="en-US" sz="3143" b="1">
                <a:solidFill>
                  <a:srgbClr val="00279F"/>
                </a:solidFill>
              </a:rPr>
              <a:t>Polynomial and Divisor</a:t>
            </a:r>
          </a:p>
        </p:txBody>
      </p:sp>
    </p:spTree>
    <p:extLst>
      <p:ext uri="{BB962C8B-B14F-4D97-AF65-F5344CB8AC3E}">
        <p14:creationId xmlns:p14="http://schemas.microsoft.com/office/powerpoint/2010/main" val="302534488"/>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954" y="2881691"/>
            <a:ext cx="7778750" cy="2425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579" name="Rectangle 3"/>
          <p:cNvSpPr>
            <a:spLocks noChangeArrowheads="1"/>
          </p:cNvSpPr>
          <p:nvPr/>
        </p:nvSpPr>
        <p:spPr bwMode="auto">
          <a:xfrm>
            <a:off x="4129013" y="421822"/>
            <a:ext cx="4005662" cy="572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574" tIns="44001" rIns="89574" bIns="44001">
            <a:spAutoFit/>
          </a:bodyPr>
          <a:lstStyle>
            <a:lvl1pPr>
              <a:defRPr sz="2500">
                <a:solidFill>
                  <a:schemeClr val="tx1"/>
                </a:solidFill>
                <a:latin typeface="Times New Roman" panose="02020603050405020304" pitchFamily="18" charset="0"/>
              </a:defRPr>
            </a:lvl1pPr>
            <a:lvl2pPr marL="742950" indent="-285750">
              <a:defRPr sz="2500">
                <a:solidFill>
                  <a:schemeClr val="tx1"/>
                </a:solidFill>
                <a:latin typeface="Times New Roman" panose="02020603050405020304" pitchFamily="18" charset="0"/>
              </a:defRPr>
            </a:lvl2pPr>
            <a:lvl3pPr marL="1143000" indent="-228600">
              <a:defRPr sz="2500">
                <a:solidFill>
                  <a:schemeClr val="tx1"/>
                </a:solidFill>
                <a:latin typeface="Times New Roman" panose="02020603050405020304" pitchFamily="18" charset="0"/>
              </a:defRPr>
            </a:lvl3pPr>
            <a:lvl4pPr marL="1600200" indent="-228600">
              <a:defRPr sz="2500">
                <a:solidFill>
                  <a:schemeClr val="tx1"/>
                </a:solidFill>
                <a:latin typeface="Times New Roman" panose="02020603050405020304" pitchFamily="18" charset="0"/>
              </a:defRPr>
            </a:lvl4pPr>
            <a:lvl5pPr marL="2057400" indent="-228600">
              <a:defRPr sz="2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500">
                <a:solidFill>
                  <a:schemeClr val="tx1"/>
                </a:solidFill>
                <a:latin typeface="Times New Roman" panose="02020603050405020304" pitchFamily="18" charset="0"/>
              </a:defRPr>
            </a:lvl9pPr>
          </a:lstStyle>
          <a:p>
            <a:r>
              <a:rPr lang="en-US" altLang="en-US" sz="3143" b="1">
                <a:solidFill>
                  <a:srgbClr val="00279F"/>
                </a:solidFill>
              </a:rPr>
              <a:t>Standard Polynomials</a:t>
            </a:r>
          </a:p>
        </p:txBody>
      </p:sp>
    </p:spTree>
    <p:extLst>
      <p:ext uri="{BB962C8B-B14F-4D97-AF65-F5344CB8AC3E}">
        <p14:creationId xmlns:p14="http://schemas.microsoft.com/office/powerpoint/2010/main" val="2183030557"/>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Checksum</a:t>
            </a:r>
          </a:p>
        </p:txBody>
      </p:sp>
      <p:sp>
        <p:nvSpPr>
          <p:cNvPr id="3" name="Content Placeholder 2"/>
          <p:cNvSpPr>
            <a:spLocks noGrp="1"/>
          </p:cNvSpPr>
          <p:nvPr>
            <p:ph idx="1"/>
          </p:nvPr>
        </p:nvSpPr>
        <p:spPr/>
        <p:txBody>
          <a:bodyPr>
            <a:normAutofit/>
          </a:bodyPr>
          <a:lstStyle/>
          <a:p>
            <a:r>
              <a:rPr lang="en-IN" dirty="0"/>
              <a:t>The </a:t>
            </a:r>
            <a:r>
              <a:rPr lang="en-IN" b="1" dirty="0"/>
              <a:t>checksum</a:t>
            </a:r>
            <a:r>
              <a:rPr lang="en-IN" dirty="0"/>
              <a:t>, is closely related to groups of parity bits. </a:t>
            </a:r>
          </a:p>
          <a:p>
            <a:r>
              <a:rPr lang="en-IN" dirty="0"/>
              <a:t>The word ‘‘checksum’’ is often used to mean a group of check bits associated with a message, regardless of how they are calculated. A group of parity bits is one example of a checksum.</a:t>
            </a:r>
          </a:p>
          <a:p>
            <a:r>
              <a:rPr lang="en-IN" dirty="0"/>
              <a:t> However, there are other, stronger checksums based on a running sum of the data bits of the message. The checksum is usually placed at the end of the message, as the complement of the sum function.</a:t>
            </a:r>
          </a:p>
          <a:p>
            <a:r>
              <a:rPr lang="en-IN" dirty="0"/>
              <a:t>This way, errors may be detected by summing the entire received codeword, both data bits and checksum. If the result comes out to be zero, no error has been detected.</a:t>
            </a:r>
          </a:p>
        </p:txBody>
      </p:sp>
    </p:spTree>
    <p:extLst>
      <p:ext uri="{BB962C8B-B14F-4D97-AF65-F5344CB8AC3E}">
        <p14:creationId xmlns:p14="http://schemas.microsoft.com/office/powerpoint/2010/main" val="6088627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454" y="892024"/>
            <a:ext cx="8371416" cy="5300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603" name="Rectangle 3"/>
          <p:cNvSpPr>
            <a:spLocks noChangeArrowheads="1"/>
          </p:cNvSpPr>
          <p:nvPr/>
        </p:nvSpPr>
        <p:spPr bwMode="auto">
          <a:xfrm>
            <a:off x="5176763" y="117929"/>
            <a:ext cx="1997100" cy="572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574" tIns="44001" rIns="89574" bIns="44001">
            <a:spAutoFit/>
          </a:bodyPr>
          <a:lstStyle>
            <a:lvl1pPr>
              <a:defRPr sz="2500">
                <a:solidFill>
                  <a:schemeClr val="tx1"/>
                </a:solidFill>
                <a:latin typeface="Times New Roman" panose="02020603050405020304" pitchFamily="18" charset="0"/>
              </a:defRPr>
            </a:lvl1pPr>
            <a:lvl2pPr marL="742950" indent="-285750">
              <a:defRPr sz="2500">
                <a:solidFill>
                  <a:schemeClr val="tx1"/>
                </a:solidFill>
                <a:latin typeface="Times New Roman" panose="02020603050405020304" pitchFamily="18" charset="0"/>
              </a:defRPr>
            </a:lvl2pPr>
            <a:lvl3pPr marL="1143000" indent="-228600">
              <a:defRPr sz="2500">
                <a:solidFill>
                  <a:schemeClr val="tx1"/>
                </a:solidFill>
                <a:latin typeface="Times New Roman" panose="02020603050405020304" pitchFamily="18" charset="0"/>
              </a:defRPr>
            </a:lvl3pPr>
            <a:lvl4pPr marL="1600200" indent="-228600">
              <a:defRPr sz="2500">
                <a:solidFill>
                  <a:schemeClr val="tx1"/>
                </a:solidFill>
                <a:latin typeface="Times New Roman" panose="02020603050405020304" pitchFamily="18" charset="0"/>
              </a:defRPr>
            </a:lvl4pPr>
            <a:lvl5pPr marL="2057400" indent="-228600">
              <a:defRPr sz="2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500">
                <a:solidFill>
                  <a:schemeClr val="tx1"/>
                </a:solidFill>
                <a:latin typeface="Times New Roman" panose="02020603050405020304" pitchFamily="18" charset="0"/>
              </a:defRPr>
            </a:lvl9pPr>
          </a:lstStyle>
          <a:p>
            <a:r>
              <a:rPr lang="en-US" altLang="en-US" sz="3143" b="1">
                <a:solidFill>
                  <a:srgbClr val="00279F"/>
                </a:solidFill>
              </a:rPr>
              <a:t>Checksum</a:t>
            </a:r>
          </a:p>
        </p:txBody>
      </p:sp>
    </p:spTree>
    <p:extLst>
      <p:ext uri="{BB962C8B-B14F-4D97-AF65-F5344CB8AC3E}">
        <p14:creationId xmlns:p14="http://schemas.microsoft.com/office/powerpoint/2010/main" val="2033716756"/>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A checksum of a message is an arithmetic sum of message code words of a certain word length, for example byte values, and their carry value. </a:t>
            </a:r>
          </a:p>
          <a:p>
            <a:r>
              <a:rPr lang="en-IN" dirty="0"/>
              <a:t>The sum is negated by means of ones-complement, and stored or transferred as an extra code word extending the message.</a:t>
            </a:r>
          </a:p>
          <a:p>
            <a:r>
              <a:rPr lang="en-IN" dirty="0"/>
              <a:t>On the receiver side, a new checksum may be calculated from the extended message. If the new checksum is not 0, an error has been detected.</a:t>
            </a:r>
          </a:p>
        </p:txBody>
      </p:sp>
    </p:spTree>
    <p:extLst>
      <p:ext uri="{BB962C8B-B14F-4D97-AF65-F5344CB8AC3E}">
        <p14:creationId xmlns:p14="http://schemas.microsoft.com/office/powerpoint/2010/main" val="35207287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114026" y="1065401"/>
            <a:ext cx="8019875" cy="5041783"/>
          </a:xfrm>
          <a:prstGeom prst="rect">
            <a:avLst/>
          </a:prstGeom>
        </p:spPr>
      </p:pic>
    </p:spTree>
    <p:extLst>
      <p:ext uri="{BB962C8B-B14F-4D97-AF65-F5344CB8AC3E}">
        <p14:creationId xmlns:p14="http://schemas.microsoft.com/office/powerpoint/2010/main" val="29979823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endParaRPr lang="en-IN" dirty="0"/>
          </a:p>
          <a:p>
            <a:r>
              <a:rPr lang="en-IN" dirty="0"/>
              <a:t>The sender initializes the checksum to 0 and adds all data items and the checksum (the  checksum is considered as one data item).</a:t>
            </a:r>
          </a:p>
          <a:p>
            <a:r>
              <a:rPr lang="en-IN" dirty="0"/>
              <a:t>The result is 36. However, 36 cannot be expressed in 4bits.</a:t>
            </a:r>
          </a:p>
          <a:p>
            <a:r>
              <a:rPr lang="en-IN" dirty="0"/>
              <a:t>The extra two bits are wrapped and added with the sum to create the wrapped sum value 6. </a:t>
            </a:r>
          </a:p>
          <a:p>
            <a:r>
              <a:rPr lang="en-IN" dirty="0"/>
              <a:t>The sum is then complemented, resulting in the checksum value 9 (15−6=9).</a:t>
            </a:r>
          </a:p>
          <a:p>
            <a:r>
              <a:rPr lang="en-IN" dirty="0"/>
              <a:t>The sender now sends six data items to the receiver including the checksum 9.</a:t>
            </a:r>
          </a:p>
        </p:txBody>
      </p:sp>
    </p:spTree>
    <p:extLst>
      <p:ext uri="{BB962C8B-B14F-4D97-AF65-F5344CB8AC3E}">
        <p14:creationId xmlns:p14="http://schemas.microsoft.com/office/powerpoint/2010/main" val="20043834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endParaRPr lang="en-IN" dirty="0"/>
          </a:p>
          <a:p>
            <a:r>
              <a:rPr lang="en-IN" dirty="0"/>
              <a:t>The receiver follows the same procedure as the sender. </a:t>
            </a:r>
          </a:p>
          <a:p>
            <a:r>
              <a:rPr lang="en-IN" dirty="0"/>
              <a:t>It adds all data items (including the checksum);  the result is 45.</a:t>
            </a:r>
          </a:p>
          <a:p>
            <a:r>
              <a:rPr lang="en-IN" dirty="0"/>
              <a:t>The sum is wrapped and becomes 15. The wrapped sum is complemented and becomes 0. </a:t>
            </a:r>
          </a:p>
          <a:p>
            <a:r>
              <a:rPr lang="en-IN" dirty="0"/>
              <a:t>Since the value of the checksum is 0, this means that the data is not corrupted. </a:t>
            </a:r>
          </a:p>
          <a:p>
            <a:r>
              <a:rPr lang="en-IN" dirty="0"/>
              <a:t>The receiver drops the checksum and keeps the other data items. </a:t>
            </a:r>
          </a:p>
          <a:p>
            <a:r>
              <a:rPr lang="en-IN" dirty="0"/>
              <a:t>If the checksum is not zero, the entire packet is dropped.</a:t>
            </a:r>
          </a:p>
        </p:txBody>
      </p:sp>
    </p:spTree>
    <p:extLst>
      <p:ext uri="{BB962C8B-B14F-4D97-AF65-F5344CB8AC3E}">
        <p14:creationId xmlns:p14="http://schemas.microsoft.com/office/powerpoint/2010/main" val="268093065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a:defRPr/>
            </a:pPr>
            <a:endParaRPr lang="en-US" b="1" i="1" dirty="0">
              <a:solidFill>
                <a:srgbClr val="CC0066"/>
              </a:solidFill>
              <a:effectLst>
                <a:outerShdw blurRad="38100" dist="38100" dir="2700000" algn="tl">
                  <a:srgbClr val="C0C0C0"/>
                </a:outerShdw>
              </a:effectLst>
              <a:latin typeface="Book Antiqua" pitchFamily="18" charset="0"/>
            </a:endParaRPr>
          </a:p>
        </p:txBody>
      </p:sp>
      <p:sp>
        <p:nvSpPr>
          <p:cNvPr id="28675" name="Rectangle 3"/>
          <p:cNvSpPr>
            <a:spLocks noGrp="1" noChangeArrowheads="1"/>
          </p:cNvSpPr>
          <p:nvPr>
            <p:ph idx="1"/>
          </p:nvPr>
        </p:nvSpPr>
        <p:spPr/>
        <p:txBody>
          <a:bodyPr/>
          <a:lstStyle/>
          <a:p>
            <a:pPr marL="0" indent="0">
              <a:buClr>
                <a:srgbClr val="CC0066"/>
              </a:buClr>
              <a:buNone/>
            </a:pPr>
            <a:r>
              <a:rPr lang="en-US" altLang="en-US" dirty="0"/>
              <a:t>The checksum detects all errors involving an odd number of bits.</a:t>
            </a:r>
          </a:p>
          <a:p>
            <a:pPr marL="0" indent="0">
              <a:buClr>
                <a:srgbClr val="CC0066"/>
              </a:buClr>
              <a:buNone/>
            </a:pPr>
            <a:r>
              <a:rPr lang="en-US" altLang="en-US" dirty="0"/>
              <a:t>It detects most errors involving an even number of bits.</a:t>
            </a:r>
          </a:p>
          <a:p>
            <a:pPr marL="0" indent="0">
              <a:buClr>
                <a:srgbClr val="CC0066"/>
              </a:buClr>
              <a:buNone/>
            </a:pPr>
            <a:r>
              <a:rPr lang="en-US" altLang="en-US" dirty="0"/>
              <a:t>If one or more bits of a segment are damaged and the corresponding bit or bits of opposite value in a second segment are also damaged, the sums of those columns will not change and the receiver will not detect a problem.</a:t>
            </a:r>
          </a:p>
          <a:p>
            <a:pPr>
              <a:buFontTx/>
              <a:buNone/>
            </a:pPr>
            <a:endParaRPr lang="en-US" altLang="en-US" dirty="0"/>
          </a:p>
        </p:txBody>
      </p:sp>
    </p:spTree>
    <p:extLst>
      <p:ext uri="{BB962C8B-B14F-4D97-AF65-F5344CB8AC3E}">
        <p14:creationId xmlns:p14="http://schemas.microsoft.com/office/powerpoint/2010/main" val="367868131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Internet Checksum</a:t>
            </a:r>
            <a:endParaRPr lang="en-IN" dirty="0"/>
          </a:p>
        </p:txBody>
      </p:sp>
      <p:sp>
        <p:nvSpPr>
          <p:cNvPr id="3" name="Content Placeholder 2"/>
          <p:cNvSpPr>
            <a:spLocks noGrp="1"/>
          </p:cNvSpPr>
          <p:nvPr>
            <p:ph idx="1"/>
          </p:nvPr>
        </p:nvSpPr>
        <p:spPr/>
        <p:txBody>
          <a:bodyPr>
            <a:normAutofit/>
          </a:bodyPr>
          <a:lstStyle/>
          <a:p>
            <a:pPr marL="0" indent="0">
              <a:buNone/>
            </a:pPr>
            <a:r>
              <a:rPr lang="en-IN" dirty="0"/>
              <a:t>Traditionally, the Internet has been using a 16-bit checksum. The sender calculates the checksum by following these steps.</a:t>
            </a:r>
          </a:p>
          <a:p>
            <a:pPr marL="0" indent="0">
              <a:buNone/>
            </a:pPr>
            <a:r>
              <a:rPr lang="en-IN" dirty="0"/>
              <a:t>Sender site:</a:t>
            </a:r>
          </a:p>
          <a:p>
            <a:pPr marL="0" indent="0">
              <a:buNone/>
            </a:pPr>
            <a:r>
              <a:rPr lang="en-IN" dirty="0"/>
              <a:t>1.The message is divided into 16-bit words.</a:t>
            </a:r>
          </a:p>
          <a:p>
            <a:pPr marL="0" indent="0">
              <a:buNone/>
            </a:pPr>
            <a:r>
              <a:rPr lang="en-IN" dirty="0"/>
              <a:t>2.The value of the checksum word is set to 0.</a:t>
            </a:r>
          </a:p>
          <a:p>
            <a:pPr marL="0" indent="0">
              <a:buNone/>
            </a:pPr>
            <a:r>
              <a:rPr lang="en-IN" dirty="0"/>
              <a:t>3.All words including the checksum are added using one’s complement addition.</a:t>
            </a:r>
          </a:p>
          <a:p>
            <a:pPr marL="0" indent="0">
              <a:buNone/>
            </a:pPr>
            <a:r>
              <a:rPr lang="en-IN" dirty="0"/>
              <a:t>4.The sum is complemented and becomes the checksum.</a:t>
            </a:r>
          </a:p>
          <a:p>
            <a:pPr marL="0" indent="0">
              <a:buNone/>
            </a:pPr>
            <a:r>
              <a:rPr lang="en-IN" dirty="0"/>
              <a:t>5.The checksum is sent with the data.</a:t>
            </a:r>
          </a:p>
        </p:txBody>
      </p:sp>
    </p:spTree>
    <p:extLst>
      <p:ext uri="{BB962C8B-B14F-4D97-AF65-F5344CB8AC3E}">
        <p14:creationId xmlns:p14="http://schemas.microsoft.com/office/powerpoint/2010/main" val="30794260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a:p>
            <a:pPr marL="0" indent="0">
              <a:buNone/>
            </a:pPr>
            <a:r>
              <a:rPr lang="en-IN" dirty="0"/>
              <a:t>Receiver site:</a:t>
            </a:r>
          </a:p>
          <a:p>
            <a:pPr marL="0" indent="0">
              <a:buNone/>
            </a:pPr>
            <a:r>
              <a:rPr lang="en-IN" dirty="0"/>
              <a:t>1.The message (including checksum) is divided into 16-bit words.</a:t>
            </a:r>
          </a:p>
          <a:p>
            <a:pPr marL="0" indent="0">
              <a:buNone/>
            </a:pPr>
            <a:r>
              <a:rPr lang="en-IN" dirty="0"/>
              <a:t>2.All words are added using one’s complement addition.</a:t>
            </a:r>
          </a:p>
          <a:p>
            <a:pPr marL="0" indent="0">
              <a:buNone/>
            </a:pPr>
            <a:r>
              <a:rPr lang="en-IN" dirty="0"/>
              <a:t>3.The sum is complemented and becomes the new checksum.</a:t>
            </a:r>
          </a:p>
          <a:p>
            <a:pPr marL="0" indent="0">
              <a:buNone/>
            </a:pPr>
            <a:r>
              <a:rPr lang="en-IN" dirty="0"/>
              <a:t>4.If the value of checksum is 0, the message is accepted; otherwise, it is rejected.</a:t>
            </a:r>
          </a:p>
        </p:txBody>
      </p:sp>
    </p:spTree>
    <p:extLst>
      <p:ext uri="{BB962C8B-B14F-4D97-AF65-F5344CB8AC3E}">
        <p14:creationId xmlns:p14="http://schemas.microsoft.com/office/powerpoint/2010/main" val="24307979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