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Default ContentType="image/x-emf" Extension="emf"/>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13.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5.xml"/>
  <Override ContentType="application/vnd.openxmlformats-officedocument.presentationml.slide+xml" PartName="/ppt/slides/slide7.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7.xml"/><Relationship Id="rId22" Type="http://schemas.openxmlformats.org/officeDocument/2006/relationships/slide" Target="slides/slide19.xml"/><Relationship Id="rId21" Type="http://schemas.openxmlformats.org/officeDocument/2006/relationships/slide" Target="slides/slide18.xml"/><Relationship Id="rId24" Type="http://schemas.openxmlformats.org/officeDocument/2006/relationships/slide" Target="slides/slide21.xml"/><Relationship Id="rId23" Type="http://schemas.openxmlformats.org/officeDocument/2006/relationships/slide" Target="slides/slide20.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slide" Target="slides/slide1.xml"/><Relationship Id="rId9" Type="http://schemas.openxmlformats.org/officeDocument/2006/relationships/slide" Target="slides/slide6.xml"/><Relationship Id="rId26" Type="http://schemas.openxmlformats.org/officeDocument/2006/relationships/slide" Target="slides/slide23.xml"/><Relationship Id="rId25" Type="http://schemas.openxmlformats.org/officeDocument/2006/relationships/slide" Target="slides/slide22.xml"/><Relationship Id="rId28" Type="http://schemas.openxmlformats.org/officeDocument/2006/relationships/slide" Target="slides/slide25.xml"/><Relationship Id="rId27" Type="http://schemas.openxmlformats.org/officeDocument/2006/relationships/slide" Target="slides/slide24.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11" Type="http://schemas.openxmlformats.org/officeDocument/2006/relationships/slide" Target="slides/slide8.xml"/><Relationship Id="rId10" Type="http://schemas.openxmlformats.org/officeDocument/2006/relationships/slide" Target="slides/slide7.xml"/><Relationship Id="rId13" Type="http://schemas.openxmlformats.org/officeDocument/2006/relationships/slide" Target="slides/slide10.xml"/><Relationship Id="rId12" Type="http://schemas.openxmlformats.org/officeDocument/2006/relationships/slide" Target="slides/slide9.xml"/><Relationship Id="rId15" Type="http://schemas.openxmlformats.org/officeDocument/2006/relationships/slide" Target="slides/slide12.xml"/><Relationship Id="rId14" Type="http://schemas.openxmlformats.org/officeDocument/2006/relationships/slide" Target="slides/slide11.xml"/><Relationship Id="rId17" Type="http://schemas.openxmlformats.org/officeDocument/2006/relationships/slide" Target="slides/slide14.xml"/><Relationship Id="rId16" Type="http://schemas.openxmlformats.org/officeDocument/2006/relationships/slide" Target="slides/slide13.xml"/><Relationship Id="rId19" Type="http://schemas.openxmlformats.org/officeDocument/2006/relationships/slide" Target="slides/slide16.xml"/><Relationship Id="rId18"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C651260-F4DB-4CE5-B1AD-503B489D3826}"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359AB6-5F8D-49F8-A244-311CBF7A0F19}" type="slidenum">
              <a:rPr lang="en-US" smtClean="0"/>
              <a:t>‹#›</a:t>
            </a:fld>
            <a:endParaRPr lang="en-US"/>
          </a:p>
        </p:txBody>
      </p:sp>
    </p:spTree>
    <p:extLst>
      <p:ext uri="{BB962C8B-B14F-4D97-AF65-F5344CB8AC3E}">
        <p14:creationId xmlns:p14="http://schemas.microsoft.com/office/powerpoint/2010/main" val="1107070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651260-F4DB-4CE5-B1AD-503B489D3826}"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359AB6-5F8D-49F8-A244-311CBF7A0F19}" type="slidenum">
              <a:rPr lang="en-US" smtClean="0"/>
              <a:t>‹#›</a:t>
            </a:fld>
            <a:endParaRPr lang="en-US"/>
          </a:p>
        </p:txBody>
      </p:sp>
    </p:spTree>
    <p:extLst>
      <p:ext uri="{BB962C8B-B14F-4D97-AF65-F5344CB8AC3E}">
        <p14:creationId xmlns:p14="http://schemas.microsoft.com/office/powerpoint/2010/main" val="1087311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C651260-F4DB-4CE5-B1AD-503B489D3826}"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359AB6-5F8D-49F8-A244-311CBF7A0F19}" type="slidenum">
              <a:rPr lang="en-US" smtClean="0"/>
              <a:t>‹#›</a:t>
            </a:fld>
            <a:endParaRPr lang="en-US"/>
          </a:p>
        </p:txBody>
      </p:sp>
    </p:spTree>
    <p:extLst>
      <p:ext uri="{BB962C8B-B14F-4D97-AF65-F5344CB8AC3E}">
        <p14:creationId xmlns:p14="http://schemas.microsoft.com/office/powerpoint/2010/main" val="1947484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C651260-F4DB-4CE5-B1AD-503B489D3826}"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359AB6-5F8D-49F8-A244-311CBF7A0F19}" type="slidenum">
              <a:rPr lang="en-US" smtClean="0"/>
              <a:t>‹#›</a:t>
            </a:fld>
            <a:endParaRPr lang="en-US"/>
          </a:p>
        </p:txBody>
      </p:sp>
    </p:spTree>
    <p:extLst>
      <p:ext uri="{BB962C8B-B14F-4D97-AF65-F5344CB8AC3E}">
        <p14:creationId xmlns:p14="http://schemas.microsoft.com/office/powerpoint/2010/main" val="33651813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C651260-F4DB-4CE5-B1AD-503B489D3826}" type="datetimeFigureOut">
              <a:rPr lang="en-US" smtClean="0"/>
              <a:t>8/27/2026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1359AB6-5F8D-49F8-A244-311CBF7A0F19}" type="slidenum">
              <a:rPr lang="en-US" smtClean="0"/>
              <a:t>‹#›</a:t>
            </a:fld>
            <a:endParaRPr lang="en-US"/>
          </a:p>
        </p:txBody>
      </p:sp>
    </p:spTree>
    <p:extLst>
      <p:ext uri="{BB962C8B-B14F-4D97-AF65-F5344CB8AC3E}">
        <p14:creationId xmlns:p14="http://schemas.microsoft.com/office/powerpoint/2010/main" val="194471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C651260-F4DB-4CE5-B1AD-503B489D3826}" type="datetimeFigureOut">
              <a:rPr lang="en-US" smtClean="0"/>
              <a:t>8/27/2026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1359AB6-5F8D-49F8-A244-311CBF7A0F19}" type="slidenum">
              <a:rPr lang="en-US" smtClean="0"/>
              <a:t>‹#›</a:t>
            </a:fld>
            <a:endParaRPr lang="en-US"/>
          </a:p>
        </p:txBody>
      </p:sp>
    </p:spTree>
    <p:extLst>
      <p:ext uri="{BB962C8B-B14F-4D97-AF65-F5344CB8AC3E}">
        <p14:creationId xmlns:p14="http://schemas.microsoft.com/office/powerpoint/2010/main" val="2918232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651260-F4DB-4CE5-B1AD-503B489D3826}" type="datetimeFigureOut">
              <a:rPr lang="en-US" smtClean="0"/>
              <a:t>8/27/2026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1359AB6-5F8D-49F8-A244-311CBF7A0F19}" type="slidenum">
              <a:rPr lang="en-US" smtClean="0"/>
              <a:t>‹#›</a:t>
            </a:fld>
            <a:endParaRPr lang="en-US"/>
          </a:p>
        </p:txBody>
      </p:sp>
    </p:spTree>
    <p:extLst>
      <p:ext uri="{BB962C8B-B14F-4D97-AF65-F5344CB8AC3E}">
        <p14:creationId xmlns:p14="http://schemas.microsoft.com/office/powerpoint/2010/main" val="584321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C651260-F4DB-4CE5-B1AD-503B489D3826}"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359AB6-5F8D-49F8-A244-311CBF7A0F19}" type="slidenum">
              <a:rPr lang="en-US" smtClean="0"/>
              <a:t>‹#›</a:t>
            </a:fld>
            <a:endParaRPr lang="en-US"/>
          </a:p>
        </p:txBody>
      </p:sp>
    </p:spTree>
    <p:extLst>
      <p:ext uri="{BB962C8B-B14F-4D97-AF65-F5344CB8AC3E}">
        <p14:creationId xmlns:p14="http://schemas.microsoft.com/office/powerpoint/2010/main" val="3730111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C651260-F4DB-4CE5-B1AD-503B489D3826}" type="datetimeFigureOut">
              <a:rPr lang="en-US" smtClean="0"/>
              <a:t>8/27/2026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1359AB6-5F8D-49F8-A244-311CBF7A0F19}" type="slidenum">
              <a:rPr lang="en-US" smtClean="0"/>
              <a:t>‹#›</a:t>
            </a:fld>
            <a:endParaRPr lang="en-US"/>
          </a:p>
        </p:txBody>
      </p:sp>
    </p:spTree>
    <p:extLst>
      <p:ext uri="{BB962C8B-B14F-4D97-AF65-F5344CB8AC3E}">
        <p14:creationId xmlns:p14="http://schemas.microsoft.com/office/powerpoint/2010/main" val="2025414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651260-F4DB-4CE5-B1AD-503B489D3826}"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359AB6-5F8D-49F8-A244-311CBF7A0F19}" type="slidenum">
              <a:rPr lang="en-US" smtClean="0"/>
              <a:t>‹#›</a:t>
            </a:fld>
            <a:endParaRPr lang="en-US"/>
          </a:p>
        </p:txBody>
      </p:sp>
    </p:spTree>
    <p:extLst>
      <p:ext uri="{BB962C8B-B14F-4D97-AF65-F5344CB8AC3E}">
        <p14:creationId xmlns:p14="http://schemas.microsoft.com/office/powerpoint/2010/main" val="1077521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651260-F4DB-4CE5-B1AD-503B489D3826}" type="datetimeFigureOut">
              <a:rPr lang="en-US" smtClean="0"/>
              <a:t>8/27/2026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1359AB6-5F8D-49F8-A244-311CBF7A0F19}" type="slidenum">
              <a:rPr lang="en-US" smtClean="0"/>
              <a:t>‹#›</a:t>
            </a:fld>
            <a:endParaRPr lang="en-US"/>
          </a:p>
        </p:txBody>
      </p:sp>
    </p:spTree>
    <p:extLst>
      <p:ext uri="{BB962C8B-B14F-4D97-AF65-F5344CB8AC3E}">
        <p14:creationId xmlns:p14="http://schemas.microsoft.com/office/powerpoint/2010/main" val="3918065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651260-F4DB-4CE5-B1AD-503B489D3826}" type="datetimeFigureOut">
              <a:rPr lang="en-US" smtClean="0"/>
              <a:t>8/27/2026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359AB6-5F8D-49F8-A244-311CBF7A0F19}" type="slidenum">
              <a:rPr lang="en-US" smtClean="0"/>
              <a:t>‹#›</a:t>
            </a:fld>
            <a:endParaRPr lang="en-US"/>
          </a:p>
        </p:txBody>
      </p:sp>
    </p:spTree>
    <p:extLst>
      <p:ext uri="{BB962C8B-B14F-4D97-AF65-F5344CB8AC3E}">
        <p14:creationId xmlns:p14="http://schemas.microsoft.com/office/powerpoint/2010/main" val="3003534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Spread Spectrum</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717470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IN" dirty="0"/>
              <a:t>In a digital communication system the primary resources are Bandwidth</a:t>
            </a:r>
            <a:r>
              <a:rPr lang="en-IN" b="1" dirty="0"/>
              <a:t> </a:t>
            </a:r>
            <a:r>
              <a:rPr lang="en-IN" dirty="0"/>
              <a:t>and Power.</a:t>
            </a:r>
            <a:r>
              <a:rPr lang="en-IN" b="1" dirty="0"/>
              <a:t> </a:t>
            </a:r>
          </a:p>
          <a:p>
            <a:r>
              <a:rPr lang="en-IN" dirty="0"/>
              <a:t>The study of digital communication system deals with efficient utilization of these two resources, but there are situations where it is necessary to sacrifice their efficient utilization in order to meet certain other design objectives.</a:t>
            </a:r>
          </a:p>
          <a:p>
            <a:endParaRPr lang="en-US" dirty="0"/>
          </a:p>
        </p:txBody>
      </p:sp>
    </p:spTree>
    <p:extLst>
      <p:ext uri="{BB962C8B-B14F-4D97-AF65-F5344CB8AC3E}">
        <p14:creationId xmlns:p14="http://schemas.microsoft.com/office/powerpoint/2010/main" val="148306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Multiplexing combines signals from several sources to achieve bandwidth efficiency; the available bandwidth of a link is divided between the sources.</a:t>
            </a:r>
          </a:p>
          <a:p>
            <a:r>
              <a:rPr lang="en-US" dirty="0"/>
              <a:t>In spread spectrum we also combine signals from different sources to fit into a larger bandwidth, and the goals are somewhat different. </a:t>
            </a:r>
          </a:p>
          <a:p>
            <a:r>
              <a:rPr lang="en-US" dirty="0"/>
              <a:t>Spread spectrum is designed to be used in wireless applications. In these types of applications, we have some concerns that outweigh bandwidth efficiency. </a:t>
            </a:r>
          </a:p>
          <a:p>
            <a:r>
              <a:rPr lang="en-US" dirty="0"/>
              <a:t>In wireless applications, all stations use air (or a vacuum) as the medium for communication. Stations must be able to share this medium without interception by an eavesdropper and without being subject to jamming from a malicious intruder</a:t>
            </a:r>
          </a:p>
        </p:txBody>
      </p:sp>
    </p:spTree>
    <p:extLst>
      <p:ext uri="{BB962C8B-B14F-4D97-AF65-F5344CB8AC3E}">
        <p14:creationId xmlns:p14="http://schemas.microsoft.com/office/powerpoint/2010/main" val="1795300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endParaRPr lang="en-US" dirty="0"/>
          </a:p>
          <a:p>
            <a:r>
              <a:rPr lang="en-US" dirty="0"/>
              <a:t> A spread spectrum communications system is one that is built upon the principle of transmitting information signals over a much wider bandwidth than is strictly necessary for transferring the information. </a:t>
            </a:r>
          </a:p>
          <a:p>
            <a:r>
              <a:rPr lang="en-US" dirty="0"/>
              <a:t>By transmitting over a larger bandwidth, robustness against external narrowband interference is increased, since the wider the bandwidth of any transmitted signal the lower will be the relative influence of interference over a small part of the bandwidth. </a:t>
            </a:r>
          </a:p>
          <a:p>
            <a:r>
              <a:rPr lang="en-US" dirty="0"/>
              <a:t>Although from a single-link point of view, spread spectrum transmission may seem like very inefficient use of spectrum, this is not the case on a system level as spread spectrum techniques allow for simultaneous multiplexing of multiple transmissions in the same bandwidth. </a:t>
            </a:r>
          </a:p>
        </p:txBody>
      </p:sp>
    </p:spTree>
    <p:extLst>
      <p:ext uri="{BB962C8B-B14F-4D97-AF65-F5344CB8AC3E}">
        <p14:creationId xmlns:p14="http://schemas.microsoft.com/office/powerpoint/2010/main" val="100507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principle of spread spectrum based user multiplexing.</a:t>
            </a:r>
            <a:endParaRPr lang="en-US" dirty="0"/>
          </a:p>
        </p:txBody>
      </p:sp>
      <p:pic>
        <p:nvPicPr>
          <p:cNvPr id="4" name="Content Placeholder 3"/>
          <p:cNvPicPr>
            <a:picLocks noGrp="1" noChangeAspect="1"/>
          </p:cNvPicPr>
          <p:nvPr>
            <p:ph idx="1"/>
          </p:nvPr>
        </p:nvPicPr>
        <p:blipFill>
          <a:blip r:embed="rId2"/>
          <a:stretch>
            <a:fillRect/>
          </a:stretch>
        </p:blipFill>
        <p:spPr>
          <a:xfrm>
            <a:off x="1724371" y="1825625"/>
            <a:ext cx="8743258" cy="4351338"/>
          </a:xfrm>
          <a:prstGeom prst="rect">
            <a:avLst/>
          </a:prstGeom>
        </p:spPr>
      </p:pic>
    </p:spTree>
    <p:extLst>
      <p:ext uri="{BB962C8B-B14F-4D97-AF65-F5344CB8AC3E}">
        <p14:creationId xmlns:p14="http://schemas.microsoft.com/office/powerpoint/2010/main" val="2578970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marL="0" indent="0">
              <a:buNone/>
            </a:pPr>
            <a:r>
              <a:rPr lang="en-US" dirty="0"/>
              <a:t>Spread spectrum achieves its goals through two principles:</a:t>
            </a:r>
          </a:p>
          <a:p>
            <a:pPr marL="0" indent="0">
              <a:buNone/>
            </a:pPr>
            <a:r>
              <a:rPr lang="en-US" dirty="0"/>
              <a:t>	1. The bandwidth allocated to each station needs to be, by far, larger than what is needed. This allows redundancy. If the required bandwidth for each station is </a:t>
            </a:r>
            <a:r>
              <a:rPr lang="en-US" i="1" dirty="0"/>
              <a:t>B, </a:t>
            </a:r>
            <a:r>
              <a:rPr lang="en-US" dirty="0"/>
              <a:t>spread spectrum expands it to </a:t>
            </a:r>
            <a:r>
              <a:rPr lang="en-US" dirty="0" err="1"/>
              <a:t>Bss'</a:t>
            </a:r>
            <a:r>
              <a:rPr lang="en-US" dirty="0"/>
              <a:t> such that </a:t>
            </a:r>
            <a:r>
              <a:rPr lang="en-US" dirty="0" err="1"/>
              <a:t>Bss</a:t>
            </a:r>
            <a:r>
              <a:rPr lang="en-US" dirty="0"/>
              <a:t> » </a:t>
            </a:r>
            <a:r>
              <a:rPr lang="en-US" i="1" dirty="0"/>
              <a:t>B. </a:t>
            </a:r>
            <a:r>
              <a:rPr lang="en-US" dirty="0"/>
              <a:t>The expanded bandwidth allows the source to wrap its message in a protective envelope for a more secure transmission.</a:t>
            </a:r>
          </a:p>
          <a:p>
            <a:pPr marL="0" indent="0">
              <a:buNone/>
            </a:pPr>
            <a:r>
              <a:rPr lang="en-US" dirty="0"/>
              <a:t>	2. The expanding of the original bandwidth </a:t>
            </a:r>
            <a:r>
              <a:rPr lang="en-US" i="1" dirty="0"/>
              <a:t>B </a:t>
            </a:r>
            <a:r>
              <a:rPr lang="en-US" dirty="0"/>
              <a:t>to the bandwidth </a:t>
            </a:r>
            <a:r>
              <a:rPr lang="en-US" dirty="0" err="1"/>
              <a:t>Bss</a:t>
            </a:r>
            <a:r>
              <a:rPr lang="en-US" dirty="0"/>
              <a:t> must be done by a process that is independent of the original signal.  In other words, the spreading process occurs after the signal is created by the source.</a:t>
            </a:r>
          </a:p>
          <a:p>
            <a:pPr marL="0" indent="0">
              <a:buNone/>
            </a:pPr>
            <a:r>
              <a:rPr lang="en-US" dirty="0"/>
              <a:t>After the signal is created by the source, the spreading process uses a spreading code and spreads the bandwidth. </a:t>
            </a:r>
          </a:p>
          <a:p>
            <a:pPr marL="0" indent="0">
              <a:buNone/>
            </a:pPr>
            <a:r>
              <a:rPr lang="en-US" dirty="0"/>
              <a:t>The figure shows the original bandwidth </a:t>
            </a:r>
            <a:r>
              <a:rPr lang="en-US" i="1" dirty="0"/>
              <a:t>B </a:t>
            </a:r>
            <a:r>
              <a:rPr lang="en-US" dirty="0"/>
              <a:t>and the spreaded bandwidth </a:t>
            </a:r>
            <a:r>
              <a:rPr lang="en-US" i="1" dirty="0" err="1"/>
              <a:t>Bss</a:t>
            </a:r>
            <a:r>
              <a:rPr lang="en-US" i="1" dirty="0"/>
              <a:t>. </a:t>
            </a:r>
            <a:r>
              <a:rPr lang="en-US" dirty="0"/>
              <a:t>The spreading code is a series of numbers that look random, but are actually a pattern.</a:t>
            </a:r>
          </a:p>
        </p:txBody>
      </p:sp>
    </p:spTree>
    <p:extLst>
      <p:ext uri="{BB962C8B-B14F-4D97-AF65-F5344CB8AC3E}">
        <p14:creationId xmlns:p14="http://schemas.microsoft.com/office/powerpoint/2010/main" val="2674184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935296"/>
            <a:ext cx="10515600" cy="4131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50917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Spread Spectrum</a:t>
            </a:r>
            <a:endParaRPr lang="en-US" dirty="0"/>
          </a:p>
        </p:txBody>
      </p:sp>
      <p:sp>
        <p:nvSpPr>
          <p:cNvPr id="3" name="Content Placeholder 2"/>
          <p:cNvSpPr>
            <a:spLocks noGrp="1"/>
          </p:cNvSpPr>
          <p:nvPr>
            <p:ph idx="1"/>
          </p:nvPr>
        </p:nvSpPr>
        <p:spPr/>
        <p:txBody>
          <a:bodyPr/>
          <a:lstStyle/>
          <a:p>
            <a:r>
              <a:rPr lang="en-US" altLang="en-US" dirty="0"/>
              <a:t>A signal that occupies a bandwidth of B, is spread out to occupy a bandwidth of </a:t>
            </a:r>
            <a:r>
              <a:rPr lang="en-US" altLang="en-US" dirty="0" err="1"/>
              <a:t>B</a:t>
            </a:r>
            <a:r>
              <a:rPr lang="en-US" altLang="en-US" baseline="-25000" dirty="0" err="1"/>
              <a:t>ss</a:t>
            </a:r>
            <a:endParaRPr lang="en-US" altLang="en-US" baseline="-25000" dirty="0"/>
          </a:p>
          <a:p>
            <a:r>
              <a:rPr lang="en-US" altLang="en-US" dirty="0"/>
              <a:t>All signals are spread to occupy the same bandwidth </a:t>
            </a:r>
            <a:r>
              <a:rPr lang="en-US" altLang="en-US" dirty="0" err="1"/>
              <a:t>B</a:t>
            </a:r>
            <a:r>
              <a:rPr lang="en-US" altLang="en-US" baseline="-25000" dirty="0" err="1"/>
              <a:t>ss</a:t>
            </a:r>
            <a:endParaRPr lang="en-US" altLang="en-US" dirty="0"/>
          </a:p>
          <a:p>
            <a:r>
              <a:rPr lang="en-US" altLang="en-US" dirty="0"/>
              <a:t>Signals are spread with different codes so that they can be separated at the receivers.</a:t>
            </a:r>
          </a:p>
          <a:p>
            <a:r>
              <a:rPr lang="en-US" altLang="en-US" dirty="0"/>
              <a:t>Signals can be spread in the frequency domain or in the time domain.</a:t>
            </a:r>
          </a:p>
          <a:p>
            <a:endParaRPr lang="en-US" dirty="0"/>
          </a:p>
        </p:txBody>
      </p:sp>
    </p:spTree>
    <p:extLst>
      <p:ext uri="{BB962C8B-B14F-4D97-AF65-F5344CB8AC3E}">
        <p14:creationId xmlns:p14="http://schemas.microsoft.com/office/powerpoint/2010/main" val="2242416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Rectangle 2"/>
          <p:cNvSpPr>
            <a:spLocks noGrp="1" noChangeArrowheads="1"/>
          </p:cNvSpPr>
          <p:nvPr>
            <p:ph type="title"/>
          </p:nvPr>
        </p:nvSpPr>
        <p:spPr/>
        <p:txBody>
          <a:bodyPr/>
          <a:lstStyle/>
          <a:p>
            <a:r>
              <a:rPr lang="en-US" altLang="en-US">
                <a:latin typeface="Times New Roman" panose="02020603050405020304" pitchFamily="18" charset="0"/>
              </a:rPr>
              <a:t>Spread Spectrum</a:t>
            </a:r>
          </a:p>
        </p:txBody>
      </p:sp>
      <p:sp>
        <p:nvSpPr>
          <p:cNvPr id="343043" name="Rectangle 3"/>
          <p:cNvSpPr>
            <a:spLocks noGrp="1" noChangeArrowheads="1"/>
          </p:cNvSpPr>
          <p:nvPr>
            <p:ph type="body" idx="1"/>
          </p:nvPr>
        </p:nvSpPr>
        <p:spPr/>
        <p:txBody>
          <a:bodyPr/>
          <a:lstStyle/>
          <a:p>
            <a:r>
              <a:rPr lang="en-US" altLang="en-US" sz="2400" dirty="0"/>
              <a:t>Input is fed into a channel encoder </a:t>
            </a:r>
          </a:p>
          <a:p>
            <a:pPr lvl="1"/>
            <a:r>
              <a:rPr lang="en-US" altLang="en-US" dirty="0"/>
              <a:t>Produces analog signal with narrow bandwidth</a:t>
            </a:r>
          </a:p>
          <a:p>
            <a:r>
              <a:rPr lang="en-US" altLang="en-US" sz="2400" dirty="0"/>
              <a:t>Signal is further modulated using sequence of digits </a:t>
            </a:r>
          </a:p>
          <a:p>
            <a:pPr lvl="1"/>
            <a:r>
              <a:rPr lang="en-US" altLang="en-US" dirty="0"/>
              <a:t>Spreading code or spreading sequence </a:t>
            </a:r>
          </a:p>
          <a:p>
            <a:pPr lvl="1"/>
            <a:r>
              <a:rPr lang="en-US" altLang="en-US" dirty="0"/>
              <a:t>Generated by </a:t>
            </a:r>
            <a:r>
              <a:rPr lang="en-US" altLang="en-US" dirty="0" err="1"/>
              <a:t>pseudonoise</a:t>
            </a:r>
            <a:r>
              <a:rPr lang="en-US" altLang="en-US" dirty="0"/>
              <a:t>, or pseudo-random number generator</a:t>
            </a:r>
          </a:p>
          <a:p>
            <a:r>
              <a:rPr lang="en-US" altLang="en-US" sz="2400" dirty="0"/>
              <a:t>Effect of modulation is to increase bandwidth of signal to be transmitted</a:t>
            </a:r>
          </a:p>
          <a:p>
            <a:r>
              <a:rPr lang="en-US" altLang="en-US" sz="2400" dirty="0"/>
              <a:t>On receiving end, digit sequence is used to demodulate the spread spectrum signal</a:t>
            </a:r>
          </a:p>
          <a:p>
            <a:r>
              <a:rPr lang="en-US" altLang="en-US" sz="2400" dirty="0"/>
              <a:t>Signal is fed into a channel decoder to recover data</a:t>
            </a:r>
          </a:p>
          <a:p>
            <a:endParaRPr lang="en-US" altLang="en-US" sz="2400" dirty="0">
              <a:latin typeface="Times New Roman" panose="02020603050405020304" pitchFamily="18" charset="0"/>
            </a:endParaRPr>
          </a:p>
          <a:p>
            <a:endParaRPr lang="en-US" altLang="en-US" sz="2400" dirty="0">
              <a:latin typeface="Times New Roman" panose="02020603050405020304" pitchFamily="18" charset="0"/>
            </a:endParaRPr>
          </a:p>
        </p:txBody>
      </p:sp>
    </p:spTree>
    <p:extLst>
      <p:ext uri="{BB962C8B-B14F-4D97-AF65-F5344CB8AC3E}">
        <p14:creationId xmlns:p14="http://schemas.microsoft.com/office/powerpoint/2010/main" val="40976453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Rectangle 2"/>
          <p:cNvSpPr>
            <a:spLocks noGrp="1" noChangeArrowheads="1"/>
          </p:cNvSpPr>
          <p:nvPr>
            <p:ph type="title"/>
          </p:nvPr>
        </p:nvSpPr>
        <p:spPr/>
        <p:txBody>
          <a:bodyPr/>
          <a:lstStyle/>
          <a:p>
            <a:r>
              <a:rPr lang="en-US" altLang="en-US">
                <a:latin typeface="Times New Roman" panose="02020603050405020304" pitchFamily="18" charset="0"/>
              </a:rPr>
              <a:t>Spread Spectrum</a:t>
            </a:r>
          </a:p>
        </p:txBody>
      </p:sp>
      <p:pic>
        <p:nvPicPr>
          <p:cNvPr id="3450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057401"/>
            <a:ext cx="9144000" cy="408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5865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In telecommunication and radio communication, </a:t>
            </a:r>
            <a:r>
              <a:rPr lang="en-US" b="1" dirty="0"/>
              <a:t>spread-spectrum</a:t>
            </a:r>
            <a:r>
              <a:rPr lang="en-US" dirty="0"/>
              <a:t> techniques are methods by which a signal (e.g., an electrical, electromagnetic, or acoustic signal) generated with a particular bandwidth is deliberately spread in the frequency domain, resulting in a signal with a wider bandwidth. </a:t>
            </a:r>
          </a:p>
          <a:p>
            <a:r>
              <a:rPr lang="en-US" dirty="0"/>
              <a:t>These techniques are used for a variety of reasons, including the establishment of secure communications, increasing resistance to natural interference, noise, and jamming, to prevent detection, to limit power flux density (e.g., in satellite downlinks), and to enable multiple-access communications.</a:t>
            </a:r>
          </a:p>
        </p:txBody>
      </p:sp>
    </p:spTree>
    <p:extLst>
      <p:ext uri="{BB962C8B-B14F-4D97-AF65-F5344CB8AC3E}">
        <p14:creationId xmlns:p14="http://schemas.microsoft.com/office/powerpoint/2010/main" val="614510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Spread spectrum generally makes use of a sequential noise-like signal structure to spread the normally narrowband information signal over a relatively wideband (radio) band of frequencies. </a:t>
            </a:r>
          </a:p>
          <a:p>
            <a:r>
              <a:rPr lang="en-US" dirty="0"/>
              <a:t>The receiver correlates the received signals to retrieve the original information signal. </a:t>
            </a:r>
          </a:p>
          <a:p>
            <a:r>
              <a:rPr lang="en-US" dirty="0"/>
              <a:t>Originally there were two motivations: either to resist enemy efforts to jam the communications (anti-jam, or AJ), or to hide the fact that communication was even taking place, sometimes called low probability of intercept (LPI)</a:t>
            </a:r>
          </a:p>
        </p:txBody>
      </p:sp>
    </p:spTree>
    <p:extLst>
      <p:ext uri="{BB962C8B-B14F-4D97-AF65-F5344CB8AC3E}">
        <p14:creationId xmlns:p14="http://schemas.microsoft.com/office/powerpoint/2010/main" val="4185698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Rectangle 2"/>
          <p:cNvSpPr>
            <a:spLocks noGrp="1" noChangeArrowheads="1"/>
          </p:cNvSpPr>
          <p:nvPr>
            <p:ph type="title"/>
          </p:nvPr>
        </p:nvSpPr>
        <p:spPr/>
        <p:txBody>
          <a:bodyPr/>
          <a:lstStyle/>
          <a:p>
            <a:r>
              <a:rPr lang="en-US" altLang="en-US">
                <a:latin typeface="Times New Roman" panose="02020603050405020304" pitchFamily="18" charset="0"/>
              </a:rPr>
              <a:t>Spread Spectrum</a:t>
            </a:r>
          </a:p>
        </p:txBody>
      </p:sp>
      <p:sp>
        <p:nvSpPr>
          <p:cNvPr id="346115" name="Rectangle 3"/>
          <p:cNvSpPr>
            <a:spLocks noGrp="1" noChangeArrowheads="1"/>
          </p:cNvSpPr>
          <p:nvPr>
            <p:ph type="body" idx="1"/>
          </p:nvPr>
        </p:nvSpPr>
        <p:spPr/>
        <p:txBody>
          <a:bodyPr>
            <a:normAutofit/>
          </a:bodyPr>
          <a:lstStyle/>
          <a:p>
            <a:r>
              <a:rPr lang="en-US" altLang="en-US" dirty="0"/>
              <a:t>What can be gained from apparent waste of spectrum?</a:t>
            </a:r>
          </a:p>
          <a:p>
            <a:pPr lvl="1"/>
            <a:r>
              <a:rPr lang="en-US" altLang="en-US" sz="2800" dirty="0"/>
              <a:t>Immunity from various kinds of noise and multipath distortion</a:t>
            </a:r>
          </a:p>
          <a:p>
            <a:pPr lvl="1"/>
            <a:r>
              <a:rPr lang="en-US" altLang="en-US" sz="2800" dirty="0"/>
              <a:t>Can be used for hiding and encrypting signals</a:t>
            </a:r>
          </a:p>
          <a:p>
            <a:pPr lvl="1"/>
            <a:r>
              <a:rPr lang="en-US" altLang="en-US" sz="2800" dirty="0"/>
              <a:t>Several users can independently use the same higher bandwidth with very little interference</a:t>
            </a:r>
          </a:p>
        </p:txBody>
      </p:sp>
    </p:spTree>
    <p:extLst>
      <p:ext uri="{BB962C8B-B14F-4D97-AF65-F5344CB8AC3E}">
        <p14:creationId xmlns:p14="http://schemas.microsoft.com/office/powerpoint/2010/main" val="1251711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a:t>
            </a:r>
          </a:p>
        </p:txBody>
      </p:sp>
      <p:sp>
        <p:nvSpPr>
          <p:cNvPr id="3" name="Content Placeholder 2"/>
          <p:cNvSpPr>
            <a:spLocks noGrp="1"/>
          </p:cNvSpPr>
          <p:nvPr>
            <p:ph idx="1"/>
          </p:nvPr>
        </p:nvSpPr>
        <p:spPr/>
        <p:txBody>
          <a:bodyPr>
            <a:normAutofit fontScale="92500" lnSpcReduction="10000"/>
          </a:bodyPr>
          <a:lstStyle/>
          <a:p>
            <a:r>
              <a:rPr lang="en-US" dirty="0"/>
              <a:t>Frequency-hopping spread spectrum (FHSS), </a:t>
            </a:r>
          </a:p>
          <a:p>
            <a:r>
              <a:rPr lang="en-US" dirty="0"/>
              <a:t>Direct-sequence spread spectrum (DSSS), </a:t>
            </a:r>
          </a:p>
          <a:p>
            <a:r>
              <a:rPr lang="en-US" dirty="0"/>
              <a:t>Time-hopping spread spectrum (THSS), </a:t>
            </a:r>
          </a:p>
          <a:p>
            <a:r>
              <a:rPr lang="en-US" dirty="0"/>
              <a:t>Chirp spread spectrum (CSS), and combinations of these techniques are forms of spread spectrum. </a:t>
            </a:r>
          </a:p>
          <a:p>
            <a:r>
              <a:rPr lang="en-US" dirty="0"/>
              <a:t>The first two of these techniques employ pseudorandom number sequences—created using pseudorandom number generators—to determine and control the spreading pattern of the signal across the allocated bandwidth.</a:t>
            </a:r>
          </a:p>
          <a:p>
            <a:r>
              <a:rPr lang="en-US" dirty="0"/>
              <a:t> Wireless standard IEEE 802.11 uses either FHSS or DSSS in its radio interface.</a:t>
            </a:r>
          </a:p>
          <a:p>
            <a:endParaRPr lang="en-US" dirty="0"/>
          </a:p>
        </p:txBody>
      </p:sp>
    </p:spTree>
    <p:extLst>
      <p:ext uri="{BB962C8B-B14F-4D97-AF65-F5344CB8AC3E}">
        <p14:creationId xmlns:p14="http://schemas.microsoft.com/office/powerpoint/2010/main" val="4042053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Frequency-hopping spread spectrum</a:t>
            </a:r>
            <a:r>
              <a:rPr lang="en-US" dirty="0"/>
              <a:t> (</a:t>
            </a:r>
            <a:r>
              <a:rPr lang="en-US" b="1" dirty="0"/>
              <a:t>FHSS</a:t>
            </a:r>
            <a:r>
              <a:rPr lang="en-US" dirty="0"/>
              <a:t>) is a method of transmitting radio signals by rapidly changing the carrier frequency among many distinct frequencies occupying a large spectral band. The changes are controlled by a code known to both transmitter and receiver. </a:t>
            </a:r>
          </a:p>
          <a:p>
            <a:r>
              <a:rPr lang="en-US" dirty="0"/>
              <a:t>FHSS is used to avoid interference, to prevent eavesdropping, and to enable code-division multiple access (CDMA) communications.</a:t>
            </a:r>
          </a:p>
          <a:p>
            <a:r>
              <a:rPr lang="en-US" dirty="0"/>
              <a:t>The available frequency band is divided into smaller sub-bands. Signals rapidly change ("hop") their carrier frequencies among the center frequencies of these sub-bands in a predetermined order.</a:t>
            </a:r>
          </a:p>
          <a:p>
            <a:r>
              <a:rPr lang="en-US" dirty="0"/>
              <a:t> Interference at a specific frequency will only affect the signal during a short interval</a:t>
            </a:r>
          </a:p>
          <a:p>
            <a:endParaRPr lang="en-US" dirty="0"/>
          </a:p>
        </p:txBody>
      </p:sp>
    </p:spTree>
    <p:extLst>
      <p:ext uri="{BB962C8B-B14F-4D97-AF65-F5344CB8AC3E}">
        <p14:creationId xmlns:p14="http://schemas.microsoft.com/office/powerpoint/2010/main" val="1713187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ltLang="en-US"/>
              <a:t>Wireless Networks Spring 2005</a:t>
            </a:r>
          </a:p>
        </p:txBody>
      </p:sp>
      <p:sp>
        <p:nvSpPr>
          <p:cNvPr id="349186" name="Rectangle 2"/>
          <p:cNvSpPr>
            <a:spLocks noGrp="1" noChangeArrowheads="1"/>
          </p:cNvSpPr>
          <p:nvPr>
            <p:ph type="title"/>
          </p:nvPr>
        </p:nvSpPr>
        <p:spPr/>
        <p:txBody>
          <a:bodyPr/>
          <a:lstStyle/>
          <a:p>
            <a:r>
              <a:rPr lang="en-US" altLang="en-US">
                <a:latin typeface="Times New Roman" panose="02020603050405020304" pitchFamily="18" charset="0"/>
              </a:rPr>
              <a:t>Frequency Hoping Spread Spectrum</a:t>
            </a:r>
          </a:p>
        </p:txBody>
      </p:sp>
      <p:pic>
        <p:nvPicPr>
          <p:cNvPr id="3491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2133600"/>
            <a:ext cx="83058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6482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i="1" dirty="0">
                <a:latin typeface="Times New Roman" panose="02020603050405020304" pitchFamily="18" charset="0"/>
              </a:rPr>
              <a:t>Frequency hopping spread spectrum (FHSS)</a:t>
            </a:r>
            <a:br>
              <a:rPr lang="en-US" altLang="en-US" i="1" dirty="0">
                <a:latin typeface="Times New Roman" panose="02020603050405020304" pitchFamily="18" charset="0"/>
              </a:rPr>
            </a:br>
            <a:endParaRPr lang="en-US" dirty="0"/>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99615" y="1825625"/>
            <a:ext cx="7192769"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8716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i="1" dirty="0">
                <a:latin typeface="Times New Roman" panose="02020603050405020304" pitchFamily="18" charset="0"/>
              </a:rPr>
              <a:t>Frequency selection in FHSS</a:t>
            </a:r>
            <a:endParaRPr lang="en-US" dirty="0"/>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42217" y="1825625"/>
            <a:ext cx="7307566" cy="435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88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a:t>Direct-sequence spread spectrum</a:t>
            </a:r>
            <a:r>
              <a:rPr lang="en-US" dirty="0"/>
              <a:t> (</a:t>
            </a:r>
            <a:r>
              <a:rPr lang="en-US" b="1" dirty="0"/>
              <a:t>DSSS</a:t>
            </a:r>
            <a:r>
              <a:rPr lang="en-US" dirty="0"/>
              <a:t>) is a spread spectrum modulation technique primarily used to reduce overall signal interference. </a:t>
            </a:r>
          </a:p>
          <a:p>
            <a:r>
              <a:rPr lang="en-US" dirty="0"/>
              <a:t>The direct-sequence modulation makes the transmitted signal wider in bandwidth than the information bandwidth.</a:t>
            </a:r>
          </a:p>
          <a:p>
            <a:r>
              <a:rPr lang="en-US" dirty="0"/>
              <a:t> After the de-spreading or removal of the direct-sequence modulation in the receiver, the information bandwidth is restored, while the unintentional and intentional interference is substantially reduced</a:t>
            </a:r>
          </a:p>
        </p:txBody>
      </p:sp>
    </p:spTree>
    <p:extLst>
      <p:ext uri="{BB962C8B-B14F-4D97-AF65-F5344CB8AC3E}">
        <p14:creationId xmlns:p14="http://schemas.microsoft.com/office/powerpoint/2010/main" val="42127629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p:txBody>
          <a:bodyPr/>
          <a:lstStyle/>
          <a:p>
            <a:r>
              <a:rPr lang="en-US" altLang="en-US">
                <a:latin typeface="Times New Roman" panose="02020603050405020304" pitchFamily="18" charset="0"/>
              </a:rPr>
              <a:t>Direct Sequence Spread Spectrum (DSSS)</a:t>
            </a:r>
          </a:p>
        </p:txBody>
      </p:sp>
      <p:sp>
        <p:nvSpPr>
          <p:cNvPr id="352259" name="Rectangle 3"/>
          <p:cNvSpPr>
            <a:spLocks noGrp="1" noChangeArrowheads="1"/>
          </p:cNvSpPr>
          <p:nvPr>
            <p:ph type="body" idx="1"/>
          </p:nvPr>
        </p:nvSpPr>
        <p:spPr/>
        <p:txBody>
          <a:bodyPr/>
          <a:lstStyle/>
          <a:p>
            <a:r>
              <a:rPr lang="en-US" altLang="en-US" sz="2400">
                <a:latin typeface="Times New Roman" panose="02020603050405020304" pitchFamily="18" charset="0"/>
              </a:rPr>
              <a:t>Each bit in original signal is represented by multiple bits in the transmitted signal</a:t>
            </a:r>
          </a:p>
          <a:p>
            <a:r>
              <a:rPr lang="en-US" altLang="en-US" sz="2400">
                <a:latin typeface="Times New Roman" panose="02020603050405020304" pitchFamily="18" charset="0"/>
              </a:rPr>
              <a:t>Spreading code spreads signal across a wider frequency band </a:t>
            </a:r>
          </a:p>
          <a:p>
            <a:pPr lvl="1"/>
            <a:r>
              <a:rPr lang="en-US" altLang="en-US" sz="2000">
                <a:latin typeface="Times New Roman" panose="02020603050405020304" pitchFamily="18" charset="0"/>
              </a:rPr>
              <a:t>Spread is in direct proportion to number of bits used</a:t>
            </a:r>
          </a:p>
          <a:p>
            <a:r>
              <a:rPr lang="en-US" altLang="en-US" sz="2400">
                <a:latin typeface="Times New Roman" panose="02020603050405020304" pitchFamily="18" charset="0"/>
              </a:rPr>
              <a:t>One technique combines digital information stream with the spreading code bit stream using exclusive-OR</a:t>
            </a:r>
          </a:p>
        </p:txBody>
      </p:sp>
    </p:spTree>
    <p:extLst>
      <p:ext uri="{BB962C8B-B14F-4D97-AF65-F5344CB8AC3E}">
        <p14:creationId xmlns:p14="http://schemas.microsoft.com/office/powerpoint/2010/main" val="1446290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i="1" dirty="0">
                <a:latin typeface="Times New Roman" panose="02020603050405020304" pitchFamily="18" charset="0"/>
              </a:rPr>
              <a:t>DSSS</a:t>
            </a:r>
            <a:br>
              <a:rPr lang="en-US" altLang="en-US" i="1" dirty="0">
                <a:latin typeface="Times New Roman" panose="02020603050405020304" pitchFamily="18" charset="0"/>
              </a:rPr>
            </a:br>
            <a:endParaRPr lang="en-US" dirty="0"/>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211749"/>
            <a:ext cx="10515600" cy="3579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44312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i="1" dirty="0">
                <a:latin typeface="Times New Roman" panose="02020603050405020304" pitchFamily="18" charset="0"/>
              </a:rPr>
              <a:t>DSSS example</a:t>
            </a:r>
            <a:br>
              <a:rPr lang="en-US" altLang="en-US" i="1" dirty="0">
                <a:latin typeface="Times New Roman" panose="02020603050405020304" pitchFamily="18" charset="0"/>
              </a:rPr>
            </a:br>
            <a:endParaRPr lang="en-US" dirty="0"/>
          </a:p>
        </p:txBody>
      </p:sp>
      <p:pic>
        <p:nvPicPr>
          <p:cNvPr id="4" name="Picture 6"/>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916356"/>
            <a:ext cx="10515600" cy="416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54817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53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0"/>
            <a:ext cx="7467600" cy="680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0844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Time-hopping</a:t>
            </a:r>
            <a:r>
              <a:rPr lang="en-US" dirty="0"/>
              <a:t> (</a:t>
            </a:r>
            <a:r>
              <a:rPr lang="en-US" b="1" dirty="0"/>
              <a:t>TH</a:t>
            </a:r>
            <a:r>
              <a:rPr lang="en-US" dirty="0"/>
              <a:t>) is a communications signal technique which can be used to achieve anti-jamming (AJ) or low probability of intercept (LPI). </a:t>
            </a:r>
          </a:p>
          <a:p>
            <a:r>
              <a:rPr lang="en-US" dirty="0"/>
              <a:t>It can also refer to pulse-position modulation, which in its simplest form employs 2</a:t>
            </a:r>
            <a:r>
              <a:rPr lang="en-US" baseline="30000" dirty="0"/>
              <a:t>k</a:t>
            </a:r>
            <a:r>
              <a:rPr lang="en-US" dirty="0"/>
              <a:t> discrete pulses (referring to the unique positions of the pulse within the transmission window) to transmit k bit(s) per pulse.</a:t>
            </a:r>
          </a:p>
        </p:txBody>
      </p:sp>
    </p:spTree>
    <p:extLst>
      <p:ext uri="{BB962C8B-B14F-4D97-AF65-F5344CB8AC3E}">
        <p14:creationId xmlns:p14="http://schemas.microsoft.com/office/powerpoint/2010/main" val="19855915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 </a:t>
            </a:r>
            <a:r>
              <a:rPr lang="en-US" b="1" dirty="0"/>
              <a:t>Chirp spread spectrum</a:t>
            </a:r>
            <a:r>
              <a:rPr lang="en-US" dirty="0"/>
              <a:t> (</a:t>
            </a:r>
            <a:r>
              <a:rPr lang="en-US" b="1" dirty="0"/>
              <a:t>CSS</a:t>
            </a:r>
            <a:r>
              <a:rPr lang="en-US" dirty="0"/>
              <a:t>) is a spread spectrum technique that uses wideband linear frequency modulated chirp pulses to encode information.</a:t>
            </a:r>
            <a:r>
              <a:rPr lang="en-US" baseline="30000" dirty="0"/>
              <a:t> </a:t>
            </a:r>
            <a:r>
              <a:rPr lang="en-US" dirty="0"/>
              <a:t> </a:t>
            </a:r>
          </a:p>
          <a:p>
            <a:r>
              <a:rPr lang="en-US" dirty="0"/>
              <a:t>A chirp is a sinusoidal signal whose frequency increases or decreases over time (often with a polynomial expression for the relationship between time and frequency).</a:t>
            </a:r>
          </a:p>
        </p:txBody>
      </p:sp>
    </p:spTree>
    <p:extLst>
      <p:ext uri="{BB962C8B-B14F-4D97-AF65-F5344CB8AC3E}">
        <p14:creationId xmlns:p14="http://schemas.microsoft.com/office/powerpoint/2010/main" val="31345605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