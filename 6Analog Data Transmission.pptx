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56EC9-CAD7-425B-BB10-EC6369D4FD7C}"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4D8134-2461-4CB0-9907-4956DE328279}" type="slidenum">
              <a:rPr lang="en-IN" smtClean="0"/>
              <a:t>‹#›</a:t>
            </a:fld>
            <a:endParaRPr lang="en-IN"/>
          </a:p>
        </p:txBody>
      </p:sp>
    </p:spTree>
    <p:extLst>
      <p:ext uri="{BB962C8B-B14F-4D97-AF65-F5344CB8AC3E}">
        <p14:creationId xmlns:p14="http://schemas.microsoft.com/office/powerpoint/2010/main" val="700311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4DDDBA0-16CA-4EB9-8264-EF00228BACCC}"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4234398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4DDDBA0-16CA-4EB9-8264-EF00228BACCC}"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3800637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DDDBA0-16CA-4EB9-8264-EF00228BACCC}"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1356356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4DDDBA0-16CA-4EB9-8264-EF00228BACCC}"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2810467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4DDDBA0-16CA-4EB9-8264-EF00228BACCC}" type="datetimeFigureOut">
              <a:rPr lang="en-IN" smtClean="0"/>
              <a:t>24-08-2026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71794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4DDDBA0-16CA-4EB9-8264-EF00228BACCC}" type="datetimeFigureOut">
              <a:rPr lang="en-IN" smtClean="0"/>
              <a:t>24-08-2026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1319520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DDDBA0-16CA-4EB9-8264-EF00228BACCC}" type="datetimeFigureOut">
              <a:rPr lang="en-IN" smtClean="0"/>
              <a:t>24-08-2026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3029324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DDBA0-16CA-4EB9-8264-EF00228BACCC}"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3894143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4DDDBA0-16CA-4EB9-8264-EF00228BACCC}" type="datetimeFigureOut">
              <a:rPr lang="en-IN" smtClean="0"/>
              <a:t>24-08-2026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2161637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4DDDBA0-16CA-4EB9-8264-EF00228BACCC}"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2157333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4DDDBA0-16CA-4EB9-8264-EF00228BACCC}" type="datetimeFigureOut">
              <a:rPr lang="en-IN" smtClean="0"/>
              <a:t>24-08-2026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179B330-E2F2-4B59-B28B-1258DB2DC9AE}" type="slidenum">
              <a:rPr lang="en-IN" smtClean="0"/>
              <a:t>‹#›</a:t>
            </a:fld>
            <a:endParaRPr lang="en-IN"/>
          </a:p>
        </p:txBody>
      </p:sp>
    </p:spTree>
    <p:extLst>
      <p:ext uri="{BB962C8B-B14F-4D97-AF65-F5344CB8AC3E}">
        <p14:creationId xmlns:p14="http://schemas.microsoft.com/office/powerpoint/2010/main" val="2818742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DDBA0-16CA-4EB9-8264-EF00228BACCC}" type="datetimeFigureOut">
              <a:rPr lang="en-IN" smtClean="0"/>
              <a:t>24-08-2026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79B330-E2F2-4B59-B28B-1258DB2DC9AE}" type="slidenum">
              <a:rPr lang="en-IN" smtClean="0"/>
              <a:t>‹#›</a:t>
            </a:fld>
            <a:endParaRPr lang="en-IN"/>
          </a:p>
        </p:txBody>
      </p:sp>
    </p:spTree>
    <p:extLst>
      <p:ext uri="{BB962C8B-B14F-4D97-AF65-F5344CB8AC3E}">
        <p14:creationId xmlns:p14="http://schemas.microsoft.com/office/powerpoint/2010/main" val="1205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Analog Data Transmission</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241807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Analog Transmission</a:t>
            </a:r>
          </a:p>
        </p:txBody>
      </p:sp>
      <p:sp>
        <p:nvSpPr>
          <p:cNvPr id="3" name="Content Placeholder 2"/>
          <p:cNvSpPr>
            <a:spLocks noGrp="1"/>
          </p:cNvSpPr>
          <p:nvPr>
            <p:ph idx="1"/>
          </p:nvPr>
        </p:nvSpPr>
        <p:spPr/>
        <p:txBody>
          <a:bodyPr/>
          <a:lstStyle/>
          <a:p>
            <a:r>
              <a:rPr lang="en-IN" dirty="0"/>
              <a:t>An Analog transmission is a transmission method of conveying information such as voice, data, video, image etc. using a continuous signal which vary in amplitude , phase  or some other property proportion to that of a variable.</a:t>
            </a:r>
          </a:p>
        </p:txBody>
      </p:sp>
    </p:spTree>
    <p:extLst>
      <p:ext uri="{BB962C8B-B14F-4D97-AF65-F5344CB8AC3E}">
        <p14:creationId xmlns:p14="http://schemas.microsoft.com/office/powerpoint/2010/main" val="1123332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While digital transmission is very desirable, a low-pass channel is needed and analog transmission is the only choice if we have a band pass channel. </a:t>
            </a:r>
          </a:p>
          <a:p>
            <a:r>
              <a:rPr lang="en-IN" dirty="0"/>
              <a:t>Converting digital data to a band pass analog signal is traditionally called digital to- analog conversion. </a:t>
            </a:r>
          </a:p>
          <a:p>
            <a:r>
              <a:rPr lang="en-IN" dirty="0"/>
              <a:t>Converting a low-pass analog signal to a band pass analog signal is traditionally called analog-to-analog conversion.</a:t>
            </a:r>
          </a:p>
        </p:txBody>
      </p:sp>
    </p:spTree>
    <p:extLst>
      <p:ext uri="{BB962C8B-B14F-4D97-AF65-F5344CB8AC3E}">
        <p14:creationId xmlns:p14="http://schemas.microsoft.com/office/powerpoint/2010/main" val="332262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DIGITAL TO ANALOG CONVERSION</a:t>
            </a:r>
            <a:endParaRPr lang="en-IN" dirty="0"/>
          </a:p>
        </p:txBody>
      </p:sp>
      <p:sp>
        <p:nvSpPr>
          <p:cNvPr id="3" name="Content Placeholder 2"/>
          <p:cNvSpPr>
            <a:spLocks noGrp="1"/>
          </p:cNvSpPr>
          <p:nvPr>
            <p:ph idx="1"/>
          </p:nvPr>
        </p:nvSpPr>
        <p:spPr/>
        <p:txBody>
          <a:bodyPr/>
          <a:lstStyle/>
          <a:p>
            <a:r>
              <a:rPr lang="en-IN" b="1" dirty="0"/>
              <a:t>Digital-to-analog conversion </a:t>
            </a:r>
            <a:r>
              <a:rPr lang="en-IN" dirty="0"/>
              <a:t>is the process of changing one of the characteristics of an analog signal based on the information in digital data.</a:t>
            </a:r>
          </a:p>
        </p:txBody>
      </p:sp>
      <p:pic>
        <p:nvPicPr>
          <p:cNvPr id="5"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760" y="3163570"/>
            <a:ext cx="8885238" cy="2597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5894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Digital to Analog Conversion</a:t>
            </a:r>
            <a:endParaRPr lang="en-IN" dirty="0"/>
          </a:p>
        </p:txBody>
      </p:sp>
      <p:sp>
        <p:nvSpPr>
          <p:cNvPr id="3" name="Content Placeholder 2"/>
          <p:cNvSpPr>
            <a:spLocks noGrp="1"/>
          </p:cNvSpPr>
          <p:nvPr>
            <p:ph idx="1"/>
          </p:nvPr>
        </p:nvSpPr>
        <p:spPr/>
        <p:txBody>
          <a:bodyPr/>
          <a:lstStyle/>
          <a:p>
            <a:r>
              <a:rPr lang="en-US" altLang="en-US" dirty="0"/>
              <a:t>Digital data needs to be carried on an analog signal.</a:t>
            </a:r>
          </a:p>
          <a:p>
            <a:r>
              <a:rPr lang="en-US" altLang="en-US" dirty="0"/>
              <a:t>A carrier signal (frequency f</a:t>
            </a:r>
            <a:r>
              <a:rPr lang="en-US" altLang="en-US" baseline="-25000" dirty="0"/>
              <a:t>c</a:t>
            </a:r>
            <a:r>
              <a:rPr lang="en-US" altLang="en-US" dirty="0"/>
              <a:t>) performs the function of transporting the digital data in an analog waveform.</a:t>
            </a:r>
          </a:p>
          <a:p>
            <a:r>
              <a:rPr lang="en-US" altLang="en-US" dirty="0"/>
              <a:t>The analog carrier signal is manipulated to uniquely identify the digital data being carried.</a:t>
            </a:r>
            <a:endParaRPr lang="en-IN" dirty="0"/>
          </a:p>
        </p:txBody>
      </p:sp>
    </p:spTree>
    <p:extLst>
      <p:ext uri="{BB962C8B-B14F-4D97-AF65-F5344CB8AC3E}">
        <p14:creationId xmlns:p14="http://schemas.microsoft.com/office/powerpoint/2010/main" val="584659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Types of digital-to-analog conversion</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193811"/>
            <a:ext cx="10515600" cy="3614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7696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10000"/>
          </a:bodyPr>
          <a:lstStyle/>
          <a:p>
            <a:r>
              <a:rPr lang="en-IN" dirty="0"/>
              <a:t>A sine wave is defined by three characteristics: amplitude, frequency, and phase</a:t>
            </a:r>
            <a:r>
              <a:rPr lang="en-IN" b="1" dirty="0"/>
              <a:t>. </a:t>
            </a:r>
          </a:p>
          <a:p>
            <a:r>
              <a:rPr lang="en-IN" dirty="0"/>
              <a:t>When varying anyone of these characteristics, a different version of that wave is created. So, by changing one characteristic of a simple electric signal, digital data is represented. </a:t>
            </a:r>
          </a:p>
          <a:p>
            <a:r>
              <a:rPr lang="en-IN" dirty="0"/>
              <a:t>Any of the three characteristics can be altered in least three mechanisms for modulating digital data into an analog signal:</a:t>
            </a:r>
          </a:p>
          <a:p>
            <a:pPr lvl="1"/>
            <a:r>
              <a:rPr lang="en-IN" dirty="0"/>
              <a:t>amplitude shift keying (ASK)</a:t>
            </a:r>
          </a:p>
          <a:p>
            <a:pPr lvl="1"/>
            <a:r>
              <a:rPr lang="en-IN" dirty="0"/>
              <a:t>frequency shift keying (FSK)</a:t>
            </a:r>
          </a:p>
          <a:p>
            <a:pPr lvl="1"/>
            <a:r>
              <a:rPr lang="en-IN" dirty="0"/>
              <a:t>phase shift keying (PSK). </a:t>
            </a:r>
          </a:p>
          <a:p>
            <a:r>
              <a:rPr lang="en-IN" dirty="0"/>
              <a:t>In addition, there is a fourth (and better) mechanism that combines changing both the amplitude and phase, called quadrature amplitude modulation (QAM). QAM is the most efficient of these options and is the mechanism commonly used today.</a:t>
            </a:r>
          </a:p>
        </p:txBody>
      </p:sp>
    </p:spTree>
    <p:extLst>
      <p:ext uri="{BB962C8B-B14F-4D97-AF65-F5344CB8AC3E}">
        <p14:creationId xmlns:p14="http://schemas.microsoft.com/office/powerpoint/2010/main" val="1129462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en-US" dirty="0"/>
              <a:t>Bit rate, N, is the number of bits per second (bps).</a:t>
            </a:r>
          </a:p>
          <a:p>
            <a:r>
              <a:rPr lang="en-US" altLang="en-US" dirty="0"/>
              <a:t> Baud rate is the number of signal elements per second (bauds). </a:t>
            </a:r>
          </a:p>
          <a:p>
            <a:r>
              <a:rPr lang="en-US" altLang="en-US" dirty="0"/>
              <a:t>In the analog transmission of digital data, the signal or baud rate is less than or equal to the bit rate.</a:t>
            </a:r>
          </a:p>
          <a:p>
            <a:pPr marL="0" indent="0">
              <a:buNone/>
            </a:pPr>
            <a:r>
              <a:rPr lang="en-US" altLang="en-US" dirty="0"/>
              <a:t>                       S=Nx1/r bauds</a:t>
            </a:r>
          </a:p>
          <a:p>
            <a:pPr marL="0" indent="0">
              <a:buNone/>
            </a:pPr>
            <a:r>
              <a:rPr lang="en-US" altLang="en-US" dirty="0"/>
              <a:t>        Where r is the number of data bits per signal element.</a:t>
            </a:r>
          </a:p>
          <a:p>
            <a:endParaRPr lang="en-IN" dirty="0"/>
          </a:p>
        </p:txBody>
      </p:sp>
    </p:spTree>
    <p:extLst>
      <p:ext uri="{BB962C8B-B14F-4D97-AF65-F5344CB8AC3E}">
        <p14:creationId xmlns:p14="http://schemas.microsoft.com/office/powerpoint/2010/main" val="1398881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Amplitude Shift Keying (ASK)</a:t>
            </a:r>
            <a:endParaRPr lang="en-IN" dirty="0"/>
          </a:p>
        </p:txBody>
      </p:sp>
      <p:sp>
        <p:nvSpPr>
          <p:cNvPr id="3" name="Content Placeholder 2"/>
          <p:cNvSpPr>
            <a:spLocks noGrp="1"/>
          </p:cNvSpPr>
          <p:nvPr>
            <p:ph idx="1"/>
          </p:nvPr>
        </p:nvSpPr>
        <p:spPr/>
        <p:txBody>
          <a:bodyPr/>
          <a:lstStyle/>
          <a:p>
            <a:r>
              <a:rPr lang="en-US" altLang="en-US" dirty="0"/>
              <a:t>ASK is implemented by changing the amplitude of a carrier signal to reflect amplitude levels in the digital signal.</a:t>
            </a:r>
          </a:p>
          <a:p>
            <a:r>
              <a:rPr lang="en-US" altLang="en-US" dirty="0"/>
              <a:t>For example: a digital “1” could not affect the signal, whereas a digital “0” would, by making it zero. </a:t>
            </a:r>
          </a:p>
          <a:p>
            <a:r>
              <a:rPr lang="en-US" altLang="en-US" dirty="0"/>
              <a:t>The line encoding will determine the values of the analog waveform to reflect the digital data being carried.</a:t>
            </a:r>
          </a:p>
          <a:p>
            <a:endParaRPr lang="en-IN" dirty="0"/>
          </a:p>
        </p:txBody>
      </p:sp>
    </p:spTree>
    <p:extLst>
      <p:ext uri="{BB962C8B-B14F-4D97-AF65-F5344CB8AC3E}">
        <p14:creationId xmlns:p14="http://schemas.microsoft.com/office/powerpoint/2010/main" val="3073990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Bandwidth of ASK</a:t>
            </a:r>
            <a:endParaRPr lang="en-IN" dirty="0"/>
          </a:p>
        </p:txBody>
      </p:sp>
      <p:sp>
        <p:nvSpPr>
          <p:cNvPr id="3" name="Content Placeholder 2"/>
          <p:cNvSpPr>
            <a:spLocks noGrp="1"/>
          </p:cNvSpPr>
          <p:nvPr>
            <p:ph idx="1"/>
          </p:nvPr>
        </p:nvSpPr>
        <p:spPr/>
        <p:txBody>
          <a:bodyPr/>
          <a:lstStyle/>
          <a:p>
            <a:r>
              <a:rPr lang="en-US" altLang="en-US" dirty="0"/>
              <a:t>The bandwidth B of ASK is proportional to the signal rate S.</a:t>
            </a:r>
          </a:p>
          <a:p>
            <a:pPr marL="0" indent="0">
              <a:buNone/>
            </a:pPr>
            <a:r>
              <a:rPr lang="en-US" altLang="en-US" dirty="0"/>
              <a:t>                               B = (1+d)S</a:t>
            </a:r>
          </a:p>
          <a:p>
            <a:pPr marL="0" indent="0">
              <a:buNone/>
            </a:pPr>
            <a:r>
              <a:rPr lang="en-US" altLang="en-US" dirty="0"/>
              <a:t>     “d” is due to modulation and filtering, lies between 0 and 1.</a:t>
            </a:r>
            <a:endParaRPr lang="en-IN" dirty="0"/>
          </a:p>
        </p:txBody>
      </p:sp>
    </p:spTree>
    <p:extLst>
      <p:ext uri="{BB962C8B-B14F-4D97-AF65-F5344CB8AC3E}">
        <p14:creationId xmlns:p14="http://schemas.microsoft.com/office/powerpoint/2010/main" val="1554024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Binary amplitude shift keying(BASK)/ On-Off Keying(OOK)</a:t>
            </a:r>
            <a:endParaRPr lang="en-IN" dirty="0"/>
          </a:p>
        </p:txBody>
      </p:sp>
      <p:pic>
        <p:nvPicPr>
          <p:cNvPr id="4" name="Picture 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569622"/>
            <a:ext cx="10515600" cy="2863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4147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Implementation of binary ASK</a:t>
            </a:r>
            <a:endParaRPr lang="en-IN" dirty="0"/>
          </a:p>
        </p:txBody>
      </p:sp>
      <p:pic>
        <p:nvPicPr>
          <p:cNvPr id="4" name="Picture 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476945"/>
            <a:ext cx="10515600" cy="3048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6170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Frequency Shift Keying</a:t>
            </a:r>
            <a:endParaRPr lang="en-IN" dirty="0"/>
          </a:p>
        </p:txBody>
      </p:sp>
      <p:sp>
        <p:nvSpPr>
          <p:cNvPr id="3" name="Content Placeholder 2"/>
          <p:cNvSpPr>
            <a:spLocks noGrp="1"/>
          </p:cNvSpPr>
          <p:nvPr>
            <p:ph idx="1"/>
          </p:nvPr>
        </p:nvSpPr>
        <p:spPr/>
        <p:txBody>
          <a:bodyPr/>
          <a:lstStyle/>
          <a:p>
            <a:r>
              <a:rPr lang="en-US" altLang="en-US" dirty="0"/>
              <a:t>The digital data stream changes the frequency of the carrier signal, f</a:t>
            </a:r>
            <a:r>
              <a:rPr lang="en-US" altLang="en-US" baseline="-25000" dirty="0"/>
              <a:t>c</a:t>
            </a:r>
            <a:r>
              <a:rPr lang="en-US" altLang="en-US" dirty="0"/>
              <a:t>.</a:t>
            </a:r>
          </a:p>
          <a:p>
            <a:r>
              <a:rPr lang="en-US" altLang="en-US" dirty="0"/>
              <a:t>For example, a “1” could be represented by f</a:t>
            </a:r>
            <a:r>
              <a:rPr lang="en-US" altLang="en-US" baseline="-25000" dirty="0"/>
              <a:t>1</a:t>
            </a:r>
            <a:r>
              <a:rPr lang="en-US" altLang="en-US" dirty="0"/>
              <a:t>=f</a:t>
            </a:r>
            <a:r>
              <a:rPr lang="en-US" altLang="en-US" baseline="-25000" dirty="0"/>
              <a:t>c</a:t>
            </a:r>
            <a:r>
              <a:rPr lang="en-US" altLang="en-US" dirty="0"/>
              <a:t> +</a:t>
            </a:r>
            <a:r>
              <a:rPr lang="en-US" altLang="en-US" dirty="0">
                <a:latin typeface="Symbol" panose="05050102010706020507" pitchFamily="18" charset="2"/>
                <a:sym typeface="Symbol" panose="05050102010706020507" pitchFamily="18" charset="2"/>
              </a:rPr>
              <a:t></a:t>
            </a:r>
            <a:r>
              <a:rPr lang="en-US" altLang="en-US" dirty="0"/>
              <a:t>f, and a “0” could be represented by f</a:t>
            </a:r>
            <a:r>
              <a:rPr lang="en-US" altLang="en-US" baseline="-25000" dirty="0"/>
              <a:t>2</a:t>
            </a:r>
            <a:r>
              <a:rPr lang="en-US" altLang="en-US" dirty="0"/>
              <a:t>=f</a:t>
            </a:r>
            <a:r>
              <a:rPr lang="en-US" altLang="en-US" baseline="-25000" dirty="0"/>
              <a:t>c</a:t>
            </a:r>
            <a:r>
              <a:rPr lang="en-US" altLang="en-US" dirty="0"/>
              <a:t>-</a:t>
            </a:r>
            <a:r>
              <a:rPr lang="en-US" altLang="en-US" dirty="0">
                <a:latin typeface="Symbol" panose="05050102010706020507" pitchFamily="18" charset="2"/>
                <a:sym typeface="Symbol" panose="05050102010706020507" pitchFamily="18" charset="2"/>
              </a:rPr>
              <a:t></a:t>
            </a:r>
            <a:r>
              <a:rPr lang="en-US" altLang="en-US" dirty="0"/>
              <a:t>f.</a:t>
            </a:r>
          </a:p>
          <a:p>
            <a:endParaRPr lang="en-IN" dirty="0"/>
          </a:p>
        </p:txBody>
      </p:sp>
    </p:spTree>
    <p:extLst>
      <p:ext uri="{BB962C8B-B14F-4D97-AF65-F5344CB8AC3E}">
        <p14:creationId xmlns:p14="http://schemas.microsoft.com/office/powerpoint/2010/main" val="1245452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Binary frequency shift keying</a:t>
            </a:r>
            <a:endParaRPr lang="en-IN" dirty="0"/>
          </a:p>
        </p:txBody>
      </p:sp>
      <p:pic>
        <p:nvPicPr>
          <p:cNvPr id="4"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380868"/>
            <a:ext cx="10515600" cy="3240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669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Implementation of BFSK</a:t>
            </a:r>
          </a:p>
        </p:txBody>
      </p:sp>
      <p:pic>
        <p:nvPicPr>
          <p:cNvPr id="4" name="Content Placeholder 3"/>
          <p:cNvPicPr>
            <a:picLocks noGrp="1" noChangeAspect="1"/>
          </p:cNvPicPr>
          <p:nvPr>
            <p:ph idx="1"/>
          </p:nvPr>
        </p:nvPicPr>
        <p:blipFill>
          <a:blip r:embed="rId2"/>
          <a:stretch>
            <a:fillRect/>
          </a:stretch>
        </p:blipFill>
        <p:spPr>
          <a:xfrm>
            <a:off x="1851899" y="2788610"/>
            <a:ext cx="8488201" cy="2425367"/>
          </a:xfrm>
          <a:prstGeom prst="rect">
            <a:avLst/>
          </a:prstGeom>
        </p:spPr>
      </p:pic>
    </p:spTree>
    <p:extLst>
      <p:ext uri="{BB962C8B-B14F-4D97-AF65-F5344CB8AC3E}">
        <p14:creationId xmlns:p14="http://schemas.microsoft.com/office/powerpoint/2010/main" val="279138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Bandwidth of FSK</a:t>
            </a:r>
            <a:endParaRPr lang="en-IN" dirty="0"/>
          </a:p>
        </p:txBody>
      </p:sp>
      <p:sp>
        <p:nvSpPr>
          <p:cNvPr id="3" name="Content Placeholder 2"/>
          <p:cNvSpPr>
            <a:spLocks noGrp="1"/>
          </p:cNvSpPr>
          <p:nvPr>
            <p:ph idx="1"/>
          </p:nvPr>
        </p:nvSpPr>
        <p:spPr/>
        <p:txBody>
          <a:bodyPr/>
          <a:lstStyle/>
          <a:p>
            <a:r>
              <a:rPr lang="en-US" altLang="en-US" dirty="0"/>
              <a:t>If the difference between the two frequencies (f</a:t>
            </a:r>
            <a:r>
              <a:rPr lang="en-US" altLang="en-US" baseline="-25000" dirty="0"/>
              <a:t>1</a:t>
            </a:r>
            <a:r>
              <a:rPr lang="en-US" altLang="en-US" dirty="0"/>
              <a:t> and f</a:t>
            </a:r>
            <a:r>
              <a:rPr lang="en-US" altLang="en-US" baseline="-25000" dirty="0"/>
              <a:t>2</a:t>
            </a:r>
            <a:r>
              <a:rPr lang="en-US" altLang="en-US" dirty="0"/>
              <a:t>) is 2</a:t>
            </a:r>
            <a:r>
              <a:rPr lang="en-US" altLang="en-US" dirty="0">
                <a:latin typeface="Symbol" panose="05050102010706020507" pitchFamily="18" charset="2"/>
                <a:sym typeface="Symbol" panose="05050102010706020507" pitchFamily="18" charset="2"/>
              </a:rPr>
              <a:t></a:t>
            </a:r>
            <a:r>
              <a:rPr lang="en-US" altLang="en-US" dirty="0"/>
              <a:t>f, then the required BW B will be:</a:t>
            </a:r>
          </a:p>
          <a:p>
            <a:pPr algn="ctr">
              <a:buFont typeface="Wingdings" panose="05000000000000000000" pitchFamily="2" charset="2"/>
              <a:buNone/>
            </a:pPr>
            <a:r>
              <a:rPr lang="en-US" altLang="en-US" dirty="0"/>
              <a:t>B = (1+d)</a:t>
            </a:r>
            <a:r>
              <a:rPr lang="en-US" altLang="en-US" dirty="0" err="1"/>
              <a:t>xS</a:t>
            </a:r>
            <a:r>
              <a:rPr lang="en-US" altLang="en-US" dirty="0"/>
              <a:t> +2</a:t>
            </a:r>
            <a:r>
              <a:rPr lang="en-US" altLang="en-US" dirty="0">
                <a:latin typeface="Symbol" panose="05050102010706020507" pitchFamily="18" charset="2"/>
                <a:sym typeface="Symbol" panose="05050102010706020507" pitchFamily="18" charset="2"/>
              </a:rPr>
              <a:t></a:t>
            </a:r>
            <a:r>
              <a:rPr lang="en-US" altLang="en-US" dirty="0"/>
              <a:t>f</a:t>
            </a:r>
          </a:p>
          <a:p>
            <a:endParaRPr lang="en-IN" dirty="0"/>
          </a:p>
        </p:txBody>
      </p:sp>
    </p:spTree>
    <p:extLst>
      <p:ext uri="{BB962C8B-B14F-4D97-AF65-F5344CB8AC3E}">
        <p14:creationId xmlns:p14="http://schemas.microsoft.com/office/powerpoint/2010/main" val="1601369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Coherent and Non Coherent</a:t>
            </a:r>
            <a:endParaRPr lang="en-IN" dirty="0"/>
          </a:p>
        </p:txBody>
      </p:sp>
      <p:sp>
        <p:nvSpPr>
          <p:cNvPr id="3" name="Content Placeholder 2"/>
          <p:cNvSpPr>
            <a:spLocks noGrp="1"/>
          </p:cNvSpPr>
          <p:nvPr>
            <p:ph idx="1"/>
          </p:nvPr>
        </p:nvSpPr>
        <p:spPr/>
        <p:txBody>
          <a:bodyPr/>
          <a:lstStyle/>
          <a:p>
            <a:r>
              <a:rPr lang="en-US" altLang="en-US" dirty="0"/>
              <a:t>In a non-coherent FSK scheme, when we change from one frequency to the other, we do not adhere to the current phase of the signal. </a:t>
            </a:r>
          </a:p>
          <a:p>
            <a:r>
              <a:rPr lang="en-US" altLang="en-US" dirty="0"/>
              <a:t>In coherent FSK, the switch from one frequency signal to the other only occurs at the same phase in the signal.</a:t>
            </a:r>
          </a:p>
          <a:p>
            <a:endParaRPr lang="en-IN" dirty="0"/>
          </a:p>
        </p:txBody>
      </p:sp>
    </p:spTree>
    <p:extLst>
      <p:ext uri="{BB962C8B-B14F-4D97-AF65-F5344CB8AC3E}">
        <p14:creationId xmlns:p14="http://schemas.microsoft.com/office/powerpoint/2010/main" val="1193535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Multi level FSK</a:t>
            </a:r>
            <a:endParaRPr lang="en-IN" dirty="0"/>
          </a:p>
        </p:txBody>
      </p:sp>
      <p:sp>
        <p:nvSpPr>
          <p:cNvPr id="3" name="Content Placeholder 2"/>
          <p:cNvSpPr>
            <a:spLocks noGrp="1"/>
          </p:cNvSpPr>
          <p:nvPr>
            <p:ph idx="1"/>
          </p:nvPr>
        </p:nvSpPr>
        <p:spPr/>
        <p:txBody>
          <a:bodyPr/>
          <a:lstStyle/>
          <a:p>
            <a:r>
              <a:rPr lang="en-US" altLang="en-US" dirty="0"/>
              <a:t>Similarly to ASK, FSK can use multiple bits per signal element.</a:t>
            </a:r>
          </a:p>
          <a:p>
            <a:r>
              <a:rPr lang="en-US" altLang="en-US" dirty="0"/>
              <a:t>That means we need to provision for multiple frequencies, each one to represent a group of data bits.</a:t>
            </a:r>
          </a:p>
          <a:p>
            <a:r>
              <a:rPr lang="en-US" altLang="en-US" dirty="0"/>
              <a:t>The bandwidth for FSK can be higher</a:t>
            </a:r>
          </a:p>
          <a:p>
            <a:pPr algn="ctr">
              <a:buFont typeface="Wingdings" panose="05000000000000000000" pitchFamily="2" charset="2"/>
              <a:buNone/>
            </a:pPr>
            <a:r>
              <a:rPr lang="en-US" altLang="en-US" dirty="0"/>
              <a:t>B = (1+d)</a:t>
            </a:r>
            <a:r>
              <a:rPr lang="en-US" altLang="en-US" dirty="0" err="1"/>
              <a:t>xS</a:t>
            </a:r>
            <a:r>
              <a:rPr lang="en-US" altLang="en-US" dirty="0"/>
              <a:t> + (L-1)/2</a:t>
            </a:r>
            <a:r>
              <a:rPr lang="en-US" altLang="en-US" dirty="0">
                <a:latin typeface="Symbol" panose="05050102010706020507" pitchFamily="18" charset="2"/>
                <a:sym typeface="Symbol" panose="05050102010706020507" pitchFamily="18" charset="2"/>
              </a:rPr>
              <a:t></a:t>
            </a:r>
            <a:r>
              <a:rPr lang="en-US" altLang="en-US" dirty="0"/>
              <a:t>f = </a:t>
            </a:r>
            <a:r>
              <a:rPr lang="en-US" altLang="en-US" dirty="0" err="1"/>
              <a:t>LxS</a:t>
            </a:r>
            <a:endParaRPr lang="en-US" altLang="en-US" dirty="0"/>
          </a:p>
          <a:p>
            <a:endParaRPr lang="en-IN" dirty="0"/>
          </a:p>
        </p:txBody>
      </p:sp>
    </p:spTree>
    <p:extLst>
      <p:ext uri="{BB962C8B-B14F-4D97-AF65-F5344CB8AC3E}">
        <p14:creationId xmlns:p14="http://schemas.microsoft.com/office/powerpoint/2010/main" val="4129666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Phase Shift Keying</a:t>
            </a:r>
            <a:endParaRPr lang="en-IN" dirty="0"/>
          </a:p>
        </p:txBody>
      </p:sp>
      <p:sp>
        <p:nvSpPr>
          <p:cNvPr id="3" name="Content Placeholder 2"/>
          <p:cNvSpPr>
            <a:spLocks noGrp="1"/>
          </p:cNvSpPr>
          <p:nvPr>
            <p:ph idx="1"/>
          </p:nvPr>
        </p:nvSpPr>
        <p:spPr/>
        <p:txBody>
          <a:bodyPr/>
          <a:lstStyle/>
          <a:p>
            <a:r>
              <a:rPr lang="en-US" altLang="en-US" dirty="0"/>
              <a:t>We vary the phase shift of the carrier signal to represent digital data.</a:t>
            </a:r>
          </a:p>
          <a:p>
            <a:r>
              <a:rPr lang="en-US" altLang="en-US" dirty="0"/>
              <a:t>The bandwidth requirement, B is:</a:t>
            </a:r>
          </a:p>
          <a:p>
            <a:pPr algn="ctr">
              <a:buFont typeface="Wingdings" panose="05000000000000000000" pitchFamily="2" charset="2"/>
              <a:buNone/>
            </a:pPr>
            <a:r>
              <a:rPr lang="en-US" altLang="en-US" dirty="0"/>
              <a:t>B = (1+d)</a:t>
            </a:r>
            <a:r>
              <a:rPr lang="en-US" altLang="en-US" dirty="0" err="1"/>
              <a:t>xS</a:t>
            </a:r>
            <a:endParaRPr lang="en-US" altLang="en-US" dirty="0"/>
          </a:p>
          <a:p>
            <a:r>
              <a:rPr lang="en-US" altLang="en-US" dirty="0"/>
              <a:t>PSK is much more robust than ASK as it is not that vulnerable to noise, which changes amplitude of the signal.</a:t>
            </a:r>
          </a:p>
          <a:p>
            <a:endParaRPr lang="en-IN" dirty="0"/>
          </a:p>
        </p:txBody>
      </p:sp>
    </p:spTree>
    <p:extLst>
      <p:ext uri="{BB962C8B-B14F-4D97-AF65-F5344CB8AC3E}">
        <p14:creationId xmlns:p14="http://schemas.microsoft.com/office/powerpoint/2010/main" val="1691541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Binary phase shift keying</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589217"/>
            <a:ext cx="10515600" cy="2824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5447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Implementation of BASK</a:t>
            </a:r>
            <a:endParaRPr lang="en-IN" dirty="0"/>
          </a:p>
        </p:txBody>
      </p:sp>
      <p:pic>
        <p:nvPicPr>
          <p:cNvPr id="4"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331872"/>
            <a:ext cx="10515600" cy="3338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6187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Quadrature PSK</a:t>
            </a:r>
            <a:endParaRPr lang="en-IN" dirty="0"/>
          </a:p>
        </p:txBody>
      </p:sp>
      <p:sp>
        <p:nvSpPr>
          <p:cNvPr id="3" name="Content Placeholder 2"/>
          <p:cNvSpPr>
            <a:spLocks noGrp="1"/>
          </p:cNvSpPr>
          <p:nvPr>
            <p:ph idx="1"/>
          </p:nvPr>
        </p:nvSpPr>
        <p:spPr/>
        <p:txBody>
          <a:bodyPr/>
          <a:lstStyle/>
          <a:p>
            <a:r>
              <a:rPr lang="en-US" altLang="en-US" dirty="0"/>
              <a:t>To increase the bit rate, we can code 2 or more bits onto one signal element.</a:t>
            </a:r>
          </a:p>
          <a:p>
            <a:r>
              <a:rPr lang="en-US" altLang="en-US" dirty="0"/>
              <a:t>In QPSK, we parallelize the bit stream so that every two incoming bits are split up and PSK a carrier frequency. One carrier frequency is phase shifted 90</a:t>
            </a:r>
            <a:r>
              <a:rPr lang="en-US" altLang="en-US" baseline="30000" dirty="0"/>
              <a:t>o</a:t>
            </a:r>
            <a:r>
              <a:rPr lang="en-US" altLang="en-US" dirty="0"/>
              <a:t> from the other - in quadrature.</a:t>
            </a:r>
          </a:p>
          <a:p>
            <a:r>
              <a:rPr lang="en-US" altLang="en-US" dirty="0"/>
              <a:t>The two </a:t>
            </a:r>
            <a:r>
              <a:rPr lang="en-US" altLang="en-US" dirty="0" err="1"/>
              <a:t>PSKed</a:t>
            </a:r>
            <a:r>
              <a:rPr lang="en-US" altLang="en-US" dirty="0"/>
              <a:t> signals are then added to produce one of 4 signal elements. L = 4 here.</a:t>
            </a:r>
          </a:p>
          <a:p>
            <a:endParaRPr lang="en-IN" dirty="0"/>
          </a:p>
        </p:txBody>
      </p:sp>
    </p:spTree>
    <p:extLst>
      <p:ext uri="{BB962C8B-B14F-4D97-AF65-F5344CB8AC3E}">
        <p14:creationId xmlns:p14="http://schemas.microsoft.com/office/powerpoint/2010/main" val="10557473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QPSK and its implementation</a:t>
            </a:r>
            <a:endParaRPr lang="en-IN" dirty="0"/>
          </a:p>
        </p:txBody>
      </p:sp>
      <p:pic>
        <p:nvPicPr>
          <p:cNvPr id="4"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3967" y="1825625"/>
            <a:ext cx="7916090"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5257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Constellation Diagrams</a:t>
            </a:r>
            <a:endParaRPr lang="en-IN" dirty="0"/>
          </a:p>
        </p:txBody>
      </p:sp>
      <p:sp>
        <p:nvSpPr>
          <p:cNvPr id="3" name="Content Placeholder 2"/>
          <p:cNvSpPr>
            <a:spLocks noGrp="1"/>
          </p:cNvSpPr>
          <p:nvPr>
            <p:ph idx="1"/>
          </p:nvPr>
        </p:nvSpPr>
        <p:spPr/>
        <p:txBody>
          <a:bodyPr/>
          <a:lstStyle/>
          <a:p>
            <a:r>
              <a:rPr lang="en-US" altLang="en-US" dirty="0"/>
              <a:t>A constellation diagram helps us to define the amplitude and phase of a signal when we are using two carriers, one in quadrature of the other.</a:t>
            </a:r>
          </a:p>
          <a:p>
            <a:r>
              <a:rPr lang="en-US" altLang="en-US" dirty="0"/>
              <a:t>The X-axis represents the in-phase carrier and the Y-axis represents quadrature carrier.</a:t>
            </a:r>
          </a:p>
          <a:p>
            <a:endParaRPr lang="en-IN" dirty="0"/>
          </a:p>
        </p:txBody>
      </p:sp>
    </p:spTree>
    <p:extLst>
      <p:ext uri="{BB962C8B-B14F-4D97-AF65-F5344CB8AC3E}">
        <p14:creationId xmlns:p14="http://schemas.microsoft.com/office/powerpoint/2010/main" val="42480256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Concept of a constellation diagram</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99063" y="1825625"/>
            <a:ext cx="7968343"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8258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Three constellation diagrams</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696439"/>
            <a:ext cx="10515600" cy="2609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4538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IN" dirty="0"/>
              <a:t>For ASK, we are using only an in-phase carrier. Therefore, the two points should be on the X axis. Binary 0 has an amplitude of 0 V; binary 1 has an amplitude of 1V (for example). The points are located at the origin and at 1 unit.</a:t>
            </a:r>
          </a:p>
          <a:p>
            <a:r>
              <a:rPr lang="en-IN" dirty="0"/>
              <a:t>BPSK also uses only an in-phase carrier. However, we use a polar NRZ signal for modulation. It creates two types of signal elements, one with amplitude 1 and the other with amplitude -1. This can be stated in other words: BPSK creates two different signal elements, one with amplitude I V and in phase and the other with amplitude 1V and 1800 out of phase.</a:t>
            </a:r>
          </a:p>
          <a:p>
            <a:r>
              <a:rPr lang="en-IN" dirty="0"/>
              <a:t>QPSK uses two carriers, one in-phase and the other quadrature. The point representing 11 is made of two combined signal elements, both with an amplitude of 1 V. One element is represented by an in-phase carrier, the other element by a quadrature carrier. The amplitude of the final signal element sent for this 2-bit data element is 2112, and the phase is </a:t>
            </a:r>
            <a:r>
              <a:rPr lang="en-IN" i="1" dirty="0"/>
              <a:t>45°. </a:t>
            </a:r>
            <a:r>
              <a:rPr lang="en-IN" dirty="0"/>
              <a:t>The argument is similar for the other three points. All signal elements have an amplitude of 2112, but their phases are different </a:t>
            </a:r>
            <a:r>
              <a:rPr lang="en-IN" i="1" dirty="0"/>
              <a:t>(45°, </a:t>
            </a:r>
            <a:r>
              <a:rPr lang="en-IN" dirty="0"/>
              <a:t>135°, -135°, and -45°). Of  course, we could have chosen the amplitude of the carrier to be 1/(21/2) to make the final amplitudes 1 V.</a:t>
            </a:r>
          </a:p>
        </p:txBody>
      </p:sp>
    </p:spTree>
    <p:extLst>
      <p:ext uri="{BB962C8B-B14F-4D97-AF65-F5344CB8AC3E}">
        <p14:creationId xmlns:p14="http://schemas.microsoft.com/office/powerpoint/2010/main" val="2577533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Quadrature amplitude modulation</a:t>
            </a:r>
            <a:endParaRPr lang="en-IN" dirty="0"/>
          </a:p>
        </p:txBody>
      </p:sp>
      <p:sp>
        <p:nvSpPr>
          <p:cNvPr id="3" name="Content Placeholder 2"/>
          <p:cNvSpPr>
            <a:spLocks noGrp="1"/>
          </p:cNvSpPr>
          <p:nvPr>
            <p:ph idx="1"/>
          </p:nvPr>
        </p:nvSpPr>
        <p:spPr/>
        <p:txBody>
          <a:bodyPr/>
          <a:lstStyle/>
          <a:p>
            <a:r>
              <a:rPr lang="en-US" altLang="en-US" dirty="0"/>
              <a:t>Quadrature amplitude modulation is a combination of ASK and PSK.</a:t>
            </a:r>
          </a:p>
          <a:p>
            <a:endParaRPr lang="en-IN" dirty="0"/>
          </a:p>
        </p:txBody>
      </p:sp>
    </p:spTree>
    <p:extLst>
      <p:ext uri="{BB962C8B-B14F-4D97-AF65-F5344CB8AC3E}">
        <p14:creationId xmlns:p14="http://schemas.microsoft.com/office/powerpoint/2010/main" val="3374987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Constellation diagrams for some QAMs</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880882"/>
            <a:ext cx="10515600" cy="2240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25849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Times New Roman" panose="02020603050405020304" pitchFamily="18" charset="0"/>
              </a:rPr>
              <a:t>Analog-to-analog conversion</a:t>
            </a:r>
            <a:endParaRPr lang="en-IN" dirty="0"/>
          </a:p>
        </p:txBody>
      </p:sp>
      <p:sp>
        <p:nvSpPr>
          <p:cNvPr id="3" name="Content Placeholder 2"/>
          <p:cNvSpPr>
            <a:spLocks noGrp="1"/>
          </p:cNvSpPr>
          <p:nvPr>
            <p:ph idx="1"/>
          </p:nvPr>
        </p:nvSpPr>
        <p:spPr/>
        <p:txBody>
          <a:bodyPr>
            <a:normAutofit/>
          </a:bodyPr>
          <a:lstStyle/>
          <a:p>
            <a:r>
              <a:rPr lang="en-US" altLang="en-US" dirty="0">
                <a:latin typeface="Times New Roman" panose="02020603050405020304" pitchFamily="18" charset="0"/>
              </a:rPr>
              <a:t>Analog-to-analog conversion is the representation of analog information by an analog signal. </a:t>
            </a:r>
          </a:p>
          <a:p>
            <a:r>
              <a:rPr lang="en-IN" dirty="0"/>
              <a:t> This modulation is needed if the medium is band pass in nature or if only a band pass channel is available to us. An example is radio.</a:t>
            </a:r>
          </a:p>
          <a:p>
            <a:r>
              <a:rPr lang="en-IN" dirty="0"/>
              <a:t>The government assigns a narrow bandwidth to each radio station.</a:t>
            </a:r>
          </a:p>
          <a:p>
            <a:r>
              <a:rPr lang="en-IN" dirty="0"/>
              <a:t>The analog signal produced by each station is a </a:t>
            </a:r>
            <a:r>
              <a:rPr lang="en-IN" b="1" dirty="0"/>
              <a:t>low-pass signal</a:t>
            </a:r>
            <a:r>
              <a:rPr lang="en-IN" dirty="0"/>
              <a:t>, all in the same range.</a:t>
            </a:r>
          </a:p>
          <a:p>
            <a:r>
              <a:rPr lang="en-IN" dirty="0"/>
              <a:t>To be able to listen to different stations, the low-pass signals need to be shifted, each to a different range.</a:t>
            </a:r>
            <a:r>
              <a:rPr lang="en-US" altLang="en-US" dirty="0">
                <a:latin typeface="Times New Roman" panose="02020603050405020304" pitchFamily="18" charset="0"/>
              </a:rPr>
              <a:t> </a:t>
            </a:r>
          </a:p>
          <a:p>
            <a:endParaRPr lang="en-IN" dirty="0"/>
          </a:p>
        </p:txBody>
      </p:sp>
    </p:spTree>
    <p:extLst>
      <p:ext uri="{BB962C8B-B14F-4D97-AF65-F5344CB8AC3E}">
        <p14:creationId xmlns:p14="http://schemas.microsoft.com/office/powerpoint/2010/main" val="9432010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Types of analog-to-analog modulation</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647371"/>
            <a:ext cx="10515600" cy="2707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4769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Amplitude Modulation</a:t>
            </a:r>
            <a:endParaRPr lang="en-IN" dirty="0"/>
          </a:p>
        </p:txBody>
      </p:sp>
      <p:sp>
        <p:nvSpPr>
          <p:cNvPr id="3" name="Content Placeholder 2"/>
          <p:cNvSpPr>
            <a:spLocks noGrp="1"/>
          </p:cNvSpPr>
          <p:nvPr>
            <p:ph idx="1"/>
          </p:nvPr>
        </p:nvSpPr>
        <p:spPr/>
        <p:txBody>
          <a:bodyPr>
            <a:normAutofit fontScale="92500"/>
          </a:bodyPr>
          <a:lstStyle/>
          <a:p>
            <a:r>
              <a:rPr lang="en-US" altLang="en-US" dirty="0"/>
              <a:t>A carrier signal is modulated only in amplitude value</a:t>
            </a:r>
          </a:p>
          <a:p>
            <a:r>
              <a:rPr lang="en-IN" dirty="0"/>
              <a:t>The carrier signal is modulated so that its amplitude varies with the changing amplitudes of the modulating (audio) signal.</a:t>
            </a:r>
          </a:p>
          <a:p>
            <a:r>
              <a:rPr lang="en-IN" dirty="0"/>
              <a:t>The frequency and phase of the carrier remain the same, only the amplitude changes to follow variations in the information. </a:t>
            </a:r>
          </a:p>
          <a:p>
            <a:r>
              <a:rPr lang="en-US" altLang="en-US" dirty="0"/>
              <a:t>The modulating signal is the envelope of the carrier</a:t>
            </a:r>
          </a:p>
          <a:p>
            <a:r>
              <a:rPr lang="en-US" altLang="en-US" dirty="0"/>
              <a:t>The required bandwidth is 2B, where B is the bandwidth of the modulating signal</a:t>
            </a:r>
          </a:p>
          <a:p>
            <a:r>
              <a:rPr lang="en-US" altLang="en-US" dirty="0"/>
              <a:t>Since on both sides of the carrier freq. f</a:t>
            </a:r>
            <a:r>
              <a:rPr lang="en-US" altLang="en-US" baseline="-25000" dirty="0"/>
              <a:t>c</a:t>
            </a:r>
            <a:r>
              <a:rPr lang="en-US" altLang="en-US" dirty="0"/>
              <a:t>, the spectrum is identical, we can discard one half, thus requiring a smaller bandwidth for transmission.</a:t>
            </a:r>
          </a:p>
          <a:p>
            <a:endParaRPr lang="en-IN" dirty="0"/>
          </a:p>
        </p:txBody>
      </p:sp>
    </p:spTree>
    <p:extLst>
      <p:ext uri="{BB962C8B-B14F-4D97-AF65-F5344CB8AC3E}">
        <p14:creationId xmlns:p14="http://schemas.microsoft.com/office/powerpoint/2010/main" val="3988434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Amplitude modulation</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39384" y="1825625"/>
            <a:ext cx="9713232"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3802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en-US" dirty="0"/>
              <a:t>The total bandwidth required for AM can be determined from the bandwidth of the audio signal: B</a:t>
            </a:r>
            <a:r>
              <a:rPr lang="en-US" altLang="en-US" baseline="-25000" dirty="0"/>
              <a:t>AM</a:t>
            </a:r>
            <a:r>
              <a:rPr lang="en-US" altLang="en-US" dirty="0"/>
              <a:t> = 2B.</a:t>
            </a:r>
          </a:p>
          <a:p>
            <a:r>
              <a:rPr lang="en-US" altLang="en-US" i="1" dirty="0">
                <a:latin typeface="Times New Roman" panose="02020603050405020304" pitchFamily="18" charset="0"/>
              </a:rPr>
              <a:t>AM band allocation</a:t>
            </a:r>
          </a:p>
          <a:p>
            <a:endParaRPr lang="en-IN" dirty="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143" y="3699284"/>
            <a:ext cx="6919913" cy="1096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15956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Frequency Modulation</a:t>
            </a:r>
            <a:endParaRPr lang="en-IN" dirty="0"/>
          </a:p>
        </p:txBody>
      </p:sp>
      <p:sp>
        <p:nvSpPr>
          <p:cNvPr id="3" name="Content Placeholder 2"/>
          <p:cNvSpPr>
            <a:spLocks noGrp="1"/>
          </p:cNvSpPr>
          <p:nvPr>
            <p:ph idx="1"/>
          </p:nvPr>
        </p:nvSpPr>
        <p:spPr/>
        <p:txBody>
          <a:bodyPr>
            <a:normAutofit fontScale="92500" lnSpcReduction="10000"/>
          </a:bodyPr>
          <a:lstStyle/>
          <a:p>
            <a:r>
              <a:rPr lang="en-US" altLang="en-US" dirty="0"/>
              <a:t>The modulating signal changes the freq. f</a:t>
            </a:r>
            <a:r>
              <a:rPr lang="en-US" altLang="en-US" baseline="-25000" dirty="0"/>
              <a:t>c</a:t>
            </a:r>
            <a:r>
              <a:rPr lang="en-US" altLang="en-US" dirty="0"/>
              <a:t> of the carrier signal</a:t>
            </a:r>
          </a:p>
          <a:p>
            <a:r>
              <a:rPr lang="en-IN" dirty="0"/>
              <a:t>The frequency of the carrier signal</a:t>
            </a:r>
            <a:r>
              <a:rPr lang="en-IN" b="1" dirty="0"/>
              <a:t> </a:t>
            </a:r>
            <a:r>
              <a:rPr lang="en-IN" dirty="0"/>
              <a:t>is modulated to follow the changing voltage level (amplitude) of the modulating signal. </a:t>
            </a:r>
          </a:p>
          <a:p>
            <a:r>
              <a:rPr lang="en-IN" dirty="0"/>
              <a:t>The peak amplitude and phase of the carrier signal remain constant, but as the amplitude</a:t>
            </a:r>
            <a:r>
              <a:rPr lang="en-IN" b="1" dirty="0"/>
              <a:t> </a:t>
            </a:r>
            <a:r>
              <a:rPr lang="en-IN" dirty="0"/>
              <a:t>of the information signal changes, the frequency of the carrier changes correspondingly.</a:t>
            </a:r>
            <a:endParaRPr lang="en-US" altLang="en-US" dirty="0"/>
          </a:p>
          <a:p>
            <a:r>
              <a:rPr lang="en-US" altLang="en-US" dirty="0"/>
              <a:t>The bandwidth for FM is high</a:t>
            </a:r>
          </a:p>
          <a:p>
            <a:r>
              <a:rPr lang="en-US" altLang="en-US" dirty="0"/>
              <a:t>It is approx. 10x the signal frequency</a:t>
            </a:r>
          </a:p>
          <a:p>
            <a:r>
              <a:rPr lang="en-US" altLang="en-US" dirty="0"/>
              <a:t>The total bandwidth required for FM can be determined from the bandwidth of the audio signal: </a:t>
            </a:r>
          </a:p>
          <a:p>
            <a:pPr marL="0" indent="0">
              <a:buNone/>
            </a:pPr>
            <a:r>
              <a:rPr lang="en-US" altLang="en-US" dirty="0"/>
              <a:t>	B</a:t>
            </a:r>
            <a:r>
              <a:rPr lang="en-US" altLang="en-US" baseline="-25000" dirty="0"/>
              <a:t>FM</a:t>
            </a:r>
            <a:r>
              <a:rPr lang="en-US" altLang="en-US" dirty="0"/>
              <a:t> = 2(1 + β)B. Where </a:t>
            </a:r>
            <a:r>
              <a:rPr lang="en-US" altLang="en-US" dirty="0">
                <a:latin typeface="Symbol" panose="05050102010706020507" pitchFamily="18" charset="2"/>
                <a:sym typeface="Symbol" panose="05050102010706020507" pitchFamily="18" charset="2"/>
              </a:rPr>
              <a:t></a:t>
            </a:r>
            <a:r>
              <a:rPr lang="en-US" altLang="en-US" dirty="0"/>
              <a:t> is usually 4.</a:t>
            </a:r>
          </a:p>
          <a:p>
            <a:endParaRPr lang="en-US" altLang="en-US" dirty="0"/>
          </a:p>
          <a:p>
            <a:endParaRPr lang="en-IN" dirty="0"/>
          </a:p>
        </p:txBody>
      </p:sp>
    </p:spTree>
    <p:extLst>
      <p:ext uri="{BB962C8B-B14F-4D97-AF65-F5344CB8AC3E}">
        <p14:creationId xmlns:p14="http://schemas.microsoft.com/office/powerpoint/2010/main" val="2576592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Frequency modulation</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57852" y="1825625"/>
            <a:ext cx="8876295"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94074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FM band allocation</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3271143"/>
            <a:ext cx="10515600" cy="1460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0033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Phase Modulation (PM)</a:t>
            </a:r>
            <a:endParaRPr lang="en-IN" dirty="0"/>
          </a:p>
        </p:txBody>
      </p:sp>
      <p:sp>
        <p:nvSpPr>
          <p:cNvPr id="3" name="Content Placeholder 2"/>
          <p:cNvSpPr>
            <a:spLocks noGrp="1"/>
          </p:cNvSpPr>
          <p:nvPr>
            <p:ph idx="1"/>
          </p:nvPr>
        </p:nvSpPr>
        <p:spPr/>
        <p:txBody>
          <a:bodyPr>
            <a:normAutofit fontScale="92500"/>
          </a:bodyPr>
          <a:lstStyle/>
          <a:p>
            <a:r>
              <a:rPr lang="en-US" altLang="en-US" dirty="0"/>
              <a:t>The modulating signal only changes the phase of the carrier signal. </a:t>
            </a:r>
          </a:p>
          <a:p>
            <a:r>
              <a:rPr lang="en-IN" dirty="0"/>
              <a:t>In PM transmission, the phase of the carrier signal is modulated to follow the changing voltage level (amplitude) of the modulating signal. </a:t>
            </a:r>
          </a:p>
          <a:p>
            <a:r>
              <a:rPr lang="en-IN" dirty="0"/>
              <a:t>The peak amplitude and frequency of the carrier signal remain constant, but as the amplitude of the information signal changes, the phase of the carrier changes correspondingly.</a:t>
            </a:r>
            <a:endParaRPr lang="en-US" altLang="en-US" dirty="0"/>
          </a:p>
          <a:p>
            <a:r>
              <a:rPr lang="en-US" altLang="en-US" dirty="0"/>
              <a:t>The phase change manifests itself as a frequency change but the instantaneous frequency change is proportional to the derivative of the amplitude.</a:t>
            </a:r>
          </a:p>
          <a:p>
            <a:r>
              <a:rPr lang="en-US" altLang="en-US" dirty="0"/>
              <a:t>The bandwidth is higher than for AM. </a:t>
            </a:r>
          </a:p>
          <a:p>
            <a:endParaRPr lang="en-IN" dirty="0"/>
          </a:p>
        </p:txBody>
      </p:sp>
    </p:spTree>
    <p:extLst>
      <p:ext uri="{BB962C8B-B14F-4D97-AF65-F5344CB8AC3E}">
        <p14:creationId xmlns:p14="http://schemas.microsoft.com/office/powerpoint/2010/main" val="13343707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Phase modulation</a:t>
            </a:r>
            <a:endParaRPr lang="en-IN"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8654" y="1825625"/>
            <a:ext cx="9154692"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82911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en-US" dirty="0"/>
              <a:t>The total bandwidth required for PM can be determined from the bandwidth and maximum amplitude of the modulating signal:</a:t>
            </a:r>
            <a:br>
              <a:rPr lang="en-US" altLang="en-US" dirty="0"/>
            </a:br>
            <a:r>
              <a:rPr lang="en-US" altLang="en-US" dirty="0"/>
              <a:t>	B</a:t>
            </a:r>
            <a:r>
              <a:rPr lang="en-US" altLang="en-US" baseline="-25000" dirty="0"/>
              <a:t>PM</a:t>
            </a:r>
            <a:r>
              <a:rPr lang="en-US" altLang="en-US" dirty="0"/>
              <a:t> = 2(1 + β)B Where </a:t>
            </a:r>
            <a:r>
              <a:rPr lang="en-US" altLang="en-US" dirty="0">
                <a:latin typeface="Symbol" panose="05050102010706020507" pitchFamily="18" charset="2"/>
                <a:sym typeface="Symbol" panose="05050102010706020507" pitchFamily="18" charset="2"/>
              </a:rPr>
              <a:t></a:t>
            </a:r>
            <a:r>
              <a:rPr lang="en-US" altLang="en-US" dirty="0"/>
              <a:t> = 2 most often.</a:t>
            </a:r>
          </a:p>
          <a:p>
            <a:endParaRPr lang="en-IN" dirty="0"/>
          </a:p>
        </p:txBody>
      </p:sp>
    </p:spTree>
    <p:extLst>
      <p:ext uri="{BB962C8B-B14F-4D97-AF65-F5344CB8AC3E}">
        <p14:creationId xmlns:p14="http://schemas.microsoft.com/office/powerpoint/2010/main" val="2766994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