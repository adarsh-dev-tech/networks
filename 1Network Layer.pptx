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16.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11" Type="http://schemas.openxmlformats.org/officeDocument/2006/relationships/slide" Target="slides/slide8.xml"/><Relationship Id="rId22" Type="http://schemas.openxmlformats.org/officeDocument/2006/relationships/slide" Target="slides/slide19.xml"/><Relationship Id="rId10" Type="http://schemas.openxmlformats.org/officeDocument/2006/relationships/slide" Target="slides/slide7.xml"/><Relationship Id="rId21" Type="http://schemas.openxmlformats.org/officeDocument/2006/relationships/slide" Target="slides/slide18.xml"/><Relationship Id="rId13" Type="http://schemas.openxmlformats.org/officeDocument/2006/relationships/slide" Target="slides/slide10.xml"/><Relationship Id="rId24" Type="http://schemas.openxmlformats.org/officeDocument/2006/relationships/slide" Target="slides/slide21.xml"/><Relationship Id="rId12" Type="http://schemas.openxmlformats.org/officeDocument/2006/relationships/slide" Target="slides/slide9.xml"/><Relationship Id="rId23" Type="http://schemas.openxmlformats.org/officeDocument/2006/relationships/slide" Target="slides/slide2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5" Type="http://schemas.openxmlformats.org/officeDocument/2006/relationships/slide" Target="slides/slide2.xml"/><Relationship Id="rId19" Type="http://schemas.openxmlformats.org/officeDocument/2006/relationships/slide" Target="slides/slide16.xml"/><Relationship Id="rId6" Type="http://schemas.openxmlformats.org/officeDocument/2006/relationships/slide" Target="slides/slide3.xml"/><Relationship Id="rId18" Type="http://schemas.openxmlformats.org/officeDocument/2006/relationships/slide" Target="slides/slide15.xml"/><Relationship Id="rId7" Type="http://schemas.openxmlformats.org/officeDocument/2006/relationships/slide" Target="slides/slide4.xml"/><Relationship Id="rId8"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C3F8E6-0F16-47F4-A818-C0DC06A293CA}"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916668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C3F8E6-0F16-47F4-A818-C0DC06A293CA}"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298667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C3F8E6-0F16-47F4-A818-C0DC06A293CA}"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1807848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CC3F8E6-0F16-47F4-A818-C0DC06A293CA}"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687305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CC3F8E6-0F16-47F4-A818-C0DC06A293CA}" type="datetimeFigureOut">
              <a:rPr lang="en-IN" smtClean="0"/>
              <a:t>22-09-2026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2174771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C3F8E6-0F16-47F4-A818-C0DC06A293CA}" type="datetimeFigureOut">
              <a:rPr lang="en-IN" smtClean="0"/>
              <a:t>22-09-2026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149477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C3F8E6-0F16-47F4-A818-C0DC06A293CA}" type="datetimeFigureOut">
              <a:rPr lang="en-IN" smtClean="0"/>
              <a:t>22-09-2026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641912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C3F8E6-0F16-47F4-A818-C0DC06A293CA}"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886199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C3F8E6-0F16-47F4-A818-C0DC06A293CA}"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3726652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C3F8E6-0F16-47F4-A818-C0DC06A293CA}"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190149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C3F8E6-0F16-47F4-A818-C0DC06A293CA}"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7B18B-33A6-43B1-8DF9-C3AF9925FFB4}" type="slidenum">
              <a:rPr lang="en-IN" smtClean="0"/>
              <a:t>‹#›</a:t>
            </a:fld>
            <a:endParaRPr lang="en-IN"/>
          </a:p>
        </p:txBody>
      </p:sp>
    </p:spTree>
    <p:extLst>
      <p:ext uri="{BB962C8B-B14F-4D97-AF65-F5344CB8AC3E}">
        <p14:creationId xmlns:p14="http://schemas.microsoft.com/office/powerpoint/2010/main" val="2504888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C3F8E6-0F16-47F4-A818-C0DC06A293CA}" type="datetimeFigureOut">
              <a:rPr lang="en-IN" smtClean="0"/>
              <a:t>22-09-2026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A7B18B-33A6-43B1-8DF9-C3AF9925FFB4}" type="slidenum">
              <a:rPr lang="en-IN" smtClean="0"/>
              <a:t>‹#›</a:t>
            </a:fld>
            <a:endParaRPr lang="en-IN"/>
          </a:p>
        </p:txBody>
      </p:sp>
    </p:spTree>
    <p:extLst>
      <p:ext uri="{BB962C8B-B14F-4D97-AF65-F5344CB8AC3E}">
        <p14:creationId xmlns:p14="http://schemas.microsoft.com/office/powerpoint/2010/main" val="3240813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Network Layer</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51635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This layer is concerned with getting packets from the source all the way to the destination.</a:t>
            </a:r>
          </a:p>
          <a:p>
            <a:r>
              <a:rPr lang="en-IN" dirty="0"/>
              <a:t>Getting to the destination may require making many hops at intermediate routers along the way.</a:t>
            </a:r>
          </a:p>
          <a:p>
            <a:r>
              <a:rPr lang="en-IN" dirty="0"/>
              <a:t>Thus, the network layer is the lowest layer that deals with end-to-end transmission.</a:t>
            </a:r>
          </a:p>
        </p:txBody>
      </p:sp>
    </p:spTree>
    <p:extLst>
      <p:ext uri="{BB962C8B-B14F-4D97-AF65-F5344CB8AC3E}">
        <p14:creationId xmlns:p14="http://schemas.microsoft.com/office/powerpoint/2010/main" val="1194524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703299" y="2347927"/>
            <a:ext cx="6785401" cy="3306734"/>
          </a:xfrm>
          <a:prstGeom prst="rect">
            <a:avLst/>
          </a:prstGeom>
        </p:spPr>
      </p:pic>
    </p:spTree>
    <p:extLst>
      <p:ext uri="{BB962C8B-B14F-4D97-AF65-F5344CB8AC3E}">
        <p14:creationId xmlns:p14="http://schemas.microsoft.com/office/powerpoint/2010/main" val="3133698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167699" y="2306110"/>
            <a:ext cx="5856601" cy="3390367"/>
          </a:xfrm>
          <a:prstGeom prst="rect">
            <a:avLst/>
          </a:prstGeom>
        </p:spPr>
      </p:pic>
    </p:spTree>
    <p:extLst>
      <p:ext uri="{BB962C8B-B14F-4D97-AF65-F5344CB8AC3E}">
        <p14:creationId xmlns:p14="http://schemas.microsoft.com/office/powerpoint/2010/main" val="5202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716199" y="1894377"/>
            <a:ext cx="6759601" cy="4213834"/>
          </a:xfrm>
          <a:prstGeom prst="rect">
            <a:avLst/>
          </a:prstGeom>
        </p:spPr>
      </p:pic>
      <p:pic>
        <p:nvPicPr>
          <p:cNvPr id="5" name="Picture 4"/>
          <p:cNvPicPr>
            <a:picLocks noChangeAspect="1"/>
          </p:cNvPicPr>
          <p:nvPr/>
        </p:nvPicPr>
        <p:blipFill>
          <a:blip r:embed="rId3"/>
          <a:stretch>
            <a:fillRect/>
          </a:stretch>
        </p:blipFill>
        <p:spPr>
          <a:xfrm>
            <a:off x="2716199" y="6008494"/>
            <a:ext cx="1419000" cy="199433"/>
          </a:xfrm>
          <a:prstGeom prst="rect">
            <a:avLst/>
          </a:prstGeom>
        </p:spPr>
      </p:pic>
    </p:spTree>
    <p:extLst>
      <p:ext uri="{BB962C8B-B14F-4D97-AF65-F5344CB8AC3E}">
        <p14:creationId xmlns:p14="http://schemas.microsoft.com/office/powerpoint/2010/main" val="327397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Functions of Network layer </a:t>
            </a:r>
          </a:p>
        </p:txBody>
      </p:sp>
      <p:sp>
        <p:nvSpPr>
          <p:cNvPr id="4" name="Content Placeholder 3"/>
          <p:cNvSpPr>
            <a:spLocks noGrp="1"/>
          </p:cNvSpPr>
          <p:nvPr>
            <p:ph idx="1"/>
          </p:nvPr>
        </p:nvSpPr>
        <p:spPr/>
        <p:txBody>
          <a:bodyPr>
            <a:normAutofit/>
          </a:bodyPr>
          <a:lstStyle/>
          <a:p>
            <a:pPr lvl="0"/>
            <a:r>
              <a:rPr lang="en-US" dirty="0"/>
              <a:t>Routing </a:t>
            </a:r>
          </a:p>
          <a:p>
            <a:pPr lvl="1"/>
            <a:r>
              <a:rPr lang="en-US" dirty="0"/>
              <a:t>The process of transferring packets received from the Data Link Layer of the source network to the Data Link Layer of the correct destination network is called routing. </a:t>
            </a:r>
          </a:p>
          <a:p>
            <a:pPr lvl="1"/>
            <a:r>
              <a:rPr lang="en-US" dirty="0"/>
              <a:t>Involves decision making at each intermediate node on where to send the packet next so that it eventually reaches its destination. </a:t>
            </a:r>
          </a:p>
          <a:p>
            <a:pPr lvl="1"/>
            <a:r>
              <a:rPr lang="en-US" dirty="0"/>
              <a:t>The node which makes this choice is called a router. For routing we require some mode of addressing which is recognized by the Network Layer. This addressing is different from the MAC layer addressing.</a:t>
            </a:r>
          </a:p>
          <a:p>
            <a:endParaRPr lang="en-US" dirty="0"/>
          </a:p>
        </p:txBody>
      </p:sp>
    </p:spTree>
    <p:extLst>
      <p:ext uri="{BB962C8B-B14F-4D97-AF65-F5344CB8AC3E}">
        <p14:creationId xmlns:p14="http://schemas.microsoft.com/office/powerpoint/2010/main" val="2630929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t>Inter-networking </a:t>
            </a:r>
          </a:p>
          <a:p>
            <a:pPr lvl="1"/>
            <a:r>
              <a:rPr lang="en-US" dirty="0"/>
              <a:t> The network layer is the same across all physical networks (such as Token-Ring and Ethernet). </a:t>
            </a:r>
          </a:p>
          <a:p>
            <a:pPr lvl="1"/>
            <a:r>
              <a:rPr lang="en-US" dirty="0"/>
              <a:t>Thus, if two physically different networks have to communicate, the packets that arrive at the Data Link Layer of the node which connects these two physically different networks, would be stripped of their headers and passed to the Network Layer. </a:t>
            </a:r>
          </a:p>
          <a:p>
            <a:pPr lvl="1"/>
            <a:r>
              <a:rPr lang="en-US" dirty="0"/>
              <a:t>The network layer would then pass this data to the Data Link Layer of the other physical network.</a:t>
            </a:r>
          </a:p>
          <a:p>
            <a:endParaRPr lang="en-US" dirty="0"/>
          </a:p>
        </p:txBody>
      </p:sp>
    </p:spTree>
    <p:extLst>
      <p:ext uri="{BB962C8B-B14F-4D97-AF65-F5344CB8AC3E}">
        <p14:creationId xmlns:p14="http://schemas.microsoft.com/office/powerpoint/2010/main" val="3717341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lvl="0"/>
            <a:r>
              <a:rPr lang="en-US" dirty="0"/>
              <a:t>Congestion Control : If the incoming rate of the packets arriving at any router is more than the outgoing rate, then congestion is said to occur. </a:t>
            </a:r>
          </a:p>
          <a:p>
            <a:pPr lvl="0"/>
            <a:r>
              <a:rPr lang="en-US" dirty="0"/>
              <a:t>Congestion may be caused by many factors. </a:t>
            </a:r>
          </a:p>
          <a:p>
            <a:pPr lvl="1"/>
            <a:r>
              <a:rPr lang="en-US" dirty="0"/>
              <a:t>If suddenly, packets begin arriving on many input lines and all need the same output line, then a queue will build up.  If there is insufficient memory to hold all of them, packets will be lost. </a:t>
            </a:r>
          </a:p>
          <a:p>
            <a:pPr lvl="1"/>
            <a:r>
              <a:rPr lang="en-US" dirty="0"/>
              <a:t>But even if routers have an infinite amount of memory, congestion gets worse, because by the time packets reach to the front of the queue, they have already timed out (repeatedly), and duplicates have been sent. All these packets are dutifully forwarded to the next router, increasing the load all the way to the destination. </a:t>
            </a:r>
          </a:p>
          <a:p>
            <a:pPr lvl="1"/>
            <a:r>
              <a:rPr lang="en-US" dirty="0"/>
              <a:t>Another reason for congestion are slow processors. If the router's CPUs are slow at performing the bookkeeping tasks required of them, queues can build up, even though there is excess line capacity. Similarly, low-bandwidth lines can also cause congestion.</a:t>
            </a:r>
          </a:p>
          <a:p>
            <a:endParaRPr lang="en-US" dirty="0"/>
          </a:p>
        </p:txBody>
      </p:sp>
    </p:spTree>
    <p:extLst>
      <p:ext uri="{BB962C8B-B14F-4D97-AF65-F5344CB8AC3E}">
        <p14:creationId xmlns:p14="http://schemas.microsoft.com/office/powerpoint/2010/main" val="24184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Network layer functions</a:t>
            </a:r>
            <a:endParaRPr lang="en-IN" dirty="0"/>
          </a:p>
        </p:txBody>
      </p:sp>
      <p:sp>
        <p:nvSpPr>
          <p:cNvPr id="3" name="Content Placeholder 2"/>
          <p:cNvSpPr>
            <a:spLocks noGrp="1"/>
          </p:cNvSpPr>
          <p:nvPr>
            <p:ph idx="1"/>
          </p:nvPr>
        </p:nvSpPr>
        <p:spPr/>
        <p:txBody>
          <a:bodyPr>
            <a:normAutofit lnSpcReduction="10000"/>
          </a:bodyPr>
          <a:lstStyle/>
          <a:p>
            <a:r>
              <a:rPr lang="en-US" altLang="en-US" dirty="0"/>
              <a:t>transport packet from sending to receiving hosts </a:t>
            </a:r>
          </a:p>
          <a:p>
            <a:r>
              <a:rPr lang="en-US" altLang="en-US" dirty="0"/>
              <a:t>network layer protocols in </a:t>
            </a:r>
            <a:r>
              <a:rPr lang="en-US" altLang="en-US" i="1" dirty="0"/>
              <a:t>every</a:t>
            </a:r>
            <a:r>
              <a:rPr lang="en-US" altLang="en-US" dirty="0"/>
              <a:t> host, router</a:t>
            </a:r>
          </a:p>
          <a:p>
            <a:pPr>
              <a:spcBef>
                <a:spcPct val="70000"/>
              </a:spcBef>
              <a:buNone/>
            </a:pPr>
            <a:r>
              <a:rPr lang="en-US" altLang="en-US" dirty="0"/>
              <a:t>Three important functions:</a:t>
            </a:r>
          </a:p>
          <a:p>
            <a:r>
              <a:rPr lang="en-US" altLang="en-US" i="1" dirty="0"/>
              <a:t>path determination:</a:t>
            </a:r>
            <a:r>
              <a:rPr lang="en-US" altLang="en-US" dirty="0"/>
              <a:t> route taken by packets from source to destination. </a:t>
            </a:r>
            <a:r>
              <a:rPr lang="en-US" altLang="en-US" i="1" dirty="0"/>
              <a:t>Routing algorithms</a:t>
            </a:r>
            <a:endParaRPr lang="en-US" altLang="en-US" dirty="0"/>
          </a:p>
          <a:p>
            <a:r>
              <a:rPr lang="en-US" altLang="en-US" i="1" dirty="0"/>
              <a:t>switching:</a:t>
            </a:r>
            <a:r>
              <a:rPr lang="en-US" altLang="en-US" dirty="0"/>
              <a:t> move packets from router’s input to appropriate router output</a:t>
            </a:r>
          </a:p>
          <a:p>
            <a:r>
              <a:rPr lang="en-US" altLang="en-US" i="1" dirty="0"/>
              <a:t>call setup:</a:t>
            </a:r>
            <a:r>
              <a:rPr lang="en-US" altLang="en-US" dirty="0"/>
              <a:t> some network architectures require router call setup along path before data flows</a:t>
            </a:r>
          </a:p>
          <a:p>
            <a:endParaRPr lang="en-IN" dirty="0"/>
          </a:p>
        </p:txBody>
      </p:sp>
    </p:spTree>
    <p:extLst>
      <p:ext uri="{BB962C8B-B14F-4D97-AF65-F5344CB8AC3E}">
        <p14:creationId xmlns:p14="http://schemas.microsoft.com/office/powerpoint/2010/main" val="874088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Network Layer Design Issues</a:t>
            </a:r>
          </a:p>
        </p:txBody>
      </p:sp>
      <p:sp>
        <p:nvSpPr>
          <p:cNvPr id="3" name="Content Placeholder 2"/>
          <p:cNvSpPr>
            <a:spLocks noGrp="1"/>
          </p:cNvSpPr>
          <p:nvPr>
            <p:ph idx="1"/>
          </p:nvPr>
        </p:nvSpPr>
        <p:spPr/>
        <p:txBody>
          <a:bodyPr/>
          <a:lstStyle/>
          <a:p>
            <a:r>
              <a:rPr lang="en-IN" dirty="0"/>
              <a:t>Services Provided to the Transport Layer</a:t>
            </a:r>
          </a:p>
          <a:p>
            <a:r>
              <a:rPr lang="en-IN" dirty="0"/>
              <a:t>Store-and-Forward Packet Switching</a:t>
            </a:r>
          </a:p>
          <a:p>
            <a:r>
              <a:rPr lang="en-IN" dirty="0"/>
              <a:t>Implementation of Connectionless Service</a:t>
            </a:r>
          </a:p>
          <a:p>
            <a:r>
              <a:rPr lang="en-IN" dirty="0"/>
              <a:t>Implementation of Connection-Oriented Service</a:t>
            </a:r>
          </a:p>
          <a:p>
            <a:r>
              <a:rPr lang="en-IN" dirty="0"/>
              <a:t>Comparison of Virtual-Circuit and Datagram Subnets</a:t>
            </a:r>
          </a:p>
        </p:txBody>
      </p:sp>
    </p:spTree>
    <p:extLst>
      <p:ext uri="{BB962C8B-B14F-4D97-AF65-F5344CB8AC3E}">
        <p14:creationId xmlns:p14="http://schemas.microsoft.com/office/powerpoint/2010/main" val="2732840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Services Provided to the Transport Layer</a:t>
            </a:r>
          </a:p>
        </p:txBody>
      </p:sp>
      <p:sp>
        <p:nvSpPr>
          <p:cNvPr id="3" name="Content Placeholder 2"/>
          <p:cNvSpPr>
            <a:spLocks noGrp="1"/>
          </p:cNvSpPr>
          <p:nvPr>
            <p:ph idx="1"/>
          </p:nvPr>
        </p:nvSpPr>
        <p:spPr/>
        <p:txBody>
          <a:bodyPr>
            <a:normAutofit/>
          </a:bodyPr>
          <a:lstStyle/>
          <a:p>
            <a:r>
              <a:rPr lang="en-IN" dirty="0"/>
              <a:t>The network layer provides services to the transport layer at the network layer/transport layer interface.</a:t>
            </a:r>
          </a:p>
          <a:p>
            <a:r>
              <a:rPr lang="en-IN" dirty="0"/>
              <a:t>The network layer services have been designed with the following goals in mind.</a:t>
            </a:r>
          </a:p>
          <a:p>
            <a:r>
              <a:rPr lang="en-IN" dirty="0"/>
              <a:t>The services should be independent of the router technology.</a:t>
            </a:r>
          </a:p>
          <a:p>
            <a:r>
              <a:rPr lang="en-IN" dirty="0"/>
              <a:t>The transport layer should be shielded from the number, type, and  topology of the routers present.</a:t>
            </a:r>
          </a:p>
          <a:p>
            <a:r>
              <a:rPr lang="en-IN" dirty="0"/>
              <a:t>The network addresses made available to the transport layer should use a uniform numbering plan, even across LANs and WANs.</a:t>
            </a:r>
          </a:p>
        </p:txBody>
      </p:sp>
    </p:spTree>
    <p:extLst>
      <p:ext uri="{BB962C8B-B14F-4D97-AF65-F5344CB8AC3E}">
        <p14:creationId xmlns:p14="http://schemas.microsoft.com/office/powerpoint/2010/main" val="4271811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Store-and-Forward Packet Switching</a:t>
            </a:r>
          </a:p>
        </p:txBody>
      </p:sp>
      <p:sp>
        <p:nvSpPr>
          <p:cNvPr id="3" name="Content Placeholder 2"/>
          <p:cNvSpPr>
            <a:spLocks noGrp="1"/>
          </p:cNvSpPr>
          <p:nvPr>
            <p:ph idx="1"/>
          </p:nvPr>
        </p:nvSpPr>
        <p:spPr/>
        <p:txBody>
          <a:bodyPr/>
          <a:lstStyle/>
          <a:p>
            <a:r>
              <a:rPr lang="en-IN" dirty="0"/>
              <a:t>A host with a packet to send transmits it to the nearest router, either on its own LAN or over a point-to-point link to the carrier.</a:t>
            </a:r>
          </a:p>
          <a:p>
            <a:r>
              <a:rPr lang="en-IN" dirty="0"/>
              <a:t>The packet is stored there until it has fully arrived so the checksum can be verified.</a:t>
            </a:r>
          </a:p>
          <a:p>
            <a:r>
              <a:rPr lang="en-IN" dirty="0"/>
              <a:t>Then it is forwarded to the next router along the path until it reaches the destination host, where it is delivered.</a:t>
            </a:r>
          </a:p>
          <a:p>
            <a:r>
              <a:rPr lang="en-IN" dirty="0"/>
              <a:t>This mechanism is store-and-forward packet switching</a:t>
            </a:r>
          </a:p>
        </p:txBody>
      </p:sp>
    </p:spTree>
    <p:extLst>
      <p:ext uri="{BB962C8B-B14F-4D97-AF65-F5344CB8AC3E}">
        <p14:creationId xmlns:p14="http://schemas.microsoft.com/office/powerpoint/2010/main" val="3469115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896799" y="2436360"/>
            <a:ext cx="6398401" cy="3129867"/>
          </a:xfrm>
          <a:prstGeom prst="rect">
            <a:avLst/>
          </a:prstGeom>
        </p:spPr>
      </p:pic>
    </p:spTree>
    <p:extLst>
      <p:ext uri="{BB962C8B-B14F-4D97-AF65-F5344CB8AC3E}">
        <p14:creationId xmlns:p14="http://schemas.microsoft.com/office/powerpoint/2010/main" val="1515992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Packet Switching</a:t>
            </a:r>
          </a:p>
        </p:txBody>
      </p:sp>
      <p:sp>
        <p:nvSpPr>
          <p:cNvPr id="3" name="Content Placeholder 2"/>
          <p:cNvSpPr>
            <a:spLocks noGrp="1"/>
          </p:cNvSpPr>
          <p:nvPr>
            <p:ph idx="1"/>
          </p:nvPr>
        </p:nvSpPr>
        <p:spPr/>
        <p:txBody>
          <a:bodyPr>
            <a:normAutofit/>
          </a:bodyPr>
          <a:lstStyle/>
          <a:p>
            <a:r>
              <a:rPr lang="en-IN" dirty="0"/>
              <a:t> Data is divided into small parts (packets)</a:t>
            </a:r>
          </a:p>
          <a:p>
            <a:r>
              <a:rPr lang="en-IN" dirty="0"/>
              <a:t>Packets are transmitted from node to node, processed and forwarded</a:t>
            </a:r>
          </a:p>
          <a:p>
            <a:r>
              <a:rPr lang="en-IN" dirty="0"/>
              <a:t>Also known as store‐and‐forward switching</a:t>
            </a:r>
          </a:p>
          <a:p>
            <a:pPr marL="0" indent="0">
              <a:buNone/>
            </a:pPr>
            <a:r>
              <a:rPr lang="en-IN" dirty="0"/>
              <a:t>Two connection types</a:t>
            </a:r>
          </a:p>
          <a:p>
            <a:r>
              <a:rPr lang="en-IN" dirty="0"/>
              <a:t>Connectionless: datagram</a:t>
            </a:r>
          </a:p>
          <a:p>
            <a:r>
              <a:rPr lang="en-IN" dirty="0"/>
              <a:t> Connection‐oriented: virtual circuit</a:t>
            </a:r>
          </a:p>
          <a:p>
            <a:pPr marL="0" indent="0">
              <a:buNone/>
            </a:pPr>
            <a:endParaRPr lang="en-IN" dirty="0"/>
          </a:p>
        </p:txBody>
      </p:sp>
    </p:spTree>
    <p:extLst>
      <p:ext uri="{BB962C8B-B14F-4D97-AF65-F5344CB8AC3E}">
        <p14:creationId xmlns:p14="http://schemas.microsoft.com/office/powerpoint/2010/main" val="1680348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of Connection-Oriented Service</a:t>
            </a:r>
          </a:p>
        </p:txBody>
      </p:sp>
      <p:sp>
        <p:nvSpPr>
          <p:cNvPr id="3" name="Content Placeholder 2"/>
          <p:cNvSpPr>
            <a:spLocks noGrp="1"/>
          </p:cNvSpPr>
          <p:nvPr>
            <p:ph idx="1"/>
          </p:nvPr>
        </p:nvSpPr>
        <p:spPr/>
        <p:txBody>
          <a:bodyPr>
            <a:normAutofit fontScale="92500" lnSpcReduction="20000"/>
          </a:bodyPr>
          <a:lstStyle/>
          <a:p>
            <a:r>
              <a:rPr lang="en-IN" dirty="0"/>
              <a:t>If connection-oriented service is used, a path from the source router to the destination router must be established before any data packets can be sent.</a:t>
            </a:r>
          </a:p>
          <a:p>
            <a:r>
              <a:rPr lang="en-IN" dirty="0"/>
              <a:t>This connection is called a VC (virtual circuit), in analogy with the physical circuits set up by the telephone system, and the subnet is called a virtual-circuit subnet.</a:t>
            </a:r>
          </a:p>
          <a:p>
            <a:r>
              <a:rPr lang="en-IN" dirty="0"/>
              <a:t>When a connection is established, a route from the source machine to the destination machine is chosen as part of the connection setup and stored in tables inside the routers.</a:t>
            </a:r>
          </a:p>
          <a:p>
            <a:r>
              <a:rPr lang="en-IN" dirty="0"/>
              <a:t>When the connection is released, the virtual circuit is also terminated.</a:t>
            </a:r>
          </a:p>
          <a:p>
            <a:r>
              <a:rPr lang="en-IN" dirty="0"/>
              <a:t>With connection-oriented service, each packet carries an identifier telling which virtual circuit it belongs to.</a:t>
            </a:r>
          </a:p>
        </p:txBody>
      </p:sp>
    </p:spTree>
    <p:extLst>
      <p:ext uri="{BB962C8B-B14F-4D97-AF65-F5344CB8AC3E}">
        <p14:creationId xmlns:p14="http://schemas.microsoft.com/office/powerpoint/2010/main" val="1243250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Routing within Virtual Circuit subnet</a:t>
            </a:r>
          </a:p>
        </p:txBody>
      </p:sp>
      <p:pic>
        <p:nvPicPr>
          <p:cNvPr id="4" name="Content Placeholder 3"/>
          <p:cNvPicPr>
            <a:picLocks noGrp="1" noChangeAspect="1"/>
          </p:cNvPicPr>
          <p:nvPr>
            <p:ph idx="1"/>
          </p:nvPr>
        </p:nvPicPr>
        <p:blipFill>
          <a:blip r:embed="rId2"/>
          <a:stretch>
            <a:fillRect/>
          </a:stretch>
        </p:blipFill>
        <p:spPr>
          <a:xfrm>
            <a:off x="2510287" y="2633594"/>
            <a:ext cx="7090913" cy="3439402"/>
          </a:xfrm>
          <a:prstGeom prst="rect">
            <a:avLst/>
          </a:prstGeom>
        </p:spPr>
      </p:pic>
    </p:spTree>
    <p:extLst>
      <p:ext uri="{BB962C8B-B14F-4D97-AF65-F5344CB8AC3E}">
        <p14:creationId xmlns:p14="http://schemas.microsoft.com/office/powerpoint/2010/main" val="1436230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of Connectionless Service</a:t>
            </a:r>
            <a:br>
              <a:rPr lang="en-IN"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No connection setup</a:t>
            </a:r>
          </a:p>
          <a:p>
            <a:r>
              <a:rPr lang="en-IN" dirty="0"/>
              <a:t>Message is broken into packets</a:t>
            </a:r>
          </a:p>
          <a:p>
            <a:r>
              <a:rPr lang="en-IN"/>
              <a:t>Each </a:t>
            </a:r>
            <a:r>
              <a:rPr lang="en-IN" dirty="0"/>
              <a:t>packet is individually routed</a:t>
            </a:r>
          </a:p>
          <a:p>
            <a:r>
              <a:rPr lang="en-IN" dirty="0"/>
              <a:t>Routers decides line based on routing table</a:t>
            </a:r>
          </a:p>
          <a:p>
            <a:r>
              <a:rPr lang="en-IN" dirty="0"/>
              <a:t> Packets may follow different paths</a:t>
            </a:r>
          </a:p>
          <a:p>
            <a:r>
              <a:rPr lang="en-IN" dirty="0"/>
              <a:t>Not guaranteed to arrive in order</a:t>
            </a:r>
          </a:p>
          <a:p>
            <a:r>
              <a:rPr lang="en-IN" dirty="0"/>
              <a:t>If connectionless service is offered, packets are injected into the subnet individually and routed independently of each other.</a:t>
            </a:r>
          </a:p>
          <a:p>
            <a:r>
              <a:rPr lang="en-IN" dirty="0"/>
              <a:t>In this context, the packets are frequently called datagrams and the subnet is called a datagram subnet.</a:t>
            </a:r>
          </a:p>
        </p:txBody>
      </p:sp>
    </p:spTree>
    <p:extLst>
      <p:ext uri="{BB962C8B-B14F-4D97-AF65-F5344CB8AC3E}">
        <p14:creationId xmlns:p14="http://schemas.microsoft.com/office/powerpoint/2010/main" val="4263898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Routing within a datagram subnet</a:t>
            </a:r>
          </a:p>
        </p:txBody>
      </p:sp>
      <p:pic>
        <p:nvPicPr>
          <p:cNvPr id="4" name="Content Placeholder 3"/>
          <p:cNvPicPr>
            <a:picLocks noGrp="1" noChangeAspect="1"/>
          </p:cNvPicPr>
          <p:nvPr>
            <p:ph idx="1"/>
          </p:nvPr>
        </p:nvPicPr>
        <p:blipFill>
          <a:blip r:embed="rId2"/>
          <a:stretch>
            <a:fillRect/>
          </a:stretch>
        </p:blipFill>
        <p:spPr>
          <a:xfrm>
            <a:off x="2622430" y="2216989"/>
            <a:ext cx="6443932" cy="3786995"/>
          </a:xfrm>
          <a:prstGeom prst="rect">
            <a:avLst/>
          </a:prstGeom>
        </p:spPr>
      </p:pic>
    </p:spTree>
    <p:extLst>
      <p:ext uri="{BB962C8B-B14F-4D97-AF65-F5344CB8AC3E}">
        <p14:creationId xmlns:p14="http://schemas.microsoft.com/office/powerpoint/2010/main" val="277227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IN" dirty="0"/>
              <a:t>Routers</a:t>
            </a:r>
          </a:p>
          <a:p>
            <a:r>
              <a:rPr lang="en-IN" dirty="0"/>
              <a:t>When a packet comes into a router, the frame header and trailer are stripped off and the packet located in the frame’s payload field is passed to the routing software. This software uses the packet header to choose an output line.</a:t>
            </a:r>
          </a:p>
          <a:p>
            <a:r>
              <a:rPr lang="en-IN" dirty="0"/>
              <a:t>Each router has an internal table telling it where to send packets for each possible destination.</a:t>
            </a:r>
          </a:p>
          <a:p>
            <a:r>
              <a:rPr lang="en-IN" dirty="0"/>
              <a:t>The algorithm that manages the tables and makes the routing decisions is called the routing algorithm.</a:t>
            </a:r>
          </a:p>
        </p:txBody>
      </p:sp>
    </p:spTree>
    <p:extLst>
      <p:ext uri="{BB962C8B-B14F-4D97-AF65-F5344CB8AC3E}">
        <p14:creationId xmlns:p14="http://schemas.microsoft.com/office/powerpoint/2010/main" val="637759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Comparison of Virtual-Circuit and Datagram Subnets</a:t>
            </a:r>
          </a:p>
        </p:txBody>
      </p:sp>
      <p:sp>
        <p:nvSpPr>
          <p:cNvPr id="3" name="Content Placeholder 2"/>
          <p:cNvSpPr>
            <a:spLocks noGrp="1"/>
          </p:cNvSpPr>
          <p:nvPr>
            <p:ph idx="1"/>
          </p:nvPr>
        </p:nvSpPr>
        <p:spPr/>
        <p:txBody>
          <a:bodyPr>
            <a:normAutofit fontScale="92500" lnSpcReduction="10000"/>
          </a:bodyPr>
          <a:lstStyle/>
          <a:p>
            <a:r>
              <a:rPr lang="en-IN" dirty="0"/>
              <a:t>One trade-off is between router memory space and bandwidth. VC allow packets to contain circuit numbers instead of full destination addresses. </a:t>
            </a:r>
          </a:p>
          <a:p>
            <a:r>
              <a:rPr lang="en-IN" dirty="0"/>
              <a:t>If the packets tend to be fairly short, a full destination address in every packet may represent a significant amount of overhead and hence, wasted bandwidth.</a:t>
            </a:r>
          </a:p>
          <a:p>
            <a:r>
              <a:rPr lang="en-IN" dirty="0"/>
              <a:t>Another trade-off is setup time versus address parsing time.</a:t>
            </a:r>
          </a:p>
          <a:p>
            <a:r>
              <a:rPr lang="en-IN" dirty="0"/>
              <a:t>Using VC requires a setup phase, which takes time and consumes resources. </a:t>
            </a:r>
          </a:p>
          <a:p>
            <a:r>
              <a:rPr lang="en-IN" dirty="0"/>
              <a:t>VC have some advantages in guaranteeing quality of service and avoiding congestion within the subnet because resources can be reserved in advance, when the connection is established.</a:t>
            </a:r>
          </a:p>
        </p:txBody>
      </p:sp>
    </p:spTree>
    <p:extLst>
      <p:ext uri="{BB962C8B-B14F-4D97-AF65-F5344CB8AC3E}">
        <p14:creationId xmlns:p14="http://schemas.microsoft.com/office/powerpoint/2010/main" val="1981131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pic>
        <p:nvPicPr>
          <p:cNvPr id="4" name="Content Placeholder 3"/>
          <p:cNvPicPr>
            <a:picLocks noGrp="1" noChangeAspect="1"/>
          </p:cNvPicPr>
          <p:nvPr>
            <p:ph idx="4294967295"/>
          </p:nvPr>
        </p:nvPicPr>
        <p:blipFill>
          <a:blip r:embed="rId2"/>
          <a:stretch>
            <a:fillRect/>
          </a:stretch>
        </p:blipFill>
        <p:spPr>
          <a:xfrm>
            <a:off x="2501660" y="2343568"/>
            <a:ext cx="6987397" cy="3643163"/>
          </a:xfrm>
          <a:prstGeom prst="rect">
            <a:avLst/>
          </a:prstGeom>
        </p:spPr>
      </p:pic>
    </p:spTree>
    <p:extLst>
      <p:ext uri="{BB962C8B-B14F-4D97-AF65-F5344CB8AC3E}">
        <p14:creationId xmlns:p14="http://schemas.microsoft.com/office/powerpoint/2010/main" val="3154628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