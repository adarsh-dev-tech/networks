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Default ContentType="image/x-emf" Extension="emf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7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29" Type="http://schemas.openxmlformats.org/officeDocument/2006/relationships/slide" Target="slides/slide26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11" Type="http://schemas.openxmlformats.org/officeDocument/2006/relationships/slide" Target="slides/slide8.xml"/><Relationship Id="rId33" Type="http://schemas.openxmlformats.org/officeDocument/2006/relationships/slide" Target="slides/slide30.xml"/><Relationship Id="rId10" Type="http://schemas.openxmlformats.org/officeDocument/2006/relationships/slide" Target="slides/slide7.xml"/><Relationship Id="rId32" Type="http://schemas.openxmlformats.org/officeDocument/2006/relationships/slide" Target="slides/slide29.xml"/><Relationship Id="rId13" Type="http://schemas.openxmlformats.org/officeDocument/2006/relationships/slide" Target="slides/slide10.xml"/><Relationship Id="rId35" Type="http://schemas.openxmlformats.org/officeDocument/2006/relationships/slide" Target="slides/slide32.xml"/><Relationship Id="rId12" Type="http://schemas.openxmlformats.org/officeDocument/2006/relationships/slide" Target="slides/slide9.xml"/><Relationship Id="rId34" Type="http://schemas.openxmlformats.org/officeDocument/2006/relationships/slide" Target="slides/slide31.xml"/><Relationship Id="rId15" Type="http://schemas.openxmlformats.org/officeDocument/2006/relationships/slide" Target="slides/slide12.xml"/><Relationship Id="rId37" Type="http://schemas.openxmlformats.org/officeDocument/2006/relationships/slide" Target="slides/slide34.xml"/><Relationship Id="rId14" Type="http://schemas.openxmlformats.org/officeDocument/2006/relationships/slide" Target="slides/slide11.xml"/><Relationship Id="rId36" Type="http://schemas.openxmlformats.org/officeDocument/2006/relationships/slide" Target="slides/slide33.xml"/><Relationship Id="rId17" Type="http://schemas.openxmlformats.org/officeDocument/2006/relationships/slide" Target="slides/slide14.xml"/><Relationship Id="rId39" Type="http://schemas.openxmlformats.org/officeDocument/2006/relationships/slide" Target="slides/slide36.xml"/><Relationship Id="rId16" Type="http://schemas.openxmlformats.org/officeDocument/2006/relationships/slide" Target="slides/slide13.xml"/><Relationship Id="rId38" Type="http://schemas.openxmlformats.org/officeDocument/2006/relationships/slide" Target="slides/slide35.xml"/><Relationship Id="rId19" Type="http://schemas.openxmlformats.org/officeDocument/2006/relationships/slide" Target="slides/slide16.xml"/><Relationship Id="rId18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47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60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64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9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18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0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64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55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01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30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77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E4C1B-B6B2-44DB-B9B4-EBD837018F8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F2A40-03C5-436F-8CAB-40B0C96DB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42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ANALOG TO DIGITAL CONVERSION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878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Sometimes, we have an analog signal such as one created by a microphone (analog voice) or camera (analog videos), which are treated as analog data.</a:t>
            </a:r>
          </a:p>
          <a:p>
            <a:r>
              <a:rPr lang="en-IN" dirty="0"/>
              <a:t>To transmit this analog data over digital signals we need an analog to digital conversion.</a:t>
            </a:r>
          </a:p>
          <a:p>
            <a:r>
              <a:rPr lang="en-IN" dirty="0"/>
              <a:t>Analog data is wave form continuous stream of data whereas digital data is discrete.</a:t>
            </a:r>
          </a:p>
          <a:p>
            <a:r>
              <a:rPr lang="en-IN" dirty="0"/>
              <a:t>For conversion two techniques are used, </a:t>
            </a:r>
            <a:r>
              <a:rPr lang="en-IN" b="1" dirty="0"/>
              <a:t>pulse code modulation and delta modulation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2164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Stream Information</a:t>
            </a:r>
          </a:p>
          <a:p>
            <a:pPr marL="0" indent="0">
              <a:buNone/>
            </a:pPr>
            <a:r>
              <a:rPr lang="en-IN" dirty="0"/>
              <a:t>A real-time voice signal must be digitized &amp; transmitted as it is produced</a:t>
            </a:r>
          </a:p>
          <a:p>
            <a:pPr marL="0" indent="0">
              <a:buNone/>
            </a:pPr>
            <a:r>
              <a:rPr lang="en-IN" dirty="0"/>
              <a:t>Analog signal level varies continuously in time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227" y="4180114"/>
            <a:ext cx="8026596" cy="189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6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Pulse Code Modulation (</a:t>
            </a:r>
            <a:r>
              <a:rPr lang="en-US" altLang="en-US" dirty="0"/>
              <a:t>PCM)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PCM consists of three steps to digitize an analog signal:</a:t>
            </a:r>
          </a:p>
          <a:p>
            <a:r>
              <a:rPr lang="en-US" altLang="en-US" dirty="0"/>
              <a:t>Sampling- </a:t>
            </a:r>
            <a:r>
              <a:rPr lang="en-IN" dirty="0"/>
              <a:t>obtain samples of </a:t>
            </a:r>
            <a:r>
              <a:rPr lang="en-IN" i="1" dirty="0"/>
              <a:t>x(t) </a:t>
            </a:r>
            <a:r>
              <a:rPr lang="en-IN" dirty="0"/>
              <a:t>at uniformly spaced time intervals</a:t>
            </a:r>
          </a:p>
          <a:p>
            <a:r>
              <a:rPr lang="en-US" altLang="en-US" dirty="0"/>
              <a:t>Quantization - </a:t>
            </a:r>
            <a:r>
              <a:rPr lang="en-IN" dirty="0"/>
              <a:t>map each sample into an approximation value of finite precision</a:t>
            </a:r>
          </a:p>
          <a:p>
            <a:r>
              <a:rPr lang="en-US" altLang="en-US" dirty="0"/>
              <a:t>Binary encoding/Compression</a:t>
            </a:r>
          </a:p>
          <a:p>
            <a:pPr marL="0" indent="0">
              <a:buNone/>
            </a:pPr>
            <a:r>
              <a:rPr lang="en-US" altLang="en-US" dirty="0"/>
              <a:t>Before we sample, we have to filter the signal to limit the maximum frequency of the signal as it affects the sampling rate.</a:t>
            </a:r>
          </a:p>
          <a:p>
            <a:pPr marL="0" indent="0">
              <a:buNone/>
            </a:pPr>
            <a:r>
              <a:rPr lang="en-US" altLang="en-US" dirty="0"/>
              <a:t>Filtering should ensure that we do not distort the signal, </a:t>
            </a:r>
            <a:r>
              <a:rPr lang="en-US" altLang="en-US" dirty="0" err="1"/>
              <a:t>i.e</a:t>
            </a:r>
            <a:r>
              <a:rPr lang="en-US" altLang="en-US" dirty="0"/>
              <a:t> remove high frequency components that affect the signal shape.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95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aseline="0" dirty="0"/>
              <a:t>Components of PCM encoder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053" y="1825625"/>
            <a:ext cx="9629894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967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Sampling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analog signal is sampled every </a:t>
            </a:r>
            <a:r>
              <a:rPr lang="en-IN" i="1" dirty="0" err="1"/>
              <a:t>Ts</a:t>
            </a:r>
            <a:r>
              <a:rPr lang="en-IN" i="1" dirty="0"/>
              <a:t> </a:t>
            </a:r>
            <a:r>
              <a:rPr lang="en-IN" dirty="0"/>
              <a:t>s, where </a:t>
            </a:r>
            <a:r>
              <a:rPr lang="en-IN" i="1" dirty="0" err="1"/>
              <a:t>Ts</a:t>
            </a:r>
            <a:r>
              <a:rPr lang="en-IN" i="1" dirty="0"/>
              <a:t> </a:t>
            </a:r>
            <a:r>
              <a:rPr lang="en-IN" dirty="0"/>
              <a:t>is the sample interval or period. The inverse of the sampling interval is called the sampling rate or sampling frequency.</a:t>
            </a:r>
          </a:p>
          <a:p>
            <a:pPr marL="0" indent="0">
              <a:buNone/>
            </a:pPr>
            <a:r>
              <a:rPr lang="en-US" altLang="en-US" dirty="0"/>
              <a:t>                         f</a:t>
            </a:r>
            <a:r>
              <a:rPr lang="en-US" altLang="en-US" baseline="-25000" dirty="0"/>
              <a:t>s</a:t>
            </a:r>
            <a:r>
              <a:rPr lang="en-US" altLang="en-US" dirty="0"/>
              <a:t> = 1/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s</a:t>
            </a:r>
            <a:endParaRPr lang="en-US" altLang="en-US" dirty="0"/>
          </a:p>
          <a:p>
            <a:r>
              <a:rPr lang="en-US" altLang="en-US" dirty="0"/>
              <a:t>The process is referred to as Pulse Amplitude Modulation (PAM) and the outcome is a signal with analog (non integer) values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873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Digitization of Analog Signal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Sample analog signal in time and amplitude</a:t>
            </a:r>
          </a:p>
          <a:p>
            <a:r>
              <a:rPr lang="en-IN" dirty="0"/>
              <a:t>Find closest approximation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399" y="3047869"/>
            <a:ext cx="6295201" cy="340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1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There are 3 sampling methods:</a:t>
            </a:r>
          </a:p>
          <a:p>
            <a:pPr lvl="1"/>
            <a:r>
              <a:rPr lang="en-US" altLang="en-US" dirty="0"/>
              <a:t>Ideal - an impulse at each sampling instant</a:t>
            </a:r>
          </a:p>
          <a:p>
            <a:pPr lvl="1"/>
            <a:r>
              <a:rPr lang="en-US" altLang="en-US" dirty="0"/>
              <a:t>Natural - a pulse of short width with varying amplitude</a:t>
            </a:r>
          </a:p>
          <a:p>
            <a:pPr lvl="1"/>
            <a:r>
              <a:rPr lang="en-US" altLang="en-US" dirty="0"/>
              <a:t>Flattop - sample and hold, like natural but with single amplitude value</a:t>
            </a:r>
          </a:p>
          <a:p>
            <a:r>
              <a:rPr lang="en-IN" dirty="0"/>
              <a:t>In </a:t>
            </a:r>
            <a:r>
              <a:rPr lang="en-IN" b="1" dirty="0"/>
              <a:t>ideal sampling</a:t>
            </a:r>
            <a:r>
              <a:rPr lang="en-IN" dirty="0"/>
              <a:t>, </a:t>
            </a:r>
          </a:p>
          <a:p>
            <a:pPr lvl="1"/>
            <a:r>
              <a:rPr lang="en-IN" dirty="0"/>
              <a:t>pulses from the analog signal are sampled. </a:t>
            </a:r>
          </a:p>
          <a:p>
            <a:pPr lvl="1"/>
            <a:r>
              <a:rPr lang="en-IN" dirty="0"/>
              <a:t>This is an ideal sampling method and cannot be easily implemented.</a:t>
            </a:r>
          </a:p>
          <a:p>
            <a:r>
              <a:rPr lang="en-IN" dirty="0"/>
              <a:t>In </a:t>
            </a:r>
            <a:r>
              <a:rPr lang="en-IN" b="1" dirty="0"/>
              <a:t>natural sampling</a:t>
            </a:r>
            <a:r>
              <a:rPr lang="en-IN" dirty="0"/>
              <a:t>, </a:t>
            </a:r>
          </a:p>
          <a:p>
            <a:pPr lvl="1"/>
            <a:r>
              <a:rPr lang="en-IN" dirty="0"/>
              <a:t>a high-speed switch is turned on for only the small period of time when the sampling occurs.</a:t>
            </a:r>
          </a:p>
          <a:p>
            <a:pPr lvl="1"/>
            <a:r>
              <a:rPr lang="en-IN" dirty="0"/>
              <a:t>The result is a sequence of samples that retains the shape of the analog signal.</a:t>
            </a:r>
          </a:p>
          <a:p>
            <a:r>
              <a:rPr lang="en-IN" dirty="0"/>
              <a:t> The most common sampling method, called </a:t>
            </a:r>
            <a:r>
              <a:rPr lang="en-IN" b="1" dirty="0"/>
              <a:t>sample and hold, </a:t>
            </a:r>
          </a:p>
          <a:p>
            <a:pPr lvl="1"/>
            <a:r>
              <a:rPr lang="en-IN" dirty="0"/>
              <a:t>creates </a:t>
            </a:r>
            <a:r>
              <a:rPr lang="en-IN" b="1" dirty="0"/>
              <a:t>flat-top </a:t>
            </a:r>
            <a:r>
              <a:rPr lang="en-IN" dirty="0"/>
              <a:t>samples by using a circuit.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97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aseline="0" dirty="0"/>
              <a:t>Three different sampling methods for PCM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950" y="1825625"/>
            <a:ext cx="79641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087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aseline="0" dirty="0"/>
              <a:t>Nyquist sampling rate for low-pass and bandpass signals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96" y="1963579"/>
            <a:ext cx="6501357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C39288-9A3C-4AB3-AF47-BF753874EAE9}"/>
              </a:ext>
            </a:extLst>
          </p:cNvPr>
          <p:cNvSpPr/>
          <p:nvPr/>
        </p:nvSpPr>
        <p:spPr>
          <a:xfrm>
            <a:off x="7868872" y="2938919"/>
            <a:ext cx="36576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According to the Nyquist theorem, the sampling rate must be at least 2 times the highest frequency contained in the signal.</a:t>
            </a:r>
          </a:p>
        </p:txBody>
      </p:sp>
    </p:spTree>
    <p:extLst>
      <p:ext uri="{BB962C8B-B14F-4D97-AF65-F5344CB8AC3E}">
        <p14:creationId xmlns:p14="http://schemas.microsoft.com/office/powerpoint/2010/main" val="691171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Quantization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Sampling results in a series of pulses of varying amplitude values ranging between two limits: a min and a max.</a:t>
            </a:r>
          </a:p>
          <a:p>
            <a:r>
              <a:rPr lang="en-US" altLang="en-US" dirty="0"/>
              <a:t>The amplitude values are infinite between the two limits.</a:t>
            </a:r>
          </a:p>
          <a:p>
            <a:r>
              <a:rPr lang="en-US" altLang="en-US" dirty="0"/>
              <a:t>We need to map the </a:t>
            </a:r>
            <a:r>
              <a:rPr lang="en-US" altLang="en-US" i="1" dirty="0"/>
              <a:t>infinite</a:t>
            </a:r>
            <a:r>
              <a:rPr lang="en-US" altLang="en-US" dirty="0"/>
              <a:t> amplitude values onto a finite set of known values.</a:t>
            </a:r>
          </a:p>
          <a:p>
            <a:r>
              <a:rPr lang="en-US" altLang="en-US" dirty="0"/>
              <a:t>This is achieved by dividing the distance between min and max into L zones, each of</a:t>
            </a:r>
            <a:r>
              <a:rPr lang="en-US" altLang="en-US" dirty="0">
                <a:solidFill>
                  <a:schemeClr val="hlink"/>
                </a:solidFill>
              </a:rPr>
              <a:t> </a:t>
            </a:r>
            <a:r>
              <a:rPr lang="en-US" altLang="en-US" dirty="0"/>
              <a:t>height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</a:t>
            </a:r>
          </a:p>
          <a:p>
            <a:pPr algn="ctr">
              <a:buNone/>
            </a:pP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en-US" dirty="0"/>
              <a:t> = (max - min)/L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949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Quantization Levels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midpoint of each zone is assigned a value from 0 to L-1 (resulting in L values)</a:t>
            </a:r>
          </a:p>
          <a:p>
            <a:r>
              <a:rPr lang="en-US" altLang="en-US" dirty="0"/>
              <a:t>Each sample falling in a zone is then approximated to the value of the midpoint.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85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Assume we have a voltage signal with amplitudes </a:t>
            </a:r>
            <a:r>
              <a:rPr lang="en-US" altLang="en-US" dirty="0" err="1"/>
              <a:t>V</a:t>
            </a:r>
            <a:r>
              <a:rPr lang="en-US" altLang="en-US" baseline="-25000" dirty="0" err="1"/>
              <a:t>min</a:t>
            </a:r>
            <a:r>
              <a:rPr lang="en-US" altLang="en-US" dirty="0"/>
              <a:t>=-20V and </a:t>
            </a:r>
            <a:r>
              <a:rPr lang="en-US" altLang="en-US" dirty="0" err="1"/>
              <a:t>V</a:t>
            </a:r>
            <a:r>
              <a:rPr lang="en-US" altLang="en-US" baseline="-25000" dirty="0" err="1"/>
              <a:t>max</a:t>
            </a:r>
            <a:r>
              <a:rPr lang="en-US" altLang="en-US" dirty="0"/>
              <a:t>=+20V.</a:t>
            </a:r>
          </a:p>
          <a:p>
            <a:r>
              <a:rPr lang="en-US" altLang="en-US" dirty="0"/>
              <a:t>We want to use L=8 quantization levels.</a:t>
            </a:r>
          </a:p>
          <a:p>
            <a:r>
              <a:rPr lang="en-US" altLang="en-US" dirty="0"/>
              <a:t>Zone width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</a:t>
            </a:r>
            <a:r>
              <a:rPr lang="en-US" altLang="en-US" dirty="0"/>
              <a:t> = (20 - -20)/8 = 5</a:t>
            </a:r>
          </a:p>
          <a:p>
            <a:r>
              <a:rPr lang="en-US" altLang="en-US" dirty="0"/>
              <a:t>The 8 zones are: -20 to -15, -15 to -10, -10 to -5, -5 to 0, 0 to +5, +5 to +10, +10 to +15, +15 to +20</a:t>
            </a:r>
          </a:p>
          <a:p>
            <a:r>
              <a:rPr lang="en-US" altLang="en-US" dirty="0"/>
              <a:t>The midpoints are: -17.5, -12.5, -7.5, -2.5, 2.5, 7.5, 12.5, 17.5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144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Assigning Codes to Zones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Each zone is then assigned a binary code.</a:t>
            </a:r>
          </a:p>
          <a:p>
            <a:r>
              <a:rPr lang="en-US" altLang="en-US" dirty="0"/>
              <a:t>The number of bits required to encode the zones, or the number of bits per sample as it is commonly referred to, is obtained as follows: </a:t>
            </a:r>
          </a:p>
          <a:p>
            <a:pPr algn="ctr">
              <a:buNone/>
            </a:pPr>
            <a:r>
              <a:rPr lang="en-US" altLang="en-US" dirty="0" err="1"/>
              <a:t>n</a:t>
            </a:r>
            <a:r>
              <a:rPr lang="en-US" altLang="en-US" baseline="-25000" dirty="0" err="1"/>
              <a:t>b</a:t>
            </a:r>
            <a:r>
              <a:rPr lang="en-US" altLang="en-US" dirty="0"/>
              <a:t> = log</a:t>
            </a:r>
            <a:r>
              <a:rPr lang="en-US" altLang="en-US" baseline="-25000" dirty="0"/>
              <a:t>2</a:t>
            </a:r>
            <a:r>
              <a:rPr lang="en-US" altLang="en-US" dirty="0"/>
              <a:t> L</a:t>
            </a:r>
          </a:p>
          <a:p>
            <a:r>
              <a:rPr lang="en-US" altLang="en-US" dirty="0"/>
              <a:t>Given our example, </a:t>
            </a:r>
            <a:r>
              <a:rPr lang="en-US" altLang="en-US" dirty="0" err="1"/>
              <a:t>n</a:t>
            </a:r>
            <a:r>
              <a:rPr lang="en-US" altLang="en-US" baseline="-25000" dirty="0" err="1"/>
              <a:t>b</a:t>
            </a:r>
            <a:r>
              <a:rPr lang="en-US" altLang="en-US" dirty="0"/>
              <a:t> = 3</a:t>
            </a:r>
          </a:p>
          <a:p>
            <a:r>
              <a:rPr lang="en-US" altLang="en-US" dirty="0"/>
              <a:t>The 8 zone (or level) codes are therefore: 000, 001, 010, 011, 100, 101, 110, and 111</a:t>
            </a:r>
          </a:p>
          <a:p>
            <a:r>
              <a:rPr lang="en-US" altLang="en-US" dirty="0"/>
              <a:t>Assigning codes to zones:</a:t>
            </a:r>
          </a:p>
          <a:p>
            <a:pPr lvl="1"/>
            <a:r>
              <a:rPr lang="en-US" altLang="en-US" dirty="0"/>
              <a:t>000 will refer to zone -20 to -15</a:t>
            </a:r>
          </a:p>
          <a:p>
            <a:pPr lvl="1"/>
            <a:r>
              <a:rPr lang="en-US" altLang="en-US" dirty="0"/>
              <a:t>001 to zone -15 to -10,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056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Quantization Error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When a signal is quantized, we introduce an error - the coded signal is an approximation of the actual amplitude value.</a:t>
            </a:r>
          </a:p>
          <a:p>
            <a:r>
              <a:rPr lang="en-US" altLang="en-US" dirty="0"/>
              <a:t>The difference between actual and coded value (midpoint) is referred to as the quantization error.</a:t>
            </a:r>
          </a:p>
          <a:p>
            <a:r>
              <a:rPr lang="en-US" altLang="en-US" dirty="0"/>
              <a:t>The more zones, the smaller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en-US" dirty="0"/>
              <a:t> which results in smaller errors.</a:t>
            </a:r>
          </a:p>
          <a:p>
            <a:r>
              <a:rPr lang="en-US" altLang="en-US" dirty="0"/>
              <a:t>BUT, the more zones the more bits required to encode the samples -&gt; higher bit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331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Quantization Error and SN</a:t>
            </a:r>
            <a:r>
              <a:rPr lang="en-US" altLang="en-US" baseline="-25000" dirty="0"/>
              <a:t>Q</a:t>
            </a:r>
            <a:r>
              <a:rPr lang="en-US" altLang="en-US" dirty="0"/>
              <a:t>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Signals with lower amplitude values will suffer more from quantization error as the error range: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en-US" dirty="0"/>
              <a:t>/2, is fixed for all signal levels.</a:t>
            </a:r>
          </a:p>
          <a:p>
            <a:r>
              <a:rPr lang="en-US" altLang="en-US" dirty="0"/>
              <a:t>Non linear quantization is used to alleviate this problem. Goal is to keep SN</a:t>
            </a:r>
            <a:r>
              <a:rPr lang="en-US" altLang="en-US" baseline="-25000" dirty="0"/>
              <a:t>Q</a:t>
            </a:r>
            <a:r>
              <a:rPr lang="en-US" altLang="en-US" dirty="0"/>
              <a:t>R fixed for all sample values. </a:t>
            </a:r>
          </a:p>
          <a:p>
            <a:r>
              <a:rPr lang="en-US" altLang="en-US" dirty="0"/>
              <a:t>Two approaches:</a:t>
            </a:r>
          </a:p>
          <a:p>
            <a:pPr lvl="1"/>
            <a:r>
              <a:rPr lang="en-US" altLang="en-US" dirty="0"/>
              <a:t>The quantization levels follow a logarithmic curve. Smaller 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en-US" dirty="0"/>
              <a:t>’s at lower amplitudes and larger</a:t>
            </a:r>
            <a:r>
              <a:rPr lang="en-US" altLang="en-US" dirty="0">
                <a:latin typeface="Symbol" panose="05050102010706020507" pitchFamily="18" charset="2"/>
                <a:sym typeface="Symbol" panose="05050102010706020507" pitchFamily="18" charset="2"/>
              </a:rPr>
              <a:t></a:t>
            </a:r>
            <a:r>
              <a:rPr lang="en-US" altLang="en-US" dirty="0"/>
              <a:t>’s at higher amplitudes.</a:t>
            </a:r>
          </a:p>
          <a:p>
            <a:pPr lvl="1"/>
            <a:r>
              <a:rPr lang="en-US" altLang="en-US" dirty="0" err="1"/>
              <a:t>Companding</a:t>
            </a:r>
            <a:r>
              <a:rPr lang="en-US" altLang="en-US" dirty="0"/>
              <a:t>: The sample values are compressed at the sender into logarithmic zones, and then expanded at the receiver. The zones are fixed in height.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149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Bit rate and bandwidth requirements of PCM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bit rate of a PCM signal can be calculated from the number of bits per sample x the sampling rate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dirty="0"/>
              <a:t>Bit rate = </a:t>
            </a:r>
            <a:r>
              <a:rPr lang="en-US" altLang="en-US" dirty="0" err="1"/>
              <a:t>n</a:t>
            </a:r>
            <a:r>
              <a:rPr lang="en-US" altLang="en-US" baseline="-25000" dirty="0" err="1"/>
              <a:t>b</a:t>
            </a:r>
            <a:r>
              <a:rPr lang="en-US" altLang="en-US" dirty="0"/>
              <a:t> x f</a:t>
            </a:r>
            <a:r>
              <a:rPr lang="en-US" altLang="en-US" baseline="-25000" dirty="0"/>
              <a:t>s</a:t>
            </a:r>
            <a:endParaRPr lang="en-US" altLang="en-US" dirty="0"/>
          </a:p>
          <a:p>
            <a:r>
              <a:rPr lang="en-US" altLang="en-US" dirty="0"/>
              <a:t>The bandwidth required to transmit this signal depends on the type of line encoding used. </a:t>
            </a:r>
          </a:p>
          <a:p>
            <a:r>
              <a:rPr lang="en-US" altLang="en-US" dirty="0"/>
              <a:t>A digitized signal will always need more bandwidth than the original analog signal. Price that is to be paid for robustness and other features of digital transmission.</a:t>
            </a:r>
            <a:endParaRPr lang="en-US" altLang="en-US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99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PCM Decoder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recover an analog signal from a digitized signal we follow the following steps:</a:t>
            </a:r>
          </a:p>
          <a:p>
            <a:pPr lvl="1"/>
            <a:r>
              <a:rPr lang="en-US" altLang="en-US" dirty="0"/>
              <a:t>We use a hold circuit that holds the amplitude value of a pulse till the next pulse arrives.</a:t>
            </a:r>
          </a:p>
          <a:p>
            <a:pPr lvl="1"/>
            <a:r>
              <a:rPr lang="en-US" altLang="en-US" dirty="0"/>
              <a:t>We pass this signal through a low pass filter with a cutoff frequency that is equal to the highest frequency in the pre-sampled signal.</a:t>
            </a:r>
          </a:p>
          <a:p>
            <a:r>
              <a:rPr lang="en-US" altLang="en-US" dirty="0"/>
              <a:t>The higher the value of L, the less distorted a signal is recovered.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94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baseline="0" dirty="0"/>
              <a:t>Components of a PCM decoder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16172"/>
            <a:ext cx="10515600" cy="4170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259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Delta Modulation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This scheme sends only the difference between pulses, if the pulse at time t</a:t>
            </a:r>
            <a:r>
              <a:rPr lang="en-US" altLang="en-US" baseline="-25000" dirty="0"/>
              <a:t>n+1</a:t>
            </a:r>
            <a:r>
              <a:rPr lang="en-US" altLang="en-US" dirty="0"/>
              <a:t> is higher in amplitude value than the pulse at time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n</a:t>
            </a:r>
            <a:r>
              <a:rPr lang="en-US" altLang="en-US" dirty="0"/>
              <a:t>, then a single bit, say a “1”, is used to indicate the positive value.</a:t>
            </a:r>
          </a:p>
          <a:p>
            <a:r>
              <a:rPr lang="en-US" altLang="en-US" dirty="0"/>
              <a:t>If the pulse is lower in value, resulting in a negative value, a “0” is used.</a:t>
            </a:r>
          </a:p>
          <a:p>
            <a:r>
              <a:rPr lang="en-US" altLang="en-US" dirty="0"/>
              <a:t>This scheme works well for small changes in signal values between samples.</a:t>
            </a:r>
          </a:p>
          <a:p>
            <a:r>
              <a:rPr lang="en-US" altLang="en-US" dirty="0"/>
              <a:t>If changes in amplitude are large, this will result in large errors.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306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baseline="0" dirty="0"/>
              <a:t>The process of delta modulation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4715"/>
            <a:ext cx="10515600" cy="4013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2484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baseline="0" dirty="0"/>
              <a:t>Delta modulation components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4047"/>
            <a:ext cx="10515600" cy="317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4917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baseline="0" dirty="0"/>
              <a:t>Delta demodulation components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6721"/>
            <a:ext cx="10515600" cy="3449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600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Delta PCM (DPCM)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Instead of using one bit to indicate positive and negative differences, we can use more bits -&gt; quantization of the difference.</a:t>
            </a:r>
          </a:p>
          <a:p>
            <a:r>
              <a:rPr lang="en-US" altLang="en-US" dirty="0"/>
              <a:t>Each bit code is used to represent the value of the difference.</a:t>
            </a:r>
          </a:p>
          <a:p>
            <a:r>
              <a:rPr lang="en-US" altLang="en-US" dirty="0"/>
              <a:t>The more bits the more levels -&gt; the higher the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5762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TRANSMISSION</a:t>
            </a:r>
            <a:r>
              <a:rPr lang="en-US" altLang="en-US" dirty="0">
                <a:latin typeface="Times" panose="02020603050405020304" pitchFamily="18" charset="0"/>
              </a:rPr>
              <a:t> MODES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transmission of binary data across a link can be accomplished in either parallel or serial mode. </a:t>
            </a:r>
          </a:p>
          <a:p>
            <a:r>
              <a:rPr lang="en-US" altLang="en-US" dirty="0"/>
              <a:t>In parallel mode, multiple bits are sent with each clock tick. </a:t>
            </a:r>
          </a:p>
          <a:p>
            <a:r>
              <a:rPr lang="en-US" altLang="en-US" dirty="0"/>
              <a:t>In serial mode, 1 bit is sent with each clock tick. </a:t>
            </a:r>
          </a:p>
          <a:p>
            <a:r>
              <a:rPr lang="en-US" altLang="en-US" dirty="0"/>
              <a:t>While there is only one way to send parallel data, there are three subclasses of serial transmission: </a:t>
            </a:r>
          </a:p>
          <a:p>
            <a:pPr lvl="1"/>
            <a:r>
              <a:rPr lang="en-US" altLang="en-US" dirty="0"/>
              <a:t>Asynchronous</a:t>
            </a:r>
          </a:p>
          <a:p>
            <a:pPr lvl="1"/>
            <a:r>
              <a:rPr lang="en-US" altLang="en-US" dirty="0"/>
              <a:t>Synchronous</a:t>
            </a:r>
          </a:p>
          <a:p>
            <a:pPr lvl="1"/>
            <a:r>
              <a:rPr lang="en-US" altLang="en-US" dirty="0"/>
              <a:t>Isochronous.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758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aseline="0" dirty="0"/>
              <a:t>Data transmission and modes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87628"/>
            <a:ext cx="10515600" cy="3827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926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baseline="0" dirty="0"/>
              <a:t>Parallel transmission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725" y="1825625"/>
            <a:ext cx="7464549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2699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PARALLEL TRANSMISSION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Binary data, consisting of 1s and 0s, may be organized into groups of </a:t>
            </a:r>
            <a:r>
              <a:rPr lang="en-IN" i="1" dirty="0"/>
              <a:t>n </a:t>
            </a:r>
            <a:r>
              <a:rPr lang="en-IN" dirty="0"/>
              <a:t>bits each.</a:t>
            </a:r>
          </a:p>
          <a:p>
            <a:r>
              <a:rPr lang="en-IN" dirty="0"/>
              <a:t>Computers produce and consume data in groups of bits. By grouping, we can send data </a:t>
            </a:r>
            <a:r>
              <a:rPr lang="en-IN" i="1" dirty="0"/>
              <a:t>n </a:t>
            </a:r>
            <a:r>
              <a:rPr lang="en-IN" dirty="0"/>
              <a:t>bits at a time instead of 1. This is called parallel transmission.</a:t>
            </a:r>
          </a:p>
          <a:p>
            <a:r>
              <a:rPr lang="en-IN" dirty="0"/>
              <a:t>The mechanism for parallel transmission is a conceptually simple one: Use </a:t>
            </a:r>
            <a:r>
              <a:rPr lang="en-IN" i="1" dirty="0"/>
              <a:t>n </a:t>
            </a:r>
            <a:r>
              <a:rPr lang="en-IN" dirty="0"/>
              <a:t>wires to send </a:t>
            </a:r>
            <a:r>
              <a:rPr lang="en-IN" i="1" dirty="0"/>
              <a:t>n </a:t>
            </a:r>
            <a:r>
              <a:rPr lang="en-IN" dirty="0"/>
              <a:t>bits at one time.</a:t>
            </a:r>
          </a:p>
          <a:p>
            <a:r>
              <a:rPr lang="en-IN" dirty="0"/>
              <a:t>That way each bit has its own wire, and all </a:t>
            </a:r>
            <a:r>
              <a:rPr lang="en-IN" i="1" dirty="0"/>
              <a:t>n </a:t>
            </a:r>
            <a:r>
              <a:rPr lang="en-IN" dirty="0"/>
              <a:t>bits of one group can be transmitted with each clock tick from one device to another.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253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advantage of parallel transmission is </a:t>
            </a:r>
            <a:r>
              <a:rPr lang="en-IN" b="1" dirty="0"/>
              <a:t>speed.</a:t>
            </a:r>
          </a:p>
          <a:p>
            <a:pPr lvl="1"/>
            <a:r>
              <a:rPr lang="en-IN" dirty="0"/>
              <a:t>That is parallel transmission can increase the transfer speed by a factor of </a:t>
            </a:r>
            <a:r>
              <a:rPr lang="en-IN" i="1" dirty="0"/>
              <a:t>n </a:t>
            </a:r>
            <a:r>
              <a:rPr lang="en-IN" dirty="0"/>
              <a:t>over serial transmission.</a:t>
            </a:r>
          </a:p>
          <a:p>
            <a:r>
              <a:rPr lang="en-IN" dirty="0"/>
              <a:t>But there is a significant </a:t>
            </a:r>
            <a:r>
              <a:rPr lang="en-IN" b="1" dirty="0"/>
              <a:t>disadvantage is cost: </a:t>
            </a:r>
          </a:p>
          <a:p>
            <a:pPr lvl="1"/>
            <a:r>
              <a:rPr lang="en-IN" dirty="0"/>
              <a:t>Parallel transmission requires </a:t>
            </a:r>
            <a:r>
              <a:rPr lang="en-IN" i="1" dirty="0"/>
              <a:t>n </a:t>
            </a:r>
            <a:r>
              <a:rPr lang="en-IN" dirty="0"/>
              <a:t>communication lines (wires in the example) just to transmit the data stream. This is expensive, so parallel transmission is usually limited to short distances.</a:t>
            </a:r>
          </a:p>
        </p:txBody>
      </p:sp>
    </p:spTree>
    <p:extLst>
      <p:ext uri="{BB962C8B-B14F-4D97-AF65-F5344CB8AC3E}">
        <p14:creationId xmlns:p14="http://schemas.microsoft.com/office/powerpoint/2010/main" val="125976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baseline="0" dirty="0"/>
              <a:t>Serial transmission</a:t>
            </a:r>
            <a:endParaRPr lang="en-IN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945" y="1825625"/>
            <a:ext cx="847611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453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In serial transmission one bit follows another, so we need only one communication channel rather than </a:t>
            </a:r>
            <a:r>
              <a:rPr lang="en-IN" i="1" dirty="0"/>
              <a:t>n </a:t>
            </a:r>
            <a:r>
              <a:rPr lang="en-IN" dirty="0"/>
              <a:t>to transmit data between two communicating devices.</a:t>
            </a:r>
          </a:p>
          <a:p>
            <a:r>
              <a:rPr lang="en-IN" dirty="0"/>
              <a:t>The </a:t>
            </a:r>
            <a:r>
              <a:rPr lang="en-IN" b="1" dirty="0"/>
              <a:t>advantage </a:t>
            </a:r>
            <a:r>
              <a:rPr lang="en-IN" dirty="0"/>
              <a:t>of </a:t>
            </a:r>
            <a:r>
              <a:rPr lang="en-IN" b="1" dirty="0"/>
              <a:t>serial over parallel transmission </a:t>
            </a:r>
            <a:r>
              <a:rPr lang="en-IN" dirty="0"/>
              <a:t>is that with only one communication channel, serial transmission reduces the cost of transmission over parallel by roughly a factor of </a:t>
            </a:r>
            <a:r>
              <a:rPr lang="en-IN" i="1" dirty="0"/>
              <a:t>n. </a:t>
            </a:r>
          </a:p>
          <a:p>
            <a:r>
              <a:rPr lang="en-IN" dirty="0"/>
              <a:t>Since communication within devices is parallel, conversion devices are required at the interface between the sender and the line (parallel-to-serial) and between the line and the receiver (serial-to-parallel).</a:t>
            </a:r>
          </a:p>
          <a:p>
            <a:r>
              <a:rPr lang="en-IN" dirty="0"/>
              <a:t>Serial transmission occurs in one of three ways: </a:t>
            </a:r>
            <a:r>
              <a:rPr lang="en-IN" b="1" dirty="0"/>
              <a:t>asynchronous, synchronous, and isochronous.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691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aseline="0" dirty="0"/>
              <a:t>Asynchronous transmission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Asynchronous transmission is so named because the timing of a signal is unimportant. Instead, information is received and translated by agreed upon patterns.</a:t>
            </a:r>
          </a:p>
          <a:p>
            <a:r>
              <a:rPr lang="en-IN" dirty="0"/>
              <a:t>Patterns are based on grouping the bit stream into bytes. Each group, usually 8 bits, is sent along the link as a unit.</a:t>
            </a:r>
          </a:p>
          <a:p>
            <a:r>
              <a:rPr lang="en-IN" dirty="0"/>
              <a:t>The sending system handles each group independently, relaying it to the link whenever ready, without regard to a timer. Without synchronization, the receiver cannot use timing to predict when the next group will arrive.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78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To alert the receiver to the arrival of a new group, therefore, an extra bit is added to the beginning of each byte. This bit, usually a 0, is called the </a:t>
            </a:r>
            <a:r>
              <a:rPr lang="en-IN" b="1" dirty="0"/>
              <a:t>start bit</a:t>
            </a:r>
            <a:r>
              <a:rPr lang="en-IN" dirty="0"/>
              <a:t>. </a:t>
            </a:r>
          </a:p>
          <a:p>
            <a:r>
              <a:rPr lang="en-IN" dirty="0"/>
              <a:t>To let the receiver know that the byte is finished, 1 or more additional bits are appended to the end of the byte. These bits, usually 1s, are called </a:t>
            </a:r>
            <a:r>
              <a:rPr lang="en-IN" b="1" dirty="0"/>
              <a:t>stop bits</a:t>
            </a:r>
            <a:r>
              <a:rPr lang="en-IN" dirty="0"/>
              <a:t>.</a:t>
            </a:r>
          </a:p>
          <a:p>
            <a:r>
              <a:rPr lang="en-US" altLang="en-US" dirty="0"/>
              <a:t>There may be a gap between each byte.</a:t>
            </a:r>
          </a:p>
          <a:p>
            <a:r>
              <a:rPr lang="en-IN" dirty="0"/>
              <a:t>The start and stop bits and the gap alert the receiver to the beginning and </a:t>
            </a:r>
            <a:r>
              <a:rPr lang="en-IN" b="1" dirty="0"/>
              <a:t>end of each byte </a:t>
            </a:r>
            <a:r>
              <a:rPr lang="en-IN" dirty="0"/>
              <a:t>allow it to synchronize with the data stream.</a:t>
            </a:r>
          </a:p>
          <a:p>
            <a:r>
              <a:rPr lang="en-IN" dirty="0"/>
              <a:t>This mechanism is called </a:t>
            </a:r>
            <a:r>
              <a:rPr lang="en-IN" b="1" i="1" dirty="0"/>
              <a:t>asynchronous </a:t>
            </a:r>
            <a:r>
              <a:rPr lang="en-IN" dirty="0"/>
              <a:t>because, at the byte level, the sender and receiver do not have to be synchronized.</a:t>
            </a:r>
          </a:p>
          <a:p>
            <a:r>
              <a:rPr lang="en-IN" dirty="0"/>
              <a:t>But within each byte, the receiver must still be synchronized with the incoming bit stream i.e., </a:t>
            </a:r>
            <a:r>
              <a:rPr lang="en-US" altLang="en-US" dirty="0"/>
              <a:t>their durations are the same.</a:t>
            </a:r>
          </a:p>
          <a:p>
            <a:endParaRPr lang="en-IN" dirty="0"/>
          </a:p>
          <a:p>
            <a:endParaRPr lang="en-US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935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9919"/>
            <a:ext cx="10515600" cy="410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60082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Synchronous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In synchronous transmission, the bit stream is combined into longer "frames," which may contain multiple bytes. </a:t>
            </a:r>
            <a:r>
              <a:rPr lang="en-US" altLang="en-US" dirty="0"/>
              <a:t>A frame is identified with a start and an end byte.</a:t>
            </a:r>
          </a:p>
          <a:p>
            <a:r>
              <a:rPr lang="en-IN" dirty="0"/>
              <a:t>Each byte is introduced onto the transmission link without a gap between it and the next one.</a:t>
            </a:r>
          </a:p>
          <a:p>
            <a:r>
              <a:rPr lang="en-IN" dirty="0"/>
              <a:t>It is left to the receiver to separate the bit stream into bytes for decoding purposes.</a:t>
            </a:r>
          </a:p>
          <a:p>
            <a:r>
              <a:rPr lang="en-IN" dirty="0"/>
              <a:t>In </a:t>
            </a:r>
            <a:r>
              <a:rPr lang="en-IN" b="1" dirty="0"/>
              <a:t>other words</a:t>
            </a:r>
            <a:r>
              <a:rPr lang="en-IN" dirty="0"/>
              <a:t>, data are transmitted as an unbroken string of 1s and 0s, and the receiver separates that string into the bytes, or characters, it needs to reconstruct the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81887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Byte synchronization is accomplished in the data link layer.</a:t>
            </a:r>
          </a:p>
          <a:p>
            <a:r>
              <a:rPr lang="en-IN" dirty="0"/>
              <a:t>Although there is no gap between characters in synchronous serial transmission, there may be uneven gaps between frames.</a:t>
            </a:r>
          </a:p>
          <a:p>
            <a:r>
              <a:rPr lang="en-IN" dirty="0"/>
              <a:t>The </a:t>
            </a:r>
            <a:r>
              <a:rPr lang="en-IN" b="1" dirty="0"/>
              <a:t>advantage </a:t>
            </a:r>
            <a:r>
              <a:rPr lang="en-IN" dirty="0"/>
              <a:t>of synchronous transmission is </a:t>
            </a:r>
            <a:r>
              <a:rPr lang="en-IN" b="1" dirty="0"/>
              <a:t>speed</a:t>
            </a:r>
            <a:r>
              <a:rPr lang="en-IN" dirty="0"/>
              <a:t>.</a:t>
            </a:r>
          </a:p>
          <a:p>
            <a:r>
              <a:rPr lang="en-IN" dirty="0"/>
              <a:t>With no extra bits or gaps to introduce at the sending end and remove at the receiving end, and, by extension, with fewer bits to move across the link.</a:t>
            </a:r>
          </a:p>
          <a:p>
            <a:r>
              <a:rPr lang="en-IN" dirty="0"/>
              <a:t>Synchronous transmission is faster than asynchronous transmission. For this reason, it is more useful for high-speed applications such as the transmission of data from one computer to another.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551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baseline="0" dirty="0"/>
              <a:t>Synchronous transmission</a:t>
            </a:r>
            <a:endParaRPr lang="en-IN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38676"/>
            <a:ext cx="10515600" cy="2725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25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Isochronous Transmission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Synchronous transmission fails in real-time audio and video, in which uneven delays between frames are not acceptable. </a:t>
            </a:r>
          </a:p>
          <a:p>
            <a:r>
              <a:rPr lang="en-IN" dirty="0"/>
              <a:t>For example, TV images are broadcast at the rate of 30 images per second; they must be viewed at the same rate. If each image is sent by using one or more frames, there should be no delays between frames. </a:t>
            </a:r>
          </a:p>
          <a:p>
            <a:r>
              <a:rPr lang="en-IN" dirty="0"/>
              <a:t>For this type of application, synchronization between characters is not enough; the entire stream of bits must be synchronized. </a:t>
            </a:r>
            <a:endParaRPr lang="en-US" altLang="en-US" dirty="0"/>
          </a:p>
          <a:p>
            <a:r>
              <a:rPr lang="en-IN" dirty="0"/>
              <a:t>The </a:t>
            </a:r>
            <a:r>
              <a:rPr lang="en-IN" b="1" dirty="0"/>
              <a:t>isochronous </a:t>
            </a:r>
            <a:r>
              <a:rPr lang="en-IN" dirty="0"/>
              <a:t>transmission guarantees that the data arrive at a fixed rate i.e., </a:t>
            </a:r>
            <a:r>
              <a:rPr lang="en-US" altLang="en-US"/>
              <a:t>Transmission of bits is fixed with equal gaps.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5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