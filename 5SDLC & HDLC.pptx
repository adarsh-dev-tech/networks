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1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33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7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7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29" Type="http://schemas.openxmlformats.org/officeDocument/2006/relationships/slide" Target="slides/slide26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11" Type="http://schemas.openxmlformats.org/officeDocument/2006/relationships/slide" Target="slides/slide8.xml"/><Relationship Id="rId33" Type="http://schemas.openxmlformats.org/officeDocument/2006/relationships/slide" Target="slides/slide30.xml"/><Relationship Id="rId10" Type="http://schemas.openxmlformats.org/officeDocument/2006/relationships/slide" Target="slides/slide7.xml"/><Relationship Id="rId32" Type="http://schemas.openxmlformats.org/officeDocument/2006/relationships/slide" Target="slides/slide29.xml"/><Relationship Id="rId13" Type="http://schemas.openxmlformats.org/officeDocument/2006/relationships/slide" Target="slides/slide10.xml"/><Relationship Id="rId35" Type="http://schemas.openxmlformats.org/officeDocument/2006/relationships/slide" Target="slides/slide32.xml"/><Relationship Id="rId12" Type="http://schemas.openxmlformats.org/officeDocument/2006/relationships/slide" Target="slides/slide9.xml"/><Relationship Id="rId34" Type="http://schemas.openxmlformats.org/officeDocument/2006/relationships/slide" Target="slides/slide3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36" Type="http://schemas.openxmlformats.org/officeDocument/2006/relationships/slide" Target="slides/slide33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9" Type="http://schemas.openxmlformats.org/officeDocument/2006/relationships/slide" Target="slides/slide16.xml"/><Relationship Id="rId18" Type="http://schemas.openxmlformats.org/officeDocument/2006/relationships/slide" Target="slides/slide1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08405-4F1B-4D44-BAD1-DABCA3385E6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DFD97-7820-403C-A8D8-C8E21BEB9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9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08405-4F1B-4D44-BAD1-DABCA3385E6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DFD97-7820-403C-A8D8-C8E21BEB9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83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08405-4F1B-4D44-BAD1-DABCA3385E6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DFD97-7820-403C-A8D8-C8E21BEB9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97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08405-4F1B-4D44-BAD1-DABCA3385E6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DFD97-7820-403C-A8D8-C8E21BEB9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541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08405-4F1B-4D44-BAD1-DABCA3385E6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DFD97-7820-403C-A8D8-C8E21BEB9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944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08405-4F1B-4D44-BAD1-DABCA3385E6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DFD97-7820-403C-A8D8-C8E21BEB9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1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08405-4F1B-4D44-BAD1-DABCA3385E6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DFD97-7820-403C-A8D8-C8E21BEB9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90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08405-4F1B-4D44-BAD1-DABCA3385E6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DFD97-7820-403C-A8D8-C8E21BEB9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6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08405-4F1B-4D44-BAD1-DABCA3385E6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DFD97-7820-403C-A8D8-C8E21BEB9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604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08405-4F1B-4D44-BAD1-DABCA3385E6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DFD97-7820-403C-A8D8-C8E21BEB9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19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08405-4F1B-4D44-BAD1-DABCA3385E6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DFD97-7820-403C-A8D8-C8E21BEB9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70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7" y="152400"/>
            <a:ext cx="10938933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371600"/>
            <a:ext cx="5350933" cy="468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163734" y="1371600"/>
            <a:ext cx="5350933" cy="46863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EDC244-5FA6-4E2A-B5AA-7C229CB88A2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33904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08405-4F1B-4D44-BAD1-DABCA3385E6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DFD97-7820-403C-A8D8-C8E21BEB9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209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SDLC &amp; HDLC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75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Synchronous Data Link Communication  (SDLC)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Synchronous Bit Oriented Protocol by IBM.(continuous stream of bits)</a:t>
            </a:r>
          </a:p>
          <a:p>
            <a:r>
              <a:rPr lang="en-IN" dirty="0"/>
              <a:t>Simplex/half duplex/full duplex.</a:t>
            </a:r>
          </a:p>
          <a:p>
            <a:r>
              <a:rPr lang="en-IN" dirty="0"/>
              <a:t>Sliding window protocol.</a:t>
            </a:r>
          </a:p>
          <a:p>
            <a:r>
              <a:rPr lang="en-IN" dirty="0"/>
              <a:t>Language EBCDIC.</a:t>
            </a:r>
          </a:p>
          <a:p>
            <a:r>
              <a:rPr lang="en-IN" dirty="0"/>
              <a:t>Data frame 256 characters long.</a:t>
            </a:r>
          </a:p>
          <a:p>
            <a:r>
              <a:rPr lang="en-IN" dirty="0"/>
              <a:t>All data link control functions performed by a single control field.</a:t>
            </a:r>
          </a:p>
          <a:p>
            <a:r>
              <a:rPr lang="en-IN" dirty="0"/>
              <a:t>Master-slave environment only.</a:t>
            </a:r>
          </a:p>
        </p:txBody>
      </p:sp>
    </p:spTree>
    <p:extLst>
      <p:ext uri="{BB962C8B-B14F-4D97-AF65-F5344CB8AC3E}">
        <p14:creationId xmlns:p14="http://schemas.microsoft.com/office/powerpoint/2010/main" val="1253694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010000"/>
                </a:solidFill>
                <a:latin typeface="BookmanOldStyle"/>
              </a:rPr>
              <a:t>The primary station controls data exchange on the communication channel and issues command.</a:t>
            </a:r>
          </a:p>
          <a:p>
            <a:r>
              <a:rPr lang="en-IN" dirty="0">
                <a:solidFill>
                  <a:srgbClr val="010000"/>
                </a:solidFill>
                <a:latin typeface="BookmanOldStyle"/>
              </a:rPr>
              <a:t>The secondary station receives commands and returns responses to the primary.</a:t>
            </a:r>
          </a:p>
          <a:p>
            <a:r>
              <a:rPr lang="en-IN" dirty="0">
                <a:solidFill>
                  <a:srgbClr val="010000"/>
                </a:solidFill>
                <a:latin typeface="BookmanOldStyle"/>
              </a:rPr>
              <a:t>Three transmission states:-</a:t>
            </a:r>
          </a:p>
          <a:p>
            <a:pPr lvl="1"/>
            <a:r>
              <a:rPr lang="en-IN" dirty="0">
                <a:solidFill>
                  <a:srgbClr val="010000"/>
                </a:solidFill>
                <a:latin typeface="BookmanOldStyle"/>
              </a:rPr>
              <a:t>Transient state:-before and after the initial transmission and after each line turnaround.</a:t>
            </a:r>
          </a:p>
          <a:p>
            <a:pPr lvl="1"/>
            <a:r>
              <a:rPr lang="en-IN" dirty="0">
                <a:solidFill>
                  <a:srgbClr val="010000"/>
                </a:solidFill>
                <a:latin typeface="BookmanOldStyle"/>
              </a:rPr>
              <a:t>Idle state:- after 15 or more consecutive 1s have been received.</a:t>
            </a:r>
          </a:p>
          <a:p>
            <a:pPr lvl="1"/>
            <a:r>
              <a:rPr lang="en-IN" dirty="0">
                <a:solidFill>
                  <a:srgbClr val="010000"/>
                </a:solidFill>
                <a:latin typeface="BookmanOldStyle"/>
              </a:rPr>
              <a:t>Active state:- whenever either primary or secondary station is transmitting information or control signals.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0282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General frame structure: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	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35835" y="3239310"/>
          <a:ext cx="7711280" cy="19835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30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3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15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11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60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46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</a:rPr>
                        <a:t>Flag 		                 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</a:rPr>
                        <a:t>               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</a:rPr>
                        <a:t>Address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</a:rPr>
                        <a:t>Control    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Data…         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FCS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Flag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5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</a:rPr>
                        <a:t>8 bits       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</a:rPr>
                        <a:t>8 bits                   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</a:rPr>
                        <a:t>		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</a:rPr>
                        <a:t>8 bits   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</a:rPr>
                        <a:t>Variable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</a:rPr>
                        <a:t>multiples of 8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</a:rPr>
                        <a:t>16 bits       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</a:rPr>
                        <a:t>8 bits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753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9EFB8-66C3-4ECB-9A23-55DB16ACA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7A215-B54C-4EED-A4B1-64F64FA8B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Each SDLC frame consists of the following fields:</a:t>
            </a:r>
          </a:p>
          <a:p>
            <a:pPr marL="0" indent="0" fontAlgn="base">
              <a:buNone/>
            </a:pPr>
            <a:r>
              <a:rPr lang="en-US" b="1" dirty="0"/>
              <a:t>1. Flag Field</a:t>
            </a:r>
            <a:endParaRPr lang="en-US" dirty="0"/>
          </a:p>
          <a:p>
            <a:pPr fontAlgn="base"/>
            <a:r>
              <a:rPr lang="en-US" dirty="0"/>
              <a:t>Marks the beginning and end of a frame</a:t>
            </a:r>
          </a:p>
          <a:p>
            <a:pPr fontAlgn="base"/>
            <a:r>
              <a:rPr lang="en-US" dirty="0"/>
              <a:t>Helps detect frame boundaries and synchronization</a:t>
            </a:r>
          </a:p>
          <a:p>
            <a:pPr marL="0" indent="0" fontAlgn="base">
              <a:buNone/>
            </a:pPr>
            <a:r>
              <a:rPr lang="en-US" b="1" dirty="0"/>
              <a:t>2. Address Field</a:t>
            </a:r>
            <a:endParaRPr lang="en-US" dirty="0"/>
          </a:p>
          <a:p>
            <a:pPr fontAlgn="base"/>
            <a:r>
              <a:rPr lang="en-US" dirty="0"/>
              <a:t>Identifies the secondary station involved</a:t>
            </a:r>
          </a:p>
          <a:p>
            <a:pPr fontAlgn="base"/>
            <a:r>
              <a:rPr lang="en-US" dirty="0"/>
              <a:t>Supports individual, group, and broadcast addressing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3973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2185E-B824-47D3-8BE0-FADF4773F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F1E23-391D-46EE-BA50-F89758F0C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b="1" dirty="0"/>
              <a:t>3. Control Field</a:t>
            </a:r>
            <a:endParaRPr lang="en-US" dirty="0"/>
          </a:p>
          <a:p>
            <a:pPr fontAlgn="base"/>
            <a:r>
              <a:rPr lang="en-US" dirty="0"/>
              <a:t>Defines the function and type of the frame</a:t>
            </a:r>
          </a:p>
          <a:p>
            <a:pPr marL="0" indent="0" fontAlgn="base">
              <a:buNone/>
            </a:pPr>
            <a:r>
              <a:rPr lang="en-US" dirty="0"/>
              <a:t>Supports three formats:</a:t>
            </a:r>
          </a:p>
          <a:p>
            <a:pPr lvl="1" fontAlgn="base"/>
            <a:r>
              <a:rPr lang="en-US" b="1" dirty="0"/>
              <a:t>Unnumbered (U) Frame:</a:t>
            </a:r>
            <a:r>
              <a:rPr lang="en-US" dirty="0"/>
              <a:t> Link setup, disconnection, and control functions</a:t>
            </a:r>
          </a:p>
          <a:p>
            <a:pPr lvl="1" fontAlgn="base"/>
            <a:r>
              <a:rPr lang="en-US" b="1" dirty="0"/>
              <a:t>Supervisory (S) Frame:</a:t>
            </a:r>
            <a:r>
              <a:rPr lang="en-US" dirty="0"/>
              <a:t> Acknowledgments, flow control, and error reporting</a:t>
            </a:r>
          </a:p>
          <a:p>
            <a:pPr lvl="1" fontAlgn="base"/>
            <a:r>
              <a:rPr lang="en-US" b="1" dirty="0"/>
              <a:t>Information (I) Frame:</a:t>
            </a:r>
            <a:r>
              <a:rPr lang="en-US" dirty="0"/>
              <a:t> Data transfer and sequence control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7303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377F4-3D79-437A-B052-7E57FED3F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BE3F4-93B1-4F2B-8C6D-7284A8694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/>
              <a:t>4. Information/Data Field</a:t>
            </a:r>
            <a:endParaRPr lang="en-US" dirty="0"/>
          </a:p>
          <a:p>
            <a:pPr lvl="1" fontAlgn="base"/>
            <a:r>
              <a:rPr lang="en-US" dirty="0"/>
              <a:t>Optional field containing user data to be transmitted</a:t>
            </a:r>
          </a:p>
          <a:p>
            <a:pPr marL="0" indent="0" fontAlgn="base">
              <a:buNone/>
            </a:pPr>
            <a:r>
              <a:rPr lang="en-US" b="1" dirty="0"/>
              <a:t>5. Frame Check Sequence (FCS)</a:t>
            </a:r>
            <a:endParaRPr lang="en-US" dirty="0"/>
          </a:p>
          <a:p>
            <a:pPr lvl="1" fontAlgn="base"/>
            <a:r>
              <a:rPr lang="en-US" dirty="0"/>
              <a:t>Used for error detection</a:t>
            </a:r>
          </a:p>
          <a:p>
            <a:pPr lvl="1" fontAlgn="base"/>
            <a:r>
              <a:rPr lang="en-US" dirty="0"/>
              <a:t>Ensures the integrity of the received frame</a:t>
            </a:r>
          </a:p>
          <a:p>
            <a:pPr marL="0" indent="0" fontAlgn="base">
              <a:buNone/>
            </a:pPr>
            <a:r>
              <a:rPr lang="en-US" b="1" dirty="0"/>
              <a:t>6. Ending Flag Field</a:t>
            </a:r>
            <a:endParaRPr lang="en-US" dirty="0"/>
          </a:p>
          <a:p>
            <a:pPr lvl="1" fontAlgn="base"/>
            <a:r>
              <a:rPr lang="en-US" dirty="0"/>
              <a:t>Indicates the end of the transmission frame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3191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66F84-3587-4A64-904F-01EA450D9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Purpose of an SDLC Frame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96810-7028-4502-987A-2B8BC7449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dirty="0"/>
              <a:t>An SDLC frame enables the receiving station to:</a:t>
            </a:r>
          </a:p>
          <a:p>
            <a:pPr lvl="1" fontAlgn="base"/>
            <a:r>
              <a:rPr lang="en-US" dirty="0"/>
              <a:t>Identify the start and end of a frame</a:t>
            </a:r>
          </a:p>
          <a:p>
            <a:pPr lvl="1" fontAlgn="base"/>
            <a:r>
              <a:rPr lang="en-US" dirty="0"/>
              <a:t>Determine whether the frame is intended for it</a:t>
            </a:r>
          </a:p>
          <a:p>
            <a:pPr lvl="1" fontAlgn="base"/>
            <a:r>
              <a:rPr lang="en-US" dirty="0"/>
              <a:t>Understand what action to perform on the received data</a:t>
            </a:r>
          </a:p>
          <a:p>
            <a:pPr lvl="1" fontAlgn="base"/>
            <a:r>
              <a:rPr lang="en-US" dirty="0"/>
              <a:t>Detect transmission errors</a:t>
            </a:r>
          </a:p>
          <a:p>
            <a:pPr lvl="1" fontAlgn="base"/>
            <a:r>
              <a:rPr lang="en-US" dirty="0"/>
              <a:t>Acknowledge successful frame reception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999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High-level Data Link Control HDLC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HDLC is a discipline for the management of information transfer over a data communication channel</a:t>
            </a:r>
          </a:p>
          <a:p>
            <a:r>
              <a:rPr lang="en-IN" dirty="0"/>
              <a:t>HDLC has a basic structure that governs the function and the use of control procedures. The basic structure includes:</a:t>
            </a:r>
          </a:p>
          <a:p>
            <a:pPr lvl="1"/>
            <a:r>
              <a:rPr lang="en-IN" dirty="0"/>
              <a:t>The definitions of primary and secondary station responsibilities.</a:t>
            </a:r>
          </a:p>
          <a:p>
            <a:pPr lvl="1"/>
            <a:r>
              <a:rPr lang="en-IN" dirty="0"/>
              <a:t>The design of information grouping for control and checking.</a:t>
            </a:r>
          </a:p>
          <a:p>
            <a:pPr lvl="1"/>
            <a:r>
              <a:rPr lang="en-IN" dirty="0"/>
              <a:t>The design of the format for transfer of information and control data.</a:t>
            </a:r>
          </a:p>
        </p:txBody>
      </p:sp>
    </p:spTree>
    <p:extLst>
      <p:ext uri="{BB962C8B-B14F-4D97-AF65-F5344CB8AC3E}">
        <p14:creationId xmlns:p14="http://schemas.microsoft.com/office/powerpoint/2010/main" val="4066524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b="1" dirty="0"/>
              <a:t>Primary and secondary stations</a:t>
            </a:r>
          </a:p>
          <a:p>
            <a:r>
              <a:rPr lang="en-IN" dirty="0"/>
              <a:t>A data link involves two or more participating stations. For control purposes one station on the link is designated a </a:t>
            </a:r>
            <a:r>
              <a:rPr lang="en-IN" i="1" dirty="0"/>
              <a:t>primary </a:t>
            </a:r>
            <a:r>
              <a:rPr lang="en-IN" dirty="0"/>
              <a:t>station, the others are </a:t>
            </a:r>
            <a:r>
              <a:rPr lang="en-IN" i="1" dirty="0"/>
              <a:t>secondary </a:t>
            </a:r>
            <a:r>
              <a:rPr lang="en-IN" dirty="0"/>
              <a:t>stations. </a:t>
            </a:r>
          </a:p>
          <a:p>
            <a:r>
              <a:rPr lang="en-IN" dirty="0"/>
              <a:t>The primary station is responsible for the organisation of data flow and for the link level error recovery procedures.</a:t>
            </a:r>
          </a:p>
          <a:p>
            <a:r>
              <a:rPr lang="en-IN" dirty="0"/>
              <a:t>A frame sent from a primary station is referred to as a </a:t>
            </a:r>
            <a:r>
              <a:rPr lang="en-IN" i="1" dirty="0"/>
              <a:t>command </a:t>
            </a:r>
            <a:r>
              <a:rPr lang="en-IN" dirty="0"/>
              <a:t>frame. A frame from a secondary to a primary is referred to as a </a:t>
            </a:r>
            <a:r>
              <a:rPr lang="en-IN" i="1" dirty="0"/>
              <a:t>response </a:t>
            </a:r>
            <a:r>
              <a:rPr lang="en-IN" dirty="0"/>
              <a:t>frame. </a:t>
            </a:r>
          </a:p>
          <a:p>
            <a:r>
              <a:rPr lang="en-IN" dirty="0"/>
              <a:t>Normally when a command is sent, a response or a string of responses is expected in reply</a:t>
            </a:r>
          </a:p>
        </p:txBody>
      </p:sp>
    </p:spTree>
    <p:extLst>
      <p:ext uri="{BB962C8B-B14F-4D97-AF65-F5344CB8AC3E}">
        <p14:creationId xmlns:p14="http://schemas.microsoft.com/office/powerpoint/2010/main" val="2385035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HDLC Station Types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/>
              <a:t>Primary station</a:t>
            </a:r>
          </a:p>
          <a:p>
            <a:pPr lvl="1"/>
            <a:r>
              <a:rPr lang="en-US" altLang="en-US" sz="2000" dirty="0"/>
              <a:t>Controls operation of link</a:t>
            </a:r>
          </a:p>
          <a:p>
            <a:pPr lvl="1"/>
            <a:r>
              <a:rPr lang="en-US" altLang="en-US" sz="2000" dirty="0"/>
              <a:t>Issues commands (frames)</a:t>
            </a:r>
          </a:p>
          <a:p>
            <a:pPr lvl="1"/>
            <a:r>
              <a:rPr lang="en-US" altLang="en-US" sz="2000" dirty="0"/>
              <a:t>Maintains separate logical link to each secondary station</a:t>
            </a:r>
          </a:p>
          <a:p>
            <a:r>
              <a:rPr lang="en-US" altLang="en-US" sz="2400" dirty="0"/>
              <a:t>Secondary station</a:t>
            </a:r>
          </a:p>
          <a:p>
            <a:pPr lvl="1"/>
            <a:r>
              <a:rPr lang="en-US" altLang="en-US" sz="2000" dirty="0"/>
              <a:t>Under control of primary station</a:t>
            </a:r>
          </a:p>
          <a:p>
            <a:pPr lvl="1"/>
            <a:r>
              <a:rPr lang="en-US" altLang="en-US" sz="2000" dirty="0"/>
              <a:t>Issues responses (frames)</a:t>
            </a:r>
          </a:p>
          <a:p>
            <a:r>
              <a:rPr lang="en-US" altLang="en-US" sz="2400" dirty="0"/>
              <a:t>Combined station</a:t>
            </a:r>
          </a:p>
          <a:p>
            <a:pPr lvl="1"/>
            <a:r>
              <a:rPr lang="en-US" altLang="en-US" sz="2000" dirty="0"/>
              <a:t>May issue commands and responses</a:t>
            </a:r>
          </a:p>
          <a:p>
            <a:pPr lvl="1"/>
            <a:r>
              <a:rPr lang="en-US" altLang="en-US" sz="2000" dirty="0"/>
              <a:t>Combines the features of primary and secondary stations</a:t>
            </a:r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83898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HDLC Link Configurations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Unbalanced</a:t>
            </a:r>
          </a:p>
          <a:p>
            <a:pPr lvl="1"/>
            <a:r>
              <a:rPr lang="en-US" altLang="en-US"/>
              <a:t>One primary and one or more secondary stations</a:t>
            </a:r>
          </a:p>
          <a:p>
            <a:pPr lvl="1"/>
            <a:r>
              <a:rPr lang="en-US" altLang="en-US"/>
              <a:t>Supports full duplex and half duplex</a:t>
            </a:r>
          </a:p>
          <a:p>
            <a:r>
              <a:rPr lang="en-US" altLang="en-US"/>
              <a:t>Balanced</a:t>
            </a:r>
          </a:p>
          <a:p>
            <a:pPr lvl="1"/>
            <a:r>
              <a:rPr lang="en-US" altLang="en-US"/>
              <a:t>Two combined stations</a:t>
            </a:r>
          </a:p>
          <a:p>
            <a:pPr lvl="1"/>
            <a:r>
              <a:rPr lang="en-US" altLang="en-US"/>
              <a:t>Supports full duplex and half duplex</a:t>
            </a:r>
          </a:p>
          <a:p>
            <a:pPr lvl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94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Frame Structure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Synchronous transmission</a:t>
            </a:r>
          </a:p>
          <a:p>
            <a:r>
              <a:rPr lang="en-US" altLang="en-US"/>
              <a:t>All transmissions in frames</a:t>
            </a:r>
          </a:p>
          <a:p>
            <a:r>
              <a:rPr lang="en-US" altLang="en-US"/>
              <a:t>Single frame format for all data and control exchanges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8669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frames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/>
              <a:t>There are three kinds of frames:</a:t>
            </a:r>
          </a:p>
          <a:p>
            <a:r>
              <a:rPr lang="en-IN" dirty="0"/>
              <a:t>I-frame: Information frame: This type of frame carries user’s data.</a:t>
            </a:r>
          </a:p>
          <a:p>
            <a:r>
              <a:rPr lang="en-IN" dirty="0"/>
              <a:t>S-frame: Supervisory frame: used for error and flow control.</a:t>
            </a:r>
          </a:p>
          <a:p>
            <a:pPr lvl="1"/>
            <a:r>
              <a:rPr lang="en-IN" dirty="0"/>
              <a:t>This is used for supervisory control functions such as acknowledgements, requesting transmission and requesting a temporary suspension of transmission.</a:t>
            </a:r>
          </a:p>
          <a:p>
            <a:r>
              <a:rPr lang="en-IN" dirty="0"/>
              <a:t>U-frame: Unnumbered frame or </a:t>
            </a:r>
            <a:r>
              <a:rPr lang="en-IN" dirty="0" err="1"/>
              <a:t>Unsequenced</a:t>
            </a:r>
            <a:r>
              <a:rPr lang="en-IN" dirty="0"/>
              <a:t> frame: </a:t>
            </a:r>
          </a:p>
          <a:p>
            <a:pPr lvl="1"/>
            <a:r>
              <a:rPr lang="en-IN" dirty="0"/>
              <a:t>Unnumbered frames are used for link management. This is used to provide additional link control functions. </a:t>
            </a:r>
          </a:p>
          <a:p>
            <a:pPr lvl="1"/>
            <a:r>
              <a:rPr lang="en-IN" dirty="0"/>
              <a:t>Used to set up the logical link between the primary station and a secondary station</a:t>
            </a:r>
          </a:p>
          <a:p>
            <a:pPr lvl="1"/>
            <a:r>
              <a:rPr lang="en-IN" dirty="0"/>
              <a:t>To inform the secondary station about the mode of operation which is used.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0184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Frame Structure</a:t>
            </a:r>
          </a:p>
        </p:txBody>
      </p:sp>
      <p:pic>
        <p:nvPicPr>
          <p:cNvPr id="1229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032"/>
          <a:stretch>
            <a:fillRect/>
          </a:stretch>
        </p:blipFill>
        <p:spPr bwMode="auto">
          <a:xfrm>
            <a:off x="1524000" y="3048000"/>
            <a:ext cx="89154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Line 6"/>
          <p:cNvSpPr>
            <a:spLocks noChangeShapeType="1"/>
          </p:cNvSpPr>
          <p:nvPr/>
        </p:nvSpPr>
        <p:spPr bwMode="auto">
          <a:xfrm flipH="1">
            <a:off x="2362200" y="25146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n-IN"/>
          </a:p>
        </p:txBody>
      </p:sp>
      <p:sp>
        <p:nvSpPr>
          <p:cNvPr id="12293" name="Text Box 7"/>
          <p:cNvSpPr txBox="1">
            <a:spLocks noChangeArrowheads="1"/>
          </p:cNvSpPr>
          <p:nvPr/>
        </p:nvSpPr>
        <p:spPr bwMode="auto">
          <a:xfrm>
            <a:off x="2209800" y="1981200"/>
            <a:ext cx="160020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01111110</a:t>
            </a:r>
          </a:p>
        </p:txBody>
      </p:sp>
      <p:sp>
        <p:nvSpPr>
          <p:cNvPr id="12294" name="Line 8"/>
          <p:cNvSpPr>
            <a:spLocks noChangeShapeType="1"/>
          </p:cNvSpPr>
          <p:nvPr/>
        </p:nvSpPr>
        <p:spPr bwMode="auto">
          <a:xfrm>
            <a:off x="9144000" y="25146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n-IN"/>
          </a:p>
        </p:txBody>
      </p:sp>
      <p:sp>
        <p:nvSpPr>
          <p:cNvPr id="12295" name="Text Box 9"/>
          <p:cNvSpPr txBox="1">
            <a:spLocks noChangeArrowheads="1"/>
          </p:cNvSpPr>
          <p:nvPr/>
        </p:nvSpPr>
        <p:spPr bwMode="auto">
          <a:xfrm>
            <a:off x="8305800" y="2057400"/>
            <a:ext cx="160020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01111110</a:t>
            </a:r>
          </a:p>
        </p:txBody>
      </p:sp>
      <p:sp>
        <p:nvSpPr>
          <p:cNvPr id="12296" name="Line 10"/>
          <p:cNvSpPr>
            <a:spLocks noChangeShapeType="1"/>
          </p:cNvSpPr>
          <p:nvPr/>
        </p:nvSpPr>
        <p:spPr bwMode="auto">
          <a:xfrm flipH="1">
            <a:off x="4419600" y="22098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n-IN"/>
          </a:p>
        </p:txBody>
      </p:sp>
      <p:sp>
        <p:nvSpPr>
          <p:cNvPr id="12297" name="Text Box 11"/>
          <p:cNvSpPr txBox="1">
            <a:spLocks noChangeArrowheads="1"/>
          </p:cNvSpPr>
          <p:nvPr/>
        </p:nvSpPr>
        <p:spPr bwMode="auto">
          <a:xfrm>
            <a:off x="4191000" y="1524000"/>
            <a:ext cx="2743200" cy="64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Defines 3 types of frames (I,S,U frames)</a:t>
            </a:r>
          </a:p>
        </p:txBody>
      </p:sp>
    </p:spTree>
    <p:extLst>
      <p:ext uri="{BB962C8B-B14F-4D97-AF65-F5344CB8AC3E}">
        <p14:creationId xmlns:p14="http://schemas.microsoft.com/office/powerpoint/2010/main" val="2317617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Flag Fields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Delimit frame at both ends</a:t>
            </a:r>
          </a:p>
          <a:p>
            <a:pPr>
              <a:lnSpc>
                <a:spcPct val="90000"/>
              </a:lnSpc>
            </a:pPr>
            <a:r>
              <a:rPr lang="en-US" altLang="en-US"/>
              <a:t>01111110</a:t>
            </a:r>
          </a:p>
          <a:p>
            <a:pPr>
              <a:lnSpc>
                <a:spcPct val="90000"/>
              </a:lnSpc>
            </a:pPr>
            <a:r>
              <a:rPr lang="en-US" altLang="en-US"/>
              <a:t>Receiver hunts for flag sequence to synchronize</a:t>
            </a:r>
          </a:p>
          <a:p>
            <a:pPr>
              <a:lnSpc>
                <a:spcPct val="90000"/>
              </a:lnSpc>
            </a:pPr>
            <a:r>
              <a:rPr lang="en-US" altLang="en-US"/>
              <a:t>Bit stuffing used to avoid confusion with data containing 01111110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The transmitter inserts 0 bit after every sequence of five 1s with the exception of flag fields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If receiver detects five 1s it checks next bit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If 0, it is deleted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If 1 and seventh bit is 0 (i.e., 10), accept as flag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If sixth and seventh bits 1 (i.e., 11), sender is indicating abort</a:t>
            </a:r>
          </a:p>
        </p:txBody>
      </p:sp>
    </p:spTree>
    <p:extLst>
      <p:ext uri="{BB962C8B-B14F-4D97-AF65-F5344CB8AC3E}">
        <p14:creationId xmlns:p14="http://schemas.microsoft.com/office/powerpoint/2010/main" val="2421583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28"/>
          <a:stretch>
            <a:fillRect/>
          </a:stretch>
        </p:blipFill>
        <p:spPr bwMode="auto">
          <a:xfrm>
            <a:off x="4699000" y="0"/>
            <a:ext cx="596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Bit Stuffing</a:t>
            </a:r>
          </a:p>
        </p:txBody>
      </p:sp>
      <p:sp>
        <p:nvSpPr>
          <p:cNvPr id="14340" name="Rectangle 5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sz="2400"/>
              <a:t>Example with </a:t>
            </a:r>
            <a:br>
              <a:rPr lang="en-US" altLang="en-US" sz="2400"/>
            </a:br>
            <a:r>
              <a:rPr lang="en-US" altLang="en-US" sz="2400"/>
              <a:t>possible errors</a:t>
            </a:r>
          </a:p>
        </p:txBody>
      </p:sp>
    </p:spTree>
    <p:extLst>
      <p:ext uri="{BB962C8B-B14F-4D97-AF65-F5344CB8AC3E}">
        <p14:creationId xmlns:p14="http://schemas.microsoft.com/office/powerpoint/2010/main" val="3979306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Address Field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371600"/>
            <a:ext cx="8178800" cy="2514600"/>
          </a:xfrm>
        </p:spPr>
        <p:txBody>
          <a:bodyPr/>
          <a:lstStyle/>
          <a:p>
            <a:r>
              <a:rPr lang="en-US" altLang="en-US" sz="2400"/>
              <a:t>Identifies secondary station that sent or will receive frame</a:t>
            </a:r>
          </a:p>
          <a:p>
            <a:r>
              <a:rPr lang="en-US" altLang="en-US" sz="2400"/>
              <a:t>Usually 8 bits long</a:t>
            </a:r>
          </a:p>
          <a:p>
            <a:r>
              <a:rPr lang="en-US" altLang="en-US" sz="2400"/>
              <a:t>May be extended to multiples of 7 bits</a:t>
            </a:r>
          </a:p>
          <a:p>
            <a:pPr lvl="1"/>
            <a:r>
              <a:rPr lang="en-US" altLang="en-US" sz="2000"/>
              <a:t>LSB of each octet indicates that it is the last octet (1) or not (0)</a:t>
            </a:r>
          </a:p>
          <a:p>
            <a:r>
              <a:rPr lang="en-US" altLang="en-US" sz="2400"/>
              <a:t>All ones (11111111) is broadcast</a:t>
            </a:r>
          </a:p>
        </p:txBody>
      </p:sp>
      <p:pic>
        <p:nvPicPr>
          <p:cNvPr id="1536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0" t="23601" r="5556" b="64661"/>
          <a:stretch>
            <a:fillRect/>
          </a:stretch>
        </p:blipFill>
        <p:spPr bwMode="auto">
          <a:xfrm>
            <a:off x="1728831" y="4190206"/>
            <a:ext cx="8534400" cy="140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4819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Control Field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Different for different frame type</a:t>
            </a:r>
          </a:p>
          <a:p>
            <a:pPr lvl="1"/>
            <a:r>
              <a:rPr lang="en-US" altLang="en-US"/>
              <a:t>I-frame (information frame) </a:t>
            </a:r>
          </a:p>
          <a:p>
            <a:pPr lvl="2"/>
            <a:r>
              <a:rPr lang="en-US" altLang="en-US"/>
              <a:t>data to be transmitted to user (next layer up)</a:t>
            </a:r>
          </a:p>
          <a:p>
            <a:pPr lvl="2"/>
            <a:r>
              <a:rPr lang="en-US" altLang="en-US"/>
              <a:t>Flow and error control piggybacked on information frames</a:t>
            </a:r>
          </a:p>
          <a:p>
            <a:pPr lvl="1"/>
            <a:r>
              <a:rPr lang="en-US" altLang="en-US"/>
              <a:t>S-frame (Supervisory frame)</a:t>
            </a:r>
          </a:p>
          <a:p>
            <a:pPr lvl="2"/>
            <a:r>
              <a:rPr lang="en-US" altLang="en-US"/>
              <a:t>Used for flow and error control</a:t>
            </a:r>
          </a:p>
          <a:p>
            <a:pPr lvl="1"/>
            <a:r>
              <a:rPr lang="en-US" altLang="en-US"/>
              <a:t>U-frame (Unnumbered frame)</a:t>
            </a:r>
          </a:p>
          <a:p>
            <a:pPr lvl="2"/>
            <a:r>
              <a:rPr lang="en-US" altLang="en-US"/>
              <a:t> supplementary link control</a:t>
            </a:r>
          </a:p>
          <a:p>
            <a:r>
              <a:rPr lang="en-US" altLang="en-US"/>
              <a:t>First one or two bits of control filed identify frame type</a:t>
            </a:r>
          </a:p>
          <a:p>
            <a:endParaRPr lang="en-US" altLang="en-US"/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2985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Control Field Diagram</a:t>
            </a:r>
          </a:p>
        </p:txBody>
      </p:sp>
      <p:pic>
        <p:nvPicPr>
          <p:cNvPr id="1741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70" b="7532"/>
          <a:stretch>
            <a:fillRect/>
          </a:stretch>
        </p:blipFill>
        <p:spPr bwMode="auto">
          <a:xfrm>
            <a:off x="1981200" y="1379538"/>
            <a:ext cx="8001000" cy="532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4021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Poll/Final Bit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Use depends on context</a:t>
            </a:r>
          </a:p>
          <a:p>
            <a:r>
              <a:rPr lang="en-US" altLang="en-US"/>
              <a:t>Command frame</a:t>
            </a:r>
          </a:p>
          <a:p>
            <a:pPr lvl="1"/>
            <a:r>
              <a:rPr lang="en-US" altLang="en-US"/>
              <a:t>P bit : used for poll from primary</a:t>
            </a:r>
          </a:p>
          <a:p>
            <a:pPr lvl="1"/>
            <a:r>
              <a:rPr lang="en-US" altLang="en-US"/>
              <a:t>1 to solicit (poll) response from peer</a:t>
            </a:r>
          </a:p>
          <a:p>
            <a:r>
              <a:rPr lang="en-US" altLang="en-US"/>
              <a:t>Response frame</a:t>
            </a:r>
          </a:p>
          <a:p>
            <a:pPr lvl="1"/>
            <a:r>
              <a:rPr lang="en-US" altLang="en-US"/>
              <a:t>F bit : used for response from secondary</a:t>
            </a:r>
          </a:p>
          <a:p>
            <a:pPr lvl="1"/>
            <a:r>
              <a:rPr lang="en-US" altLang="en-US"/>
              <a:t>1 indicates response to soliciting command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5020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I-frame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371600"/>
            <a:ext cx="7696200" cy="91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Contains the sequence number of transmitted frames and a piggybacked ACK</a:t>
            </a:r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2743200" y="2895600"/>
            <a:ext cx="49530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>
            <a:off x="3352800" y="2895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n-IN"/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>
            <a:off x="5181600" y="2895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n-IN"/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>
            <a:off x="5867400" y="2895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n-IN"/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2590800" y="2362200"/>
            <a:ext cx="525780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    1      2      3     4      5       6     7     8</a:t>
            </a: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2895600" y="2971800"/>
            <a:ext cx="38100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0</a:t>
            </a:r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3429000" y="2971800"/>
            <a:ext cx="167640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/>
              <a:t>N(S)</a:t>
            </a:r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5257800" y="2971800"/>
            <a:ext cx="53340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6800" rIns="0" bIns="468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P/F</a:t>
            </a:r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5943600" y="2971800"/>
            <a:ext cx="167640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/>
              <a:t>N(R)</a:t>
            </a:r>
          </a:p>
        </p:txBody>
      </p:sp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2895600" y="4038600"/>
            <a:ext cx="3962400" cy="1571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I,0,0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I,1,0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I,2,0,P</a:t>
            </a:r>
          </a:p>
        </p:txBody>
      </p:sp>
    </p:spTree>
    <p:extLst>
      <p:ext uri="{BB962C8B-B14F-4D97-AF65-F5344CB8AC3E}">
        <p14:creationId xmlns:p14="http://schemas.microsoft.com/office/powerpoint/2010/main" val="36738877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S-frame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371600"/>
            <a:ext cx="7696200" cy="533400"/>
          </a:xfrm>
        </p:spPr>
        <p:txBody>
          <a:bodyPr/>
          <a:lstStyle/>
          <a:p>
            <a:r>
              <a:rPr lang="en-US" altLang="en-US"/>
              <a:t>Used for flow and error control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2743200" y="2895600"/>
            <a:ext cx="49530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>
            <a:off x="3352800" y="2895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n-IN"/>
          </a:p>
        </p:txBody>
      </p:sp>
      <p:sp>
        <p:nvSpPr>
          <p:cNvPr id="20486" name="Line 6"/>
          <p:cNvSpPr>
            <a:spLocks noChangeShapeType="1"/>
          </p:cNvSpPr>
          <p:nvPr/>
        </p:nvSpPr>
        <p:spPr bwMode="auto">
          <a:xfrm>
            <a:off x="5181600" y="2895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n-IN"/>
          </a:p>
        </p:txBody>
      </p:sp>
      <p:sp>
        <p:nvSpPr>
          <p:cNvPr id="20487" name="Line 7"/>
          <p:cNvSpPr>
            <a:spLocks noChangeShapeType="1"/>
          </p:cNvSpPr>
          <p:nvPr/>
        </p:nvSpPr>
        <p:spPr bwMode="auto">
          <a:xfrm>
            <a:off x="5867400" y="2895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n-IN"/>
          </a:p>
        </p:txBody>
      </p: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2590800" y="2362200"/>
            <a:ext cx="525780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    1      2      3     4      5       6     7     8</a:t>
            </a:r>
          </a:p>
        </p:txBody>
      </p:sp>
      <p:sp>
        <p:nvSpPr>
          <p:cNvPr id="20489" name="Text Box 9"/>
          <p:cNvSpPr txBox="1">
            <a:spLocks noChangeArrowheads="1"/>
          </p:cNvSpPr>
          <p:nvPr/>
        </p:nvSpPr>
        <p:spPr bwMode="auto">
          <a:xfrm>
            <a:off x="2895600" y="2971800"/>
            <a:ext cx="38100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1</a:t>
            </a:r>
          </a:p>
        </p:txBody>
      </p:sp>
      <p:sp>
        <p:nvSpPr>
          <p:cNvPr id="20490" name="Text Box 10"/>
          <p:cNvSpPr txBox="1">
            <a:spLocks noChangeArrowheads="1"/>
          </p:cNvSpPr>
          <p:nvPr/>
        </p:nvSpPr>
        <p:spPr bwMode="auto">
          <a:xfrm>
            <a:off x="3886200" y="2971800"/>
            <a:ext cx="121920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/>
              <a:t>S</a:t>
            </a:r>
          </a:p>
        </p:txBody>
      </p:sp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5257800" y="2971800"/>
            <a:ext cx="53340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6800" rIns="0" bIns="468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P/F</a:t>
            </a:r>
          </a:p>
        </p:txBody>
      </p:sp>
      <p:sp>
        <p:nvSpPr>
          <p:cNvPr id="20492" name="Text Box 12"/>
          <p:cNvSpPr txBox="1">
            <a:spLocks noChangeArrowheads="1"/>
          </p:cNvSpPr>
          <p:nvPr/>
        </p:nvSpPr>
        <p:spPr bwMode="auto">
          <a:xfrm>
            <a:off x="5943600" y="2971800"/>
            <a:ext cx="167640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/>
              <a:t>N(R)</a:t>
            </a:r>
          </a:p>
        </p:txBody>
      </p:sp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2895600" y="4038600"/>
            <a:ext cx="4572000" cy="2109788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RR --- receive ready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RNR --- receive not ready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REJ --- reject on frame N(R)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SREJ --- selective reject on  N(R)</a:t>
            </a:r>
          </a:p>
        </p:txBody>
      </p:sp>
      <p:sp>
        <p:nvSpPr>
          <p:cNvPr id="20494" name="Line 14"/>
          <p:cNvSpPr>
            <a:spLocks noChangeShapeType="1"/>
          </p:cNvSpPr>
          <p:nvPr/>
        </p:nvSpPr>
        <p:spPr bwMode="auto">
          <a:xfrm>
            <a:off x="3962400" y="2895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n-IN"/>
          </a:p>
        </p:txBody>
      </p:sp>
      <p:sp>
        <p:nvSpPr>
          <p:cNvPr id="20495" name="Text Box 15"/>
          <p:cNvSpPr txBox="1">
            <a:spLocks noChangeArrowheads="1"/>
          </p:cNvSpPr>
          <p:nvPr/>
        </p:nvSpPr>
        <p:spPr bwMode="auto">
          <a:xfrm>
            <a:off x="3352800" y="2971800"/>
            <a:ext cx="53340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/>
              <a:t>0</a:t>
            </a:r>
          </a:p>
        </p:txBody>
      </p:sp>
      <p:sp>
        <p:nvSpPr>
          <p:cNvPr id="20496" name="Line 16"/>
          <p:cNvSpPr>
            <a:spLocks noChangeShapeType="1"/>
          </p:cNvSpPr>
          <p:nvPr/>
        </p:nvSpPr>
        <p:spPr bwMode="auto">
          <a:xfrm flipH="1">
            <a:off x="4495800" y="35052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9043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U-frame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371600"/>
            <a:ext cx="7696200" cy="533400"/>
          </a:xfrm>
        </p:spPr>
        <p:txBody>
          <a:bodyPr/>
          <a:lstStyle/>
          <a:p>
            <a:r>
              <a:rPr lang="en-US" altLang="en-US"/>
              <a:t>Mode setting, recovery, connect/diconnect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2743200" y="2895600"/>
            <a:ext cx="49530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>
            <a:off x="3352800" y="2895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n-IN"/>
          </a:p>
        </p:txBody>
      </p:sp>
      <p:sp>
        <p:nvSpPr>
          <p:cNvPr id="21510" name="Line 6"/>
          <p:cNvSpPr>
            <a:spLocks noChangeShapeType="1"/>
          </p:cNvSpPr>
          <p:nvPr/>
        </p:nvSpPr>
        <p:spPr bwMode="auto">
          <a:xfrm>
            <a:off x="5181600" y="2895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n-IN"/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>
            <a:off x="5867400" y="2895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n-IN"/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2590800" y="2362200"/>
            <a:ext cx="525780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    1      2      3     4      5       6     7     8</a:t>
            </a:r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2895600" y="2971800"/>
            <a:ext cx="38100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1</a:t>
            </a:r>
          </a:p>
        </p:txBody>
      </p:sp>
      <p:sp>
        <p:nvSpPr>
          <p:cNvPr id="21514" name="Text Box 10"/>
          <p:cNvSpPr txBox="1">
            <a:spLocks noChangeArrowheads="1"/>
          </p:cNvSpPr>
          <p:nvPr/>
        </p:nvSpPr>
        <p:spPr bwMode="auto">
          <a:xfrm>
            <a:off x="3886200" y="2971800"/>
            <a:ext cx="121920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/>
              <a:t>M</a:t>
            </a:r>
          </a:p>
        </p:txBody>
      </p:sp>
      <p:sp>
        <p:nvSpPr>
          <p:cNvPr id="21515" name="Text Box 11"/>
          <p:cNvSpPr txBox="1">
            <a:spLocks noChangeArrowheads="1"/>
          </p:cNvSpPr>
          <p:nvPr/>
        </p:nvSpPr>
        <p:spPr bwMode="auto">
          <a:xfrm>
            <a:off x="5257800" y="2971800"/>
            <a:ext cx="53340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6800" rIns="0" bIns="468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P/F</a:t>
            </a:r>
          </a:p>
        </p:txBody>
      </p:sp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5943600" y="2971800"/>
            <a:ext cx="167640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/>
              <a:t>M</a:t>
            </a:r>
          </a:p>
        </p:txBody>
      </p:sp>
      <p:sp>
        <p:nvSpPr>
          <p:cNvPr id="21517" name="Line 14"/>
          <p:cNvSpPr>
            <a:spLocks noChangeShapeType="1"/>
          </p:cNvSpPr>
          <p:nvPr/>
        </p:nvSpPr>
        <p:spPr bwMode="auto">
          <a:xfrm>
            <a:off x="3962400" y="2895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n-IN"/>
          </a:p>
        </p:txBody>
      </p:sp>
      <p:sp>
        <p:nvSpPr>
          <p:cNvPr id="21518" name="Text Box 15"/>
          <p:cNvSpPr txBox="1">
            <a:spLocks noChangeArrowheads="1"/>
          </p:cNvSpPr>
          <p:nvPr/>
        </p:nvSpPr>
        <p:spPr bwMode="auto">
          <a:xfrm>
            <a:off x="3352800" y="2971800"/>
            <a:ext cx="53340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/>
              <a:t>1</a:t>
            </a:r>
          </a:p>
        </p:txBody>
      </p:sp>
      <p:sp>
        <p:nvSpPr>
          <p:cNvPr id="21519" name="Text Box 17"/>
          <p:cNvSpPr txBox="1">
            <a:spLocks noChangeArrowheads="1"/>
          </p:cNvSpPr>
          <p:nvPr/>
        </p:nvSpPr>
        <p:spPr bwMode="auto">
          <a:xfrm>
            <a:off x="5029200" y="4419600"/>
            <a:ext cx="2209800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Unnumbered function bits</a:t>
            </a:r>
          </a:p>
        </p:txBody>
      </p:sp>
      <p:sp>
        <p:nvSpPr>
          <p:cNvPr id="21520" name="Line 18"/>
          <p:cNvSpPr>
            <a:spLocks noChangeShapeType="1"/>
          </p:cNvSpPr>
          <p:nvPr/>
        </p:nvSpPr>
        <p:spPr bwMode="auto">
          <a:xfrm flipH="1" flipV="1">
            <a:off x="4495800" y="3505200"/>
            <a:ext cx="12192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n-IN"/>
          </a:p>
        </p:txBody>
      </p:sp>
      <p:sp>
        <p:nvSpPr>
          <p:cNvPr id="21521" name="Line 19"/>
          <p:cNvSpPr>
            <a:spLocks noChangeShapeType="1"/>
          </p:cNvSpPr>
          <p:nvPr/>
        </p:nvSpPr>
        <p:spPr bwMode="auto">
          <a:xfrm flipV="1">
            <a:off x="5943600" y="3505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071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Unnumberred frames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sz="2400"/>
              <a:t>Set normal response mode (SNRM)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Set asynchronous response mode (SARM)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Set asynchronous balanced mode (SABM)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Disconnect (DISC)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Unnumberred acknowledgement (UA)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Disconnect mode (DM)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Request disconnect (RD)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Unnumberred poll (UP)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Reset (RSET)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Exchange identification (XID)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Test (TEST)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Frame reject (FRMR)</a:t>
            </a:r>
          </a:p>
        </p:txBody>
      </p:sp>
    </p:spTree>
    <p:extLst>
      <p:ext uri="{BB962C8B-B14F-4D97-AF65-F5344CB8AC3E}">
        <p14:creationId xmlns:p14="http://schemas.microsoft.com/office/powerpoint/2010/main" val="1842900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Information Field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Only in information and some unnumbered frames</a:t>
            </a:r>
          </a:p>
          <a:p>
            <a:r>
              <a:rPr lang="en-US" altLang="en-US"/>
              <a:t>Must contain integral number of octets</a:t>
            </a:r>
          </a:p>
          <a:p>
            <a:r>
              <a:rPr lang="en-US" altLang="en-US"/>
              <a:t>Variable length</a:t>
            </a:r>
          </a:p>
        </p:txBody>
      </p:sp>
    </p:spTree>
    <p:extLst>
      <p:ext uri="{BB962C8B-B14F-4D97-AF65-F5344CB8AC3E}">
        <p14:creationId xmlns:p14="http://schemas.microsoft.com/office/powerpoint/2010/main" val="3010944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Frame Check Sequence Field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FCS</a:t>
            </a:r>
          </a:p>
          <a:p>
            <a:r>
              <a:rPr lang="en-US" altLang="en-US"/>
              <a:t>Error detection</a:t>
            </a:r>
          </a:p>
          <a:p>
            <a:r>
              <a:rPr lang="en-US" altLang="en-US"/>
              <a:t>16 bit CRC</a:t>
            </a:r>
          </a:p>
          <a:p>
            <a:r>
              <a:rPr lang="en-US" altLang="en-US"/>
              <a:t>Optional 32 bit CRC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73880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link channel states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Active channel state:</a:t>
            </a:r>
          </a:p>
          <a:p>
            <a:pPr marL="0" indent="0">
              <a:buNone/>
            </a:pPr>
            <a:r>
              <a:rPr lang="en-IN" dirty="0"/>
              <a:t>	A channel is in an ACTIVE state when the primary or a secondary is actively transmitting a frame, a single abort sequence or </a:t>
            </a:r>
            <a:r>
              <a:rPr lang="en-IN" dirty="0" err="1"/>
              <a:t>interframe</a:t>
            </a:r>
            <a:r>
              <a:rPr lang="en-IN" dirty="0"/>
              <a:t> time fill. In this state the right to continue transmission is reserved.</a:t>
            </a:r>
          </a:p>
          <a:p>
            <a:r>
              <a:rPr lang="en-IN" b="1" dirty="0"/>
              <a:t>Abort:</a:t>
            </a:r>
          </a:p>
          <a:p>
            <a:pPr marL="0" indent="0">
              <a:buNone/>
            </a:pPr>
            <a:r>
              <a:rPr lang="en-IN" dirty="0"/>
              <a:t>	A station can abort a frame by transmitting at least seven contiguous ones. The receiving station will ignore the frame.</a:t>
            </a:r>
          </a:p>
          <a:p>
            <a:r>
              <a:rPr lang="en-IN" b="1" dirty="0" err="1"/>
              <a:t>Interframe</a:t>
            </a:r>
            <a:r>
              <a:rPr lang="en-IN" b="1" dirty="0"/>
              <a:t> time fill:</a:t>
            </a:r>
          </a:p>
          <a:p>
            <a:pPr marL="0" indent="0">
              <a:buNone/>
            </a:pPr>
            <a:r>
              <a:rPr lang="en-IN" dirty="0"/>
              <a:t>	In this state continuous flag bytes are sent between frames. </a:t>
            </a:r>
          </a:p>
          <a:p>
            <a:r>
              <a:rPr lang="en-IN" b="1" dirty="0"/>
              <a:t>Idle channel state:</a:t>
            </a:r>
          </a:p>
          <a:p>
            <a:pPr marL="0" indent="0">
              <a:buNone/>
            </a:pPr>
            <a:r>
              <a:rPr lang="en-IN" dirty="0"/>
              <a:t>	A channel is defined to be in an IDLE state when the transmission of 15 or more contiguous one  bits is detected. In this state a primary must </a:t>
            </a:r>
            <a:r>
              <a:rPr lang="en-IN" dirty="0" err="1"/>
              <a:t>repoll</a:t>
            </a:r>
            <a:r>
              <a:rPr lang="en-IN" dirty="0"/>
              <a:t> a secondary before transmitting an I-frame to it.</a:t>
            </a:r>
          </a:p>
        </p:txBody>
      </p:sp>
    </p:spTree>
    <p:extLst>
      <p:ext uri="{BB962C8B-B14F-4D97-AF65-F5344CB8AC3E}">
        <p14:creationId xmlns:p14="http://schemas.microsoft.com/office/powerpoint/2010/main" val="39192244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Modes of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response mode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mode a secondary station can transmit only in response to a command frame from the primary station.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response transmission may consist of one or more frames, the last of which must be explicitly indicated (using the Poll/Final bit).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secondary then cannot transmit again until it receives another command to do so.</a:t>
            </a:r>
          </a:p>
        </p:txBody>
      </p:sp>
    </p:spTree>
    <p:extLst>
      <p:ext uri="{BB962C8B-B14F-4D97-AF65-F5344CB8AC3E}">
        <p14:creationId xmlns:p14="http://schemas.microsoft.com/office/powerpoint/2010/main" val="2410030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6443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Response Mode (ARM)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mode the secondary station may initiate transmission of a frame or group of frames without receiving explicit permission from the primary.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frames may contain data or control information.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secondary station is responsible for time-out and retransmission if necessary.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Balanced Mode (ABM)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mode the stations have identical protocols. They both can initiate transmission at any time.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send both commands and responses.</a:t>
            </a:r>
          </a:p>
        </p:txBody>
      </p:sp>
    </p:spTree>
    <p:extLst>
      <p:ext uri="{BB962C8B-B14F-4D97-AF65-F5344CB8AC3E}">
        <p14:creationId xmlns:p14="http://schemas.microsoft.com/office/powerpoint/2010/main" val="42394663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HDLC Operation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Exchange of information, supervisory and unnumbered frames</a:t>
            </a:r>
          </a:p>
          <a:p>
            <a:r>
              <a:rPr lang="en-US" altLang="en-US"/>
              <a:t>Three phases</a:t>
            </a:r>
          </a:p>
          <a:p>
            <a:pPr lvl="1"/>
            <a:r>
              <a:rPr lang="en-US" altLang="en-US"/>
              <a:t>Initialization</a:t>
            </a:r>
          </a:p>
          <a:p>
            <a:pPr lvl="1"/>
            <a:r>
              <a:rPr lang="en-US" altLang="en-US"/>
              <a:t>Data transfer</a:t>
            </a:r>
          </a:p>
          <a:p>
            <a:pPr lvl="1"/>
            <a:r>
              <a:rPr lang="en-US" altLang="en-US"/>
              <a:t>Disconnect</a:t>
            </a:r>
          </a:p>
        </p:txBody>
      </p:sp>
    </p:spTree>
    <p:extLst>
      <p:ext uri="{BB962C8B-B14F-4D97-AF65-F5344CB8AC3E}">
        <p14:creationId xmlns:p14="http://schemas.microsoft.com/office/powerpoint/2010/main" val="14862362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 of Operation (1)</a:t>
            </a:r>
          </a:p>
        </p:txBody>
      </p:sp>
      <p:pic>
        <p:nvPicPr>
          <p:cNvPr id="921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66"/>
          <a:stretch>
            <a:fillRect/>
          </a:stretch>
        </p:blipFill>
        <p:spPr bwMode="auto">
          <a:xfrm>
            <a:off x="1981200" y="1382714"/>
            <a:ext cx="8001000" cy="4954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75166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 of Operation (2)</a:t>
            </a:r>
          </a:p>
        </p:txBody>
      </p:sp>
      <p:pic>
        <p:nvPicPr>
          <p:cNvPr id="9318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55" r="17773" b="6241"/>
          <a:stretch>
            <a:fillRect/>
          </a:stretch>
        </p:blipFill>
        <p:spPr bwMode="auto">
          <a:xfrm>
            <a:off x="1981200" y="1363664"/>
            <a:ext cx="6781800" cy="5037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9563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